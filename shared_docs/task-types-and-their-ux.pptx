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3004dd-9373-c355-110e-8f5627172a5b}">
          <p14:sldIdLst>
            <p14:sldId id="256"/>
            <p14:sldId id="257"/>
            <p14:sldId id="258"/>
            <p14:sldId id="259"/>
          </p14:sldIdLst>
        </p14:section>
        <p14:section name="The cards generate" id="{6e6badae-3ec6-f0e9-f79a-40c12e26b464}">
          <p14:sldIdLst>
            <p14:sldId id="260"/>
            <p14:sldId id="261"/>
            <p14:sldId id="262"/>
            <p14:sldId id="263"/>
            <p14:sldId id="264"/>
            <p14:sldId id="265"/>
            <p14:sldId id="266"/>
            <p14:sldId id="267"/>
          </p14:sldIdLst>
        </p14:section>
        <p14:section name="The occupier cuts" id="{a61fdb5e-87a7-0a2b-9ae7-40a377072ce9}">
          <p14:sldIdLst>
            <p14:sldId id="268"/>
            <p14:sldId id="269"/>
            <p14:sldId id="270"/>
            <p14:sldId id="271"/>
            <p14:sldId id="272"/>
            <p14:sldId id="273"/>
          </p14:sldIdLst>
        </p14:section>
        <p14:section name="What follows" id="{80cd6314-5b0c-7be1-57b1-1857f159df9b}">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takes the Task-UX Model from the task's end. It writes a taxonomy of tasks, checks it against the tasks the team has already written (430 tasks of 30 roles), and then reasons, type by type, about which screen suits a task of that type. It assumes the listener knows this seat's earlier model: the three blocks of show, capture and CnC, and the seven patterns. It is one seat's proposal, and one reader made the classification. The taxonomy is written out in full in taxonomy.md, beside the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Write a taxonomy of tasks that can be read off a row of the role file. Test it on the tasks the team has already written. Then, for each type, reason about which screen suits it: what the person needs in front of them, what they put in, what follows, and what would not suit. The answers say which block leads, and that names the pattern. If it holds, the role file's own row gives the type, and the type suggests the kind of screen, before any card is filled. The card still says what is on the screen. The step from type to screen is a design proposal, to be tested; it is not shown by the classification.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team's documents were searched for a taxonomy of tasks and none exists. What the shared role format does say is how a task starts (something arriving, a date, someone asking, or work coming back), how it ends, and that working through a list item by item is one task done many times. The types come out of its endings. A decision made is Decide; a question answered is Answer. A message sent is a Chase when it is about something already asked, and a Report when it is a statement for a reader. A change in the system splits by who decides its content: the role (Make), the world (Record), or the system over a whole set (Run a batch). The work handed over is an Ask. Something understood about a whole list is an Assess. And one type has no ending in the format: Carry through, a case done only when all its steps are done: it is an addition, and the format's rule that handing over ends a task would cut it into several. So three things are kept apart: the endings are the format's words; the ten types are this seat's reading of them; the type of each task is one reader's judgement, checked by nobody else; and the screens, later, are a proposal no occupier has tested. (Source: roles/README.md on the team's main branch.)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for each type, with a task from the team's role files. The type is told by what is true when the task is done: the role file's Done when column. Decide: An outcome is chosen among finite options for something that arrived; for example, decide an order sent for credit review, of the Credit Controller. Make: A thing is created or updated, and the role decided its content; for example, raise a po, of the Procurement Officer. Record: What happened recorded, as it happened - i.e without change; for example, record a delivery, of the Stores Officer, Inbound. Ask: A request is sent to someone who has the ability to act on it; for example, request a credit-hold release, of the Credit Controller. Chase: Reminding whoever is sitting on a request/decision for too long; for example, remind an approver who has not decided, of the Expense Coordinator. Answer: Answer a Question/Query someone asked; for example, answer where inbound goods are, of the Stores Officer, Inbound. Assess: Looking across a whole list to draw one conclusion about it; for example, find where differences concentrate, of the Inventory Controller. Report: A summary or explanation is prepared and sent to its reader; for example, explain dpo, of the Procurement Manager. Carry through: Seeing a case through all its steps, across several people; for example, run an exit, of the Onboarding Coordinator. Run a batch: One system run, started by the role, acts on a whole set; for example, calculate the payroll, of the Payroll Operations Specialist.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pairs are easy to confuse, and one question separates each. Make or Record: who decides what is entered, the role or the world? Make or Ask: is the substance this role's work, sent for approval, or someone else's to do? Ask or Chase: the first time hands the item over; after that nothing is handed over. Decide or Assess: a decision on each item, or one conclusion about the whole list? Assess or Report: is the conclusion the end, or is a statement sent to a reader? Carry through or the rest: is it done at the first hand-over? Where a row does not answer the question, the task sits between two types.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role format says working through a list item by item is one task done many times, and looking across the whole list for a pattern is one task. So a task that does the same thing to each item on a list keeps the type of what it does to one item: this seat's monthly review of renewals is a Decide, met many at once, on a date. 37 tasks in the role files are like it, 27 of them Decide. It changes the screen and not the type: one item with evidence to read is a Review; a run of light items is a Worklist with the ending on the row. Only a task that draws one conclusion about the whole list is a type of its own, Assess: where differences concentrate, the pattern of price overrides, an audit review. It is done when there is a conclusion, and “nothing found” is one. There are 11 such tasks.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 tasks of 30 roles: 355 in the team's 26 role files on its main branch, 13 October (10 finance, stores and sales roles; 16 people roles), and 75 of the four seats this seat tried its model on, marked experiment. One reader gave each a type. Decide 105. Record 78. Ask 46. Answer 45. Make 39. Chase 30. Carry through 30. Report 29. Run a batch 17. Assess 11. Every row was given a type; that one reader could place them all does not prove no type is missing. 81 tasks could as well be a second type; most are two tasks in one row, such as assign and chase required learning. In these files Carry through and Run a batch are almost all in the people roles: 28 of 30 and 16 of 17, cases and payroll cycles; that may say as much about how the files were written as about the roles. Each type also tends to start its own way, on a rough reading of the words: 39 of 45 answers start with someone asking, 22 of 30 chases on a wait, 9 of 11 assessments on a date. And 48 tasks begin with a word that hides how they end, such as maintain, run or track. Every row and its type are in classification.md, beside this deck.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 One of several outcomes is chosen for something that arrived ready-made, from another seat or the system. For example: decide an order sent for credit review, of the Credit Controller; decide a stock adjustment, of the Inventory Controller; review renewals and expiry, of the Contracts &amp; Services Procurement Officer, this seat. Needs in front of them: The item and its evidence, side by side. Puts in: The choice; a reason only on departure. What follows: Someone else's move, at once. Would not suit: Approve on a list row: it hides the evidence. So: show leads; the pattern is review. On screen, this seat's task of matching a service bill to its Works Order, on a bill that cannot yet be matched. The check sits with what it guards: the department head has not confirmed the month. The two endings are together at the foot. The reminder on the same screen is a Chase, another type, made here because the item is here. Whose move it is sits under the title, in none of the three blocks. A Decide met many at once, such as the monthly review of renewals, takes a Worklist instead. The people named on the screen are of the made-up sample company.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A new thing exists, or a thing is changed, and the role decided what is in it. For example: raise a po, of the Procurement Officer; prepare a workforce plan, of the Workforce Planning Lead; plan a count cycle, of the Inventory Controller. Needs in front of them: A start that is not blank: the last one like it. Puts in: Many inputs, with interruptions; it saves itself. What follows: Usually an approver's move. Would not suit: One long page; it loses the place. So: capture leads; the pattern is flow, or a Form when small. On screen, raising a Works Order at the last of its four stages, started from an earlier one. Show sits beside the form and each fact answers an input. What is still missing shows in red before the press, as a prompt. The button names the next holder, the Procurement Manager.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What happened is on the record as it happened; the content is given by an event, a paper or an approved change. For example: record a delivery, of the Stores Officer, Inbound; capture a document, of the Procurement Officer; update an employee's details, of the HR Operations Administrator. Needs in front of them: What was expected: the order, the challan, the change. Puts in: Only what differs, and fast. What follows: Often nobody: the record is the end. Would not suit: A blank form that retypes what is known. So: capture leads, filled in already; the pattern is form, filled in from what was expected. On screen, a contractor's provident fund and insurance papers for a billed month. The officer ticks what has come in against what was expected. The check compares our attendance with the contractor's own return. Save is the record; send on is the hand-over; chase is another type. This app sends the papers only when complete; the role file says with every gap flagged.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A request is with someone who can do or decide what this role cannot, so the task ends by handing over. For example: request a credit-hold release, of the Credit Controller; raise an indent, of the Stores Officer, Inbound; ask for a new item, of the Stores Officer, Inbound. Needs in front of them: The item, and what the receiver needs to say yes. Puts in: What is asked, and why; often one press. What follows: The receiver's move; a chase if it waits. Would not suit: A page of its own, away from the item. So: capture leads, and it is small; the pattern is form, opened on the item. On screen, asking a department head to confirm a milestone's work. It opens on the milestone, inside the Works Order. Capture is one press. The neighbouring Remind is refused until someone has been asked, which keeps an Ask before a Chase. Only the department head can confirm, and what is sent is kept with its date.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Chase. Whoever has had the item too long has been reminded; nothing is handed over. For example: remind an approver who has not decided, of the Expense Coordinator; chase feedback, of the Talent Acquisition Specialist; chase a transfer still on the road, of the Inventory Controller. Needs in front of them: Who has it, since when, what was sent. Puts in: One press; the words drafted. What follows: Nothing changes hands; the count restarts. Would not suit: A screen of its own; a chat with no trace. So: neither block leads; the pattern is one form-action, on the item. On screen, the queue, on the items someone else has had long enough; Remind was pressed on one row. The words are drafted and can be changed; it is kept against the item with the date, and the count of days restarts. This seat treats a reminder as a form-action; every other seat puts it in CnC, and that is still open between the seats.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person who asked has the answer, and nothing in the system has changed. For example: answer where inbound goods are, of the Stores Officer, Inbound; answer a pay query, of the Payroll Operations Specialist; answer whether a customer can take an order, of the Credit Controller. Needs in front of them: The one thing asked about, in seconds. Puts in: Nothing; the reply goes to the person. What follows: Nothing, unless the answer shows a problem. Would not suit: A report to scroll while someone waits. So: show leads, then cnc; the pattern is search, and the item's own page. On screen, a contractor phones to ask where a bill is. The officer types the bill number, and the answer is one line without opening anything: how far along it is, and that it is with the department head, six days. Nothing is written. Sending the answer on, as a link to the bill, is CnC and is not built in this app.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Assess. There is one conclusion about a whole list or a period, which no other task draws; “nothing found” is a conclusion. For example: find where differences concentrate, of the Inventory Controller; review the discount and price-override pattern, of the Sales Manager; carry out a review from the audit plan, of the Internal Auditor, a tried seat. Needs in front of them: The whole list, arranged to show a pattern: grouped, compared, over time. Puts in: The conclusion, and what it rests on; “nothing found” is one. What follows: Often a Report or an Ask carries the conclusion on. Would not suit: Rows to act on one by one: that is another type, many at once. So: show leads; the pattern is none of the seven: it must keep a conclusion. This seat has no task of this type, so it is a drawing. The whole list is shown so that the pattern can be seen, and the conclusion is kept, including that nothing was found. None of the seven patterns keeps a conclusion: a Register shows the list and nothing records that the look was made. One tried seat invented a sign-off for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A statement (a summary, an explanation, a return) is with its reader. For example: explain dpo, of the Procurement Manager; report workforce measures, of the Workforce Planning Lead; prepare the audit committee summary, of the Internal Auditor, a tried seat. Needs in front of them: The statement, drawn up already, with what moved. Puts in: A word on each line that moved; then send. What follows: The reader's: management, an authority. Would not suit: A blank document; a list that cannot be sent. So: show leads: the statement is the item; the pattern is nearest is a Review; no pattern fits. This seat has no task of this type, so it is a drawing. The statement is the item: drawn up already, with what moved since last time, and a word wanted on each line that moved. Nothing among the seven patterns says publish.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Carry through. Every step of a case, done by several people, is done, or the late ones are chased. For example: run an exit, of the Onboarding Coordinator; investigate and close a case, of the Compliance and Labour Relations; negotiate purchase rates, of the Procurement Manager. Needs in front of them: The case: its steps, who has each, what is late. Puts in: Each step's own form-action. What follows: Most of its life is with other people. Would not suit: A Flow for one sitting; a list that loses the case. So: show leads; the pattern is the case's own page, with its steps inside. This seat has no task of this type, but it has the screen: the Works Order is a case in all but name. Its steps, twelve milestones, are inside it, each with where it stands. Whether a role file keeps a case as one task or cuts it into small ones, this is the screen that holds it together. The earlier model calls this pattern a Record; it is named here as the case's own page, so as not to be confused with the type Record.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 batch. The system has done one thing to a whole set, at the role's word. For example: calculate the payroll, of the Payroll Operations Specialist; freeze payroll inputs, of the Attendance and Leave Specialist; bring in the day’s bank statement, of the Reconciliation Executive, a tried seat. Needs in front of them: Is the set ready? What is missing, from whom. Puts in: One press, often one-way. What follows: What was done, and what was held, with why. Would not suit: A list pressed 300 times; a bare button. So: show leads, as a gate; the pattern is nearest is a Review; no pattern fits. This seat has no task of this type, so it is a drawing. The screen is a gate: is the set ready, and what is missing, from whom. Then one press, often one-way, and what was done and what was held, each with why. Nothing among the seven patterns says one press over many items.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map on one slide, as this seat reasons it: a proposal to be tested, not a finding. Six of the ten types take one of the seven patterns cleanly. Chase takes none, by design: it is one form-action on the item. Three need something the patterns do not have: Assess, a conclusion kept; Report, a statement that is sent; Run a batch, one press over many items. The last of these is also what every type needs when many items are confirmed at one word. A fourth gap is known from before: the reply to a question is CnC, and starting a conversation from an item is built in none of the five apps this model was tried on. The last column says whether this seat's app has a screen of the type.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thought beyond the Task-UX. If the types a role is heavy in shape its day, they may also shape its app: what the opening page is, and how work is brought to the person. A role heavy in deciding might open on an inbox; one heavy in recording, on today's expected events; one heavy in making and asking, on its items in flight by whose move it is, as this seat's app does; one heavy in chasing and answering, on who has what with search in front; one heavy in assessments and reports, on what is due; one heavy in cases, on a board of cases; and a batch role, payroll above all, on the cycle itself. The last column names the role with the largest share of each group. Cautions: counts are not hours, and the role files do not say how often a task is done; most roles are mixed. It would be a way to start modelling the role app from the task mix.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asks. Each owner checks the types against their own role: where a type looks wrong, either the classification is wrong or the row says something other than what was meant. Say whether the type belongs in the role file as one more column, so that anyone can derive the kind of screen. Re-cut the 81 tasks that take two types; by the format's own test most are two tasks. And decide the three missing patterns: a conclusion kept, a statement that is sent, and one press over many items. The earlier asks still stand: where a reminder sits, and who has an item between tasks. The limits: one reader, an AI assistant working for this seat, made the classification, and a second reader would move some rows; no owner was asked what a row meant; the role files are those of 13 October and change daily; every screen is this seat's, on a stand-in engine; the reasoning from type to screen is argument, not test; three types have only a drawing; and ten types is a first cut.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640080" y="3977640"/>
            <a:ext cx="539496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971800"/>
            <a:ext cx="10515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4023360"/>
            <a:ext cx="10515600" cy="73152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1000" dirty="0">
                <a:solidFill>
                  <a:schemeClr val="accent4"/>
                </a:solidFill>
              </a:rPr>
              <a:t>From a task's type to its screen  ·  one seat's proposal, one reader's classification</a:t>
            </a:r>
            <a:endParaRPr lang="en-US" sz="1000" dirty="0"/>
          </a:p>
        </p:txBody>
      </p:sp>
      <p:sp>
        <p:nvSpPr>
          <p:cNvPr id="25" name="Slide Number Placeholder 0"/>
          <p:cNvSpPr>
            <a:spLocks noGrp="1"/>
          </p:cNvSpPr>
          <p:nvPr>
            <p:ph type="sldNum" sz="quarter" idx="4294967295"/>
          </p:nvPr>
        </p:nvSpPr>
        <p:spPr>
          <a:xfrm>
            <a:off x="11094415"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From a task's type to its screen</a:t>
            </a:r>
          </a:p>
        </p:txBody>
      </p:sp>
      <p:sp>
        <p:nvSpPr>
          <p:cNvPr id="3" name="Text Placeholder 2"/>
          <p:cNvSpPr>
            <a:spLocks noGrp="1"/>
          </p:cNvSpPr>
          <p:nvPr>
            <p:ph type="body" idx="101"/>
          </p:nvPr>
        </p:nvSpPr>
        <p:spPr/>
        <p:txBody>
          <a:bodyPr/>
          <a:lstStyle/>
          <a:p>
            <a:r>
              <a:t>Ten types of task, tried on the team's role files, and the screen each type takes.</a:t>
            </a:r>
          </a:p>
        </p:txBody>
      </p:sp>
      <p:sp>
        <p:nvSpPr>
          <p:cNvPr id="4" name="Text"/>
          <p:cNvSpPr txBox="1"/>
          <p:nvPr/>
        </p:nvSpPr>
        <p:spPr>
          <a:xfrm>
            <a:off x="640080" y="1097280"/>
            <a:ext cx="5486400" cy="228600"/>
          </a:xfrm>
          <a:prstGeom prst="rect">
            <a:avLst/>
          </a:prstGeom>
          <a:noFill/>
        </p:spPr>
        <p:txBody>
          <a:bodyPr wrap="square" lIns="0" rIns="0" tIns="0" bIns="0" anchor="t">
            <a:spAutoFit/>
          </a:bodyPr>
          <a:lstStyle/>
          <a:p>
            <a:pPr algn="l"/>
            <a:r>
              <a:rPr sz="1000" b="1" i="0">
                <a:solidFill>
                  <a:srgbClr val="7CC4C1"/>
                </a:solidFill>
              </a:rPr>
              <a:t>THE TASK-UX MODEL</a:t>
            </a:r>
          </a:p>
        </p:txBody>
      </p:sp>
      <p:sp>
        <p:nvSpPr>
          <p:cNvPr id="5" name="Text"/>
          <p:cNvSpPr txBox="1"/>
          <p:nvPr/>
        </p:nvSpPr>
        <p:spPr>
          <a:xfrm>
            <a:off x="640080" y="5897880"/>
            <a:ext cx="5486400" cy="274320"/>
          </a:xfrm>
          <a:prstGeom prst="rect">
            <a:avLst/>
          </a:prstGeom>
          <a:noFill/>
        </p:spPr>
        <p:txBody>
          <a:bodyPr wrap="square" lIns="0" rIns="0" tIns="0" bIns="0" anchor="t">
            <a:spAutoFit/>
          </a:bodyPr>
          <a:lstStyle/>
          <a:p>
            <a:pPr algn="l"/>
            <a:r>
              <a:rPr sz="1300" b="0" i="0">
                <a:solidFill>
                  <a:srgbClr val="DCF1F0"/>
                </a:solidFill>
              </a:rPr>
              <a:t>Contracts &amp; Services Procurement Officer seat  ·  October 2026</a:t>
            </a:r>
          </a:p>
        </p:txBody>
      </p:sp>
      <p:sp>
        <p:nvSpPr>
          <p:cNvPr id="6" name="Types frame"/>
          <p:cNvSpPr/>
          <p:nvPr/>
        </p:nvSpPr>
        <p:spPr>
          <a:xfrm>
            <a:off x="6720840" y="1417320"/>
            <a:ext cx="4919472" cy="30723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6995160" y="1600200"/>
            <a:ext cx="4480560" cy="228600"/>
          </a:xfrm>
          <a:prstGeom prst="rect">
            <a:avLst/>
          </a:prstGeom>
          <a:noFill/>
        </p:spPr>
        <p:txBody>
          <a:bodyPr wrap="square" lIns="0" rIns="0" tIns="0" bIns="0" anchor="t">
            <a:spAutoFit/>
          </a:bodyPr>
          <a:lstStyle/>
          <a:p>
            <a:pPr algn="l"/>
            <a:r>
              <a:rPr sz="950" b="1" i="0">
                <a:solidFill>
                  <a:srgbClr val="5E6A71"/>
                </a:solidFill>
              </a:rPr>
              <a:t>THE TEN TYPES</a:t>
            </a:r>
          </a:p>
        </p:txBody>
      </p:sp>
      <p:sp>
        <p:nvSpPr>
          <p:cNvPr id="8" name="Chip"/>
          <p:cNvSpPr/>
          <p:nvPr/>
        </p:nvSpPr>
        <p:spPr>
          <a:xfrm>
            <a:off x="6995160" y="19659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hip"/>
          <p:cNvSpPr txBox="1"/>
          <p:nvPr/>
        </p:nvSpPr>
        <p:spPr>
          <a:xfrm>
            <a:off x="6995160" y="1965960"/>
            <a:ext cx="2057400" cy="347472"/>
          </a:xfrm>
          <a:prstGeom prst="rect">
            <a:avLst/>
          </a:prstGeom>
          <a:noFill/>
        </p:spPr>
        <p:txBody>
          <a:bodyPr wrap="square" lIns="0" rIns="0" tIns="0" bIns="0" anchor="ctr">
            <a:spAutoFit/>
          </a:bodyPr>
          <a:lstStyle/>
          <a:p>
            <a:pPr algn="ctr"/>
            <a:r>
              <a:rPr sz="1200" b="1" i="0">
                <a:solidFill>
                  <a:srgbClr val="0B4A4A"/>
                </a:solidFill>
              </a:rPr>
              <a:t>Decide</a:t>
            </a:r>
          </a:p>
        </p:txBody>
      </p:sp>
      <p:sp>
        <p:nvSpPr>
          <p:cNvPr id="10" name="Chip"/>
          <p:cNvSpPr/>
          <p:nvPr/>
        </p:nvSpPr>
        <p:spPr>
          <a:xfrm>
            <a:off x="6995160" y="24231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ip"/>
          <p:cNvSpPr txBox="1"/>
          <p:nvPr/>
        </p:nvSpPr>
        <p:spPr>
          <a:xfrm>
            <a:off x="6995160" y="2423160"/>
            <a:ext cx="2057400" cy="347472"/>
          </a:xfrm>
          <a:prstGeom prst="rect">
            <a:avLst/>
          </a:prstGeom>
          <a:noFill/>
        </p:spPr>
        <p:txBody>
          <a:bodyPr wrap="square" lIns="0" rIns="0" tIns="0" bIns="0" anchor="ctr">
            <a:spAutoFit/>
          </a:bodyPr>
          <a:lstStyle/>
          <a:p>
            <a:pPr algn="ctr"/>
            <a:r>
              <a:rPr sz="1200" b="1" i="0">
                <a:solidFill>
                  <a:srgbClr val="0B4A4A"/>
                </a:solidFill>
              </a:rPr>
              <a:t>Make</a:t>
            </a:r>
          </a:p>
        </p:txBody>
      </p:sp>
      <p:sp>
        <p:nvSpPr>
          <p:cNvPr id="12" name="Chip"/>
          <p:cNvSpPr/>
          <p:nvPr/>
        </p:nvSpPr>
        <p:spPr>
          <a:xfrm>
            <a:off x="6995160" y="28803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p:cNvSpPr txBox="1"/>
          <p:nvPr/>
        </p:nvSpPr>
        <p:spPr>
          <a:xfrm>
            <a:off x="6995160" y="2880360"/>
            <a:ext cx="2057400" cy="347472"/>
          </a:xfrm>
          <a:prstGeom prst="rect">
            <a:avLst/>
          </a:prstGeom>
          <a:noFill/>
        </p:spPr>
        <p:txBody>
          <a:bodyPr wrap="square" lIns="0" rIns="0" tIns="0" bIns="0" anchor="ctr">
            <a:spAutoFit/>
          </a:bodyPr>
          <a:lstStyle/>
          <a:p>
            <a:pPr algn="ctr"/>
            <a:r>
              <a:rPr sz="1200" b="1" i="0">
                <a:solidFill>
                  <a:srgbClr val="0B4A4A"/>
                </a:solidFill>
              </a:rPr>
              <a:t>Record</a:t>
            </a:r>
          </a:p>
        </p:txBody>
      </p:sp>
      <p:sp>
        <p:nvSpPr>
          <p:cNvPr id="14" name="Chip"/>
          <p:cNvSpPr/>
          <p:nvPr/>
        </p:nvSpPr>
        <p:spPr>
          <a:xfrm>
            <a:off x="6995160" y="33375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ip"/>
          <p:cNvSpPr txBox="1"/>
          <p:nvPr/>
        </p:nvSpPr>
        <p:spPr>
          <a:xfrm>
            <a:off x="6995160" y="3337560"/>
            <a:ext cx="2057400" cy="347472"/>
          </a:xfrm>
          <a:prstGeom prst="rect">
            <a:avLst/>
          </a:prstGeom>
          <a:noFill/>
        </p:spPr>
        <p:txBody>
          <a:bodyPr wrap="square" lIns="0" rIns="0" tIns="0" bIns="0" anchor="ctr">
            <a:spAutoFit/>
          </a:bodyPr>
          <a:lstStyle/>
          <a:p>
            <a:pPr algn="ctr"/>
            <a:r>
              <a:rPr sz="1200" b="1" i="0">
                <a:solidFill>
                  <a:srgbClr val="0B4A4A"/>
                </a:solidFill>
              </a:rPr>
              <a:t>Ask</a:t>
            </a:r>
          </a:p>
        </p:txBody>
      </p:sp>
      <p:sp>
        <p:nvSpPr>
          <p:cNvPr id="16" name="Chip"/>
          <p:cNvSpPr/>
          <p:nvPr/>
        </p:nvSpPr>
        <p:spPr>
          <a:xfrm>
            <a:off x="6995160" y="37947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ip"/>
          <p:cNvSpPr txBox="1"/>
          <p:nvPr/>
        </p:nvSpPr>
        <p:spPr>
          <a:xfrm>
            <a:off x="6995160" y="3794760"/>
            <a:ext cx="2057400" cy="347472"/>
          </a:xfrm>
          <a:prstGeom prst="rect">
            <a:avLst/>
          </a:prstGeom>
          <a:noFill/>
        </p:spPr>
        <p:txBody>
          <a:bodyPr wrap="square" lIns="0" rIns="0" tIns="0" bIns="0" anchor="ctr">
            <a:spAutoFit/>
          </a:bodyPr>
          <a:lstStyle/>
          <a:p>
            <a:pPr algn="ctr"/>
            <a:r>
              <a:rPr sz="1200" b="1" i="0">
                <a:solidFill>
                  <a:srgbClr val="0B4A4A"/>
                </a:solidFill>
              </a:rPr>
              <a:t>Chase</a:t>
            </a:r>
          </a:p>
        </p:txBody>
      </p:sp>
      <p:sp>
        <p:nvSpPr>
          <p:cNvPr id="18" name="Chip"/>
          <p:cNvSpPr/>
          <p:nvPr/>
        </p:nvSpPr>
        <p:spPr>
          <a:xfrm>
            <a:off x="9235440" y="19659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hip"/>
          <p:cNvSpPr txBox="1"/>
          <p:nvPr/>
        </p:nvSpPr>
        <p:spPr>
          <a:xfrm>
            <a:off x="9235440" y="1965960"/>
            <a:ext cx="2057400" cy="347472"/>
          </a:xfrm>
          <a:prstGeom prst="rect">
            <a:avLst/>
          </a:prstGeom>
          <a:noFill/>
        </p:spPr>
        <p:txBody>
          <a:bodyPr wrap="square" lIns="0" rIns="0" tIns="0" bIns="0" anchor="ctr">
            <a:spAutoFit/>
          </a:bodyPr>
          <a:lstStyle/>
          <a:p>
            <a:pPr algn="ctr"/>
            <a:r>
              <a:rPr sz="1200" b="1" i="0">
                <a:solidFill>
                  <a:srgbClr val="0B4A4A"/>
                </a:solidFill>
              </a:rPr>
              <a:t>Answer</a:t>
            </a:r>
          </a:p>
        </p:txBody>
      </p:sp>
      <p:sp>
        <p:nvSpPr>
          <p:cNvPr id="20" name="Chip"/>
          <p:cNvSpPr/>
          <p:nvPr/>
        </p:nvSpPr>
        <p:spPr>
          <a:xfrm>
            <a:off x="9235440" y="24231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ip"/>
          <p:cNvSpPr txBox="1"/>
          <p:nvPr/>
        </p:nvSpPr>
        <p:spPr>
          <a:xfrm>
            <a:off x="9235440" y="2423160"/>
            <a:ext cx="2057400" cy="347472"/>
          </a:xfrm>
          <a:prstGeom prst="rect">
            <a:avLst/>
          </a:prstGeom>
          <a:noFill/>
        </p:spPr>
        <p:txBody>
          <a:bodyPr wrap="square" lIns="0" rIns="0" tIns="0" bIns="0" anchor="ctr">
            <a:spAutoFit/>
          </a:bodyPr>
          <a:lstStyle/>
          <a:p>
            <a:pPr algn="ctr"/>
            <a:r>
              <a:rPr sz="1200" b="1" i="0">
                <a:solidFill>
                  <a:srgbClr val="0B4A4A"/>
                </a:solidFill>
              </a:rPr>
              <a:t>Assess</a:t>
            </a:r>
          </a:p>
        </p:txBody>
      </p:sp>
      <p:sp>
        <p:nvSpPr>
          <p:cNvPr id="22" name="Chip"/>
          <p:cNvSpPr/>
          <p:nvPr/>
        </p:nvSpPr>
        <p:spPr>
          <a:xfrm>
            <a:off x="9235440" y="28803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p:cNvSpPr txBox="1"/>
          <p:nvPr/>
        </p:nvSpPr>
        <p:spPr>
          <a:xfrm>
            <a:off x="9235440" y="2880360"/>
            <a:ext cx="2057400" cy="347472"/>
          </a:xfrm>
          <a:prstGeom prst="rect">
            <a:avLst/>
          </a:prstGeom>
          <a:noFill/>
        </p:spPr>
        <p:txBody>
          <a:bodyPr wrap="square" lIns="0" rIns="0" tIns="0" bIns="0" anchor="ctr">
            <a:spAutoFit/>
          </a:bodyPr>
          <a:lstStyle/>
          <a:p>
            <a:pPr algn="ctr"/>
            <a:r>
              <a:rPr sz="1200" b="1" i="0">
                <a:solidFill>
                  <a:srgbClr val="0B4A4A"/>
                </a:solidFill>
              </a:rPr>
              <a:t>Report</a:t>
            </a:r>
          </a:p>
        </p:txBody>
      </p:sp>
      <p:sp>
        <p:nvSpPr>
          <p:cNvPr id="24" name="Chip"/>
          <p:cNvSpPr/>
          <p:nvPr/>
        </p:nvSpPr>
        <p:spPr>
          <a:xfrm>
            <a:off x="9235440" y="33375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hip"/>
          <p:cNvSpPr txBox="1"/>
          <p:nvPr/>
        </p:nvSpPr>
        <p:spPr>
          <a:xfrm>
            <a:off x="9235440" y="3337560"/>
            <a:ext cx="2057400" cy="347472"/>
          </a:xfrm>
          <a:prstGeom prst="rect">
            <a:avLst/>
          </a:prstGeom>
          <a:noFill/>
        </p:spPr>
        <p:txBody>
          <a:bodyPr wrap="square" lIns="0" rIns="0" tIns="0" bIns="0" anchor="ctr">
            <a:spAutoFit/>
          </a:bodyPr>
          <a:lstStyle/>
          <a:p>
            <a:pPr algn="ctr"/>
            <a:r>
              <a:rPr sz="1200" b="1" i="0">
                <a:solidFill>
                  <a:srgbClr val="0B4A4A"/>
                </a:solidFill>
              </a:rPr>
              <a:t>Carry through</a:t>
            </a:r>
          </a:p>
        </p:txBody>
      </p:sp>
      <p:sp>
        <p:nvSpPr>
          <p:cNvPr id="26" name="Chip"/>
          <p:cNvSpPr/>
          <p:nvPr/>
        </p:nvSpPr>
        <p:spPr>
          <a:xfrm>
            <a:off x="9235440" y="3794760"/>
            <a:ext cx="2057400" cy="347472"/>
          </a:xfrm>
          <a:prstGeom prst="roundRect">
            <a:avLst>
              <a:gd name="adj" fmla="val 50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ip"/>
          <p:cNvSpPr txBox="1"/>
          <p:nvPr/>
        </p:nvSpPr>
        <p:spPr>
          <a:xfrm>
            <a:off x="9235440" y="3794760"/>
            <a:ext cx="2057400" cy="347472"/>
          </a:xfrm>
          <a:prstGeom prst="rect">
            <a:avLst/>
          </a:prstGeom>
          <a:noFill/>
        </p:spPr>
        <p:txBody>
          <a:bodyPr wrap="square" lIns="0" rIns="0" tIns="0" bIns="0" anchor="ctr">
            <a:spAutoFit/>
          </a:bodyPr>
          <a:lstStyle/>
          <a:p>
            <a:pPr algn="ctr"/>
            <a:r>
              <a:rPr sz="1200" b="1" i="0">
                <a:solidFill>
                  <a:srgbClr val="0B4A4A"/>
                </a:solidFill>
              </a:rPr>
              <a:t>Run a batch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idea, in three steps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IDEA</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a:t>
            </a:r>
          </a:p>
        </p:txBody>
      </p:sp>
      <p:sp>
        <p:nvSpPr>
          <p:cNvPr id="5" name="Step"/>
          <p:cNvSpPr/>
          <p:nvPr/>
        </p:nvSpPr>
        <p:spPr>
          <a:xfrm>
            <a:off x="548640" y="1554480"/>
            <a:ext cx="3575304" cy="2194560"/>
          </a:xfrm>
          <a:prstGeom prst="roundRect">
            <a:avLst>
              <a:gd name="adj" fmla="val 3750"/>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p:cNvSpPr/>
          <p:nvPr/>
        </p:nvSpPr>
        <p:spPr>
          <a:xfrm>
            <a:off x="804672" y="178308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804672" y="1783080"/>
            <a:ext cx="384048" cy="384048"/>
          </a:xfrm>
          <a:prstGeom prst="rect">
            <a:avLst/>
          </a:prstGeom>
          <a:noFill/>
        </p:spPr>
        <p:txBody>
          <a:bodyPr wrap="square" lIns="0" rIns="0" tIns="0" bIns="0" anchor="ctr">
            <a:spAutoFit/>
          </a:bodyPr>
          <a:lstStyle/>
          <a:p>
            <a:pPr algn="ctr"/>
            <a:r>
              <a:rPr sz="1400" b="1" i="0">
                <a:solidFill>
                  <a:srgbClr val="FFFFFF"/>
                </a:solidFill>
              </a:rPr>
              <a:t>1</a:t>
            </a:r>
          </a:p>
        </p:txBody>
      </p:sp>
      <p:sp>
        <p:nvSpPr>
          <p:cNvPr id="8" name="Text"/>
          <p:cNvSpPr txBox="1"/>
          <p:nvPr/>
        </p:nvSpPr>
        <p:spPr>
          <a:xfrm>
            <a:off x="804672" y="2377440"/>
            <a:ext cx="3108960" cy="411480"/>
          </a:xfrm>
          <a:prstGeom prst="rect">
            <a:avLst/>
          </a:prstGeom>
          <a:noFill/>
        </p:spPr>
        <p:txBody>
          <a:bodyPr wrap="square" lIns="0" rIns="0" tIns="0" bIns="0" anchor="t">
            <a:spAutoFit/>
          </a:bodyPr>
          <a:lstStyle/>
          <a:p>
            <a:pPr algn="l"/>
            <a:r>
              <a:rPr sz="1900" b="1" i="0">
                <a:solidFill>
                  <a:srgbClr val="1E262B"/>
                </a:solidFill>
              </a:rPr>
              <a:t>Write a taxonomy</a:t>
            </a:r>
          </a:p>
        </p:txBody>
      </p:sp>
      <p:sp>
        <p:nvSpPr>
          <p:cNvPr id="9" name="Text"/>
          <p:cNvSpPr txBox="1"/>
          <p:nvPr/>
        </p:nvSpPr>
        <p:spPr>
          <a:xfrm>
            <a:off x="804672" y="2880360"/>
            <a:ext cx="3108960" cy="731520"/>
          </a:xfrm>
          <a:prstGeom prst="rect">
            <a:avLst/>
          </a:prstGeom>
          <a:noFill/>
        </p:spPr>
        <p:txBody>
          <a:bodyPr wrap="square" lIns="0" rIns="0" tIns="0" bIns="0" anchor="t">
            <a:spAutoFit/>
          </a:bodyPr>
          <a:lstStyle/>
          <a:p>
            <a:pPr algn="l"/>
            <a:r>
              <a:rPr sz="1400" b="0" i="0">
                <a:solidFill>
                  <a:srgbClr val="1E262B"/>
                </a:solidFill>
              </a:rPr>
              <a:t>Ten types of task, read off the role file's row.</a:t>
            </a:r>
          </a:p>
        </p:txBody>
      </p:sp>
      <p:sp>
        <p:nvSpPr>
          <p:cNvPr id="10" name="Text"/>
          <p:cNvSpPr txBox="1"/>
          <p:nvPr/>
        </p:nvSpPr>
        <p:spPr>
          <a:xfrm>
            <a:off x="4123944" y="1554480"/>
            <a:ext cx="182880" cy="2194560"/>
          </a:xfrm>
          <a:prstGeom prst="rect">
            <a:avLst/>
          </a:prstGeom>
          <a:noFill/>
        </p:spPr>
        <p:txBody>
          <a:bodyPr wrap="square" lIns="0" rIns="0" tIns="0" bIns="0" anchor="ctr">
            <a:spAutoFit/>
          </a:bodyPr>
          <a:lstStyle/>
          <a:p>
            <a:pPr algn="ctr"/>
            <a:r>
              <a:rPr sz="2200" b="1" i="0">
                <a:solidFill>
                  <a:srgbClr val="0B6463"/>
                </a:solidFill>
              </a:rPr>
              <a:t>›</a:t>
            </a:r>
          </a:p>
        </p:txBody>
      </p:sp>
      <p:sp>
        <p:nvSpPr>
          <p:cNvPr id="11" name="Step"/>
          <p:cNvSpPr/>
          <p:nvPr/>
        </p:nvSpPr>
        <p:spPr>
          <a:xfrm>
            <a:off x="4306824" y="1554480"/>
            <a:ext cx="3575304" cy="2194560"/>
          </a:xfrm>
          <a:prstGeom prst="roundRect">
            <a:avLst>
              <a:gd name="adj" fmla="val 3750"/>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p:cNvSpPr/>
          <p:nvPr/>
        </p:nvSpPr>
        <p:spPr>
          <a:xfrm>
            <a:off x="4562856" y="178308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4562856" y="1783080"/>
            <a:ext cx="384048" cy="384048"/>
          </a:xfrm>
          <a:prstGeom prst="rect">
            <a:avLst/>
          </a:prstGeom>
          <a:noFill/>
        </p:spPr>
        <p:txBody>
          <a:bodyPr wrap="square" lIns="0" rIns="0" tIns="0" bIns="0" anchor="ctr">
            <a:spAutoFit/>
          </a:bodyPr>
          <a:lstStyle/>
          <a:p>
            <a:pPr algn="ctr"/>
            <a:r>
              <a:rPr sz="1400" b="1" i="0">
                <a:solidFill>
                  <a:srgbClr val="FFFFFF"/>
                </a:solidFill>
              </a:rPr>
              <a:t>2</a:t>
            </a:r>
          </a:p>
        </p:txBody>
      </p:sp>
      <p:sp>
        <p:nvSpPr>
          <p:cNvPr id="14" name="Text"/>
          <p:cNvSpPr txBox="1"/>
          <p:nvPr/>
        </p:nvSpPr>
        <p:spPr>
          <a:xfrm>
            <a:off x="4562856" y="2377440"/>
            <a:ext cx="3108960" cy="411480"/>
          </a:xfrm>
          <a:prstGeom prst="rect">
            <a:avLst/>
          </a:prstGeom>
          <a:noFill/>
        </p:spPr>
        <p:txBody>
          <a:bodyPr wrap="square" lIns="0" rIns="0" tIns="0" bIns="0" anchor="t">
            <a:spAutoFit/>
          </a:bodyPr>
          <a:lstStyle/>
          <a:p>
            <a:pPr algn="l"/>
            <a:r>
              <a:rPr sz="1900" b="1" i="0">
                <a:solidFill>
                  <a:srgbClr val="1E262B"/>
                </a:solidFill>
              </a:rPr>
              <a:t>Test it</a:t>
            </a:r>
          </a:p>
        </p:txBody>
      </p:sp>
      <p:sp>
        <p:nvSpPr>
          <p:cNvPr id="15" name="Text"/>
          <p:cNvSpPr txBox="1"/>
          <p:nvPr/>
        </p:nvSpPr>
        <p:spPr>
          <a:xfrm>
            <a:off x="4562856" y="2880360"/>
            <a:ext cx="3108960" cy="731520"/>
          </a:xfrm>
          <a:prstGeom prst="rect">
            <a:avLst/>
          </a:prstGeom>
          <a:noFill/>
        </p:spPr>
        <p:txBody>
          <a:bodyPr wrap="square" lIns="0" rIns="0" tIns="0" bIns="0" anchor="t">
            <a:spAutoFit/>
          </a:bodyPr>
          <a:lstStyle/>
          <a:p>
            <a:pPr algn="l"/>
            <a:r>
              <a:rPr sz="1400" b="0" i="0">
                <a:solidFill>
                  <a:srgbClr val="1E262B"/>
                </a:solidFill>
              </a:rPr>
              <a:t>On 430 real tasks of 30 roles.</a:t>
            </a:r>
          </a:p>
        </p:txBody>
      </p:sp>
      <p:sp>
        <p:nvSpPr>
          <p:cNvPr id="16" name="Text"/>
          <p:cNvSpPr txBox="1"/>
          <p:nvPr/>
        </p:nvSpPr>
        <p:spPr>
          <a:xfrm>
            <a:off x="7882128" y="1554480"/>
            <a:ext cx="182880" cy="2194560"/>
          </a:xfrm>
          <a:prstGeom prst="rect">
            <a:avLst/>
          </a:prstGeom>
          <a:noFill/>
        </p:spPr>
        <p:txBody>
          <a:bodyPr wrap="square" lIns="0" rIns="0" tIns="0" bIns="0" anchor="ctr">
            <a:spAutoFit/>
          </a:bodyPr>
          <a:lstStyle/>
          <a:p>
            <a:pPr algn="ctr"/>
            <a:r>
              <a:rPr sz="2200" b="1" i="0">
                <a:solidFill>
                  <a:srgbClr val="0B6463"/>
                </a:solidFill>
              </a:rPr>
              <a:t>›</a:t>
            </a:r>
          </a:p>
        </p:txBody>
      </p:sp>
      <p:sp>
        <p:nvSpPr>
          <p:cNvPr id="17" name="Step"/>
          <p:cNvSpPr/>
          <p:nvPr/>
        </p:nvSpPr>
        <p:spPr>
          <a:xfrm>
            <a:off x="8065008" y="1554480"/>
            <a:ext cx="3575304" cy="2194560"/>
          </a:xfrm>
          <a:prstGeom prst="roundRect">
            <a:avLst>
              <a:gd name="adj" fmla="val 3750"/>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
          <p:cNvSpPr/>
          <p:nvPr/>
        </p:nvSpPr>
        <p:spPr>
          <a:xfrm>
            <a:off x="8321040" y="178308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p:cNvSpPr txBox="1"/>
          <p:nvPr/>
        </p:nvSpPr>
        <p:spPr>
          <a:xfrm>
            <a:off x="8321040" y="1783080"/>
            <a:ext cx="384048" cy="384048"/>
          </a:xfrm>
          <a:prstGeom prst="rect">
            <a:avLst/>
          </a:prstGeom>
          <a:noFill/>
        </p:spPr>
        <p:txBody>
          <a:bodyPr wrap="square" lIns="0" rIns="0" tIns="0" bIns="0" anchor="ctr">
            <a:spAutoFit/>
          </a:bodyPr>
          <a:lstStyle/>
          <a:p>
            <a:pPr algn="ctr"/>
            <a:r>
              <a:rPr sz="1400" b="1" i="0">
                <a:solidFill>
                  <a:srgbClr val="FFFFFF"/>
                </a:solidFill>
              </a:rPr>
              <a:t>3</a:t>
            </a:r>
          </a:p>
        </p:txBody>
      </p:sp>
      <p:sp>
        <p:nvSpPr>
          <p:cNvPr id="20" name="Text"/>
          <p:cNvSpPr txBox="1"/>
          <p:nvPr/>
        </p:nvSpPr>
        <p:spPr>
          <a:xfrm>
            <a:off x="8321040" y="2377440"/>
            <a:ext cx="3108960" cy="411480"/>
          </a:xfrm>
          <a:prstGeom prst="rect">
            <a:avLst/>
          </a:prstGeom>
          <a:noFill/>
        </p:spPr>
        <p:txBody>
          <a:bodyPr wrap="square" lIns="0" rIns="0" tIns="0" bIns="0" anchor="t">
            <a:spAutoFit/>
          </a:bodyPr>
          <a:lstStyle/>
          <a:p>
            <a:pPr algn="l"/>
            <a:r>
              <a:rPr sz="1900" b="1" i="0">
                <a:solidFill>
                  <a:srgbClr val="1E262B"/>
                </a:solidFill>
              </a:rPr>
              <a:t>Reason to a screen</a:t>
            </a:r>
          </a:p>
        </p:txBody>
      </p:sp>
      <p:sp>
        <p:nvSpPr>
          <p:cNvPr id="21" name="Text"/>
          <p:cNvSpPr txBox="1"/>
          <p:nvPr/>
        </p:nvSpPr>
        <p:spPr>
          <a:xfrm>
            <a:off x="8321040" y="2880360"/>
            <a:ext cx="3108960" cy="731520"/>
          </a:xfrm>
          <a:prstGeom prst="rect">
            <a:avLst/>
          </a:prstGeom>
          <a:noFill/>
        </p:spPr>
        <p:txBody>
          <a:bodyPr wrap="square" lIns="0" rIns="0" tIns="0" bIns="0" anchor="t">
            <a:spAutoFit/>
          </a:bodyPr>
          <a:lstStyle/>
          <a:p>
            <a:pPr algn="l"/>
            <a:r>
              <a:rPr sz="1400" b="0" i="0">
                <a:solidFill>
                  <a:srgbClr val="1E262B"/>
                </a:solidFill>
              </a:rPr>
              <a:t>For each type: which block leads, which pattern.</a:t>
            </a:r>
          </a:p>
        </p:txBody>
      </p:sp>
      <p:sp>
        <p:nvSpPr>
          <p:cNvPr id="22" name="Finding"/>
          <p:cNvSpPr/>
          <p:nvPr/>
        </p:nvSpPr>
        <p:spPr>
          <a:xfrm>
            <a:off x="548640" y="4206240"/>
            <a:ext cx="11091672" cy="7315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822960" y="4206240"/>
            <a:ext cx="10543032" cy="731520"/>
          </a:xfrm>
          <a:prstGeom prst="rect">
            <a:avLst/>
          </a:prstGeom>
          <a:noFill/>
        </p:spPr>
        <p:txBody>
          <a:bodyPr wrap="square" lIns="0" rIns="0" tIns="0" bIns="0" anchor="ctr">
            <a:spAutoFit/>
          </a:bodyPr>
          <a:lstStyle/>
          <a:p>
            <a:pPr algn="l"/>
            <a:r>
              <a:rPr sz="1350" b="1" i="0">
                <a:solidFill>
                  <a:srgbClr val="1E262B"/>
                </a:solidFill>
              </a:rPr>
              <a:t>If it holds:  </a:t>
            </a:r>
            <a:r>
              <a:rPr sz="1350" b="0" i="0">
                <a:solidFill>
                  <a:srgbClr val="1E262B"/>
                </a:solidFill>
              </a:rPr>
              <a:t>the row gives the type, and the type suggests the kind of screen, before any card is filled.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Built on the role format's own endings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TAXONOMY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3</a:t>
            </a:r>
          </a:p>
        </p:txBody>
      </p:sp>
      <p:sp>
        <p:nvSpPr>
          <p:cNvPr id="5" name="Text"/>
          <p:cNvSpPr txBox="1"/>
          <p:nvPr/>
        </p:nvSpPr>
        <p:spPr>
          <a:xfrm>
            <a:off x="548640" y="1371600"/>
            <a:ext cx="3017520" cy="201168"/>
          </a:xfrm>
          <a:prstGeom prst="rect">
            <a:avLst/>
          </a:prstGeom>
          <a:noFill/>
        </p:spPr>
        <p:txBody>
          <a:bodyPr wrap="square" lIns="0" rIns="0" tIns="0" bIns="0" anchor="t">
            <a:spAutoFit/>
          </a:bodyPr>
          <a:lstStyle/>
          <a:p>
            <a:pPr algn="l"/>
            <a:r>
              <a:rPr sz="1000" b="1" i="0">
                <a:solidFill>
                  <a:srgbClr val="5E6A71"/>
                </a:solidFill>
              </a:rPr>
              <a:t>THE FORMAT SAYS A TASK IS DONE BY</a:t>
            </a:r>
          </a:p>
        </p:txBody>
      </p:sp>
      <p:sp>
        <p:nvSpPr>
          <p:cNvPr id="6" name="Text"/>
          <p:cNvSpPr txBox="1"/>
          <p:nvPr/>
        </p:nvSpPr>
        <p:spPr>
          <a:xfrm>
            <a:off x="4114800" y="1371600"/>
            <a:ext cx="7315200" cy="201168"/>
          </a:xfrm>
          <a:prstGeom prst="rect">
            <a:avLst/>
          </a:prstGeom>
          <a:noFill/>
        </p:spPr>
        <p:txBody>
          <a:bodyPr wrap="square" lIns="0" rIns="0" tIns="0" bIns="0" anchor="t">
            <a:spAutoFit/>
          </a:bodyPr>
          <a:lstStyle/>
          <a:p>
            <a:pPr algn="l"/>
            <a:r>
              <a:rPr sz="1000" b="1" i="0">
                <a:solidFill>
                  <a:srgbClr val="0B6463"/>
                </a:solidFill>
              </a:rPr>
              <a:t>THE TYPE</a:t>
            </a:r>
          </a:p>
        </p:txBody>
      </p:sp>
      <p:sp>
        <p:nvSpPr>
          <p:cNvPr id="7" name="Box"/>
          <p:cNvSpPr/>
          <p:nvPr/>
        </p:nvSpPr>
        <p:spPr>
          <a:xfrm>
            <a:off x="548640" y="1645920"/>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731520" y="1645920"/>
            <a:ext cx="2743200" cy="457200"/>
          </a:xfrm>
          <a:prstGeom prst="rect">
            <a:avLst/>
          </a:prstGeom>
          <a:noFill/>
        </p:spPr>
        <p:txBody>
          <a:bodyPr wrap="square" lIns="0" rIns="0" tIns="0" bIns="0" anchor="ctr">
            <a:spAutoFit/>
          </a:bodyPr>
          <a:lstStyle/>
          <a:p>
            <a:pPr algn="l"/>
            <a:r>
              <a:rPr sz="1300" b="1" i="0">
                <a:solidFill>
                  <a:srgbClr val="1E262B"/>
                </a:solidFill>
              </a:rPr>
              <a:t>a decision made</a:t>
            </a:r>
          </a:p>
        </p:txBody>
      </p:sp>
      <p:sp>
        <p:nvSpPr>
          <p:cNvPr id="9" name="Text"/>
          <p:cNvSpPr txBox="1"/>
          <p:nvPr/>
        </p:nvSpPr>
        <p:spPr>
          <a:xfrm>
            <a:off x="3566160" y="1645920"/>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10" name="Box"/>
          <p:cNvSpPr/>
          <p:nvPr/>
        </p:nvSpPr>
        <p:spPr>
          <a:xfrm>
            <a:off x="4114800" y="1645920"/>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4251960" y="1645920"/>
            <a:ext cx="3429000" cy="457200"/>
          </a:xfrm>
          <a:prstGeom prst="rect">
            <a:avLst/>
          </a:prstGeom>
          <a:noFill/>
        </p:spPr>
        <p:txBody>
          <a:bodyPr wrap="square" lIns="0" rIns="0" tIns="0" bIns="0" anchor="ctr">
            <a:spAutoFit/>
          </a:bodyPr>
          <a:lstStyle/>
          <a:p>
            <a:pPr algn="l"/>
            <a:r>
              <a:rPr sz="1350" b="1" i="0">
                <a:solidFill>
                  <a:srgbClr val="0B4A4A"/>
                </a:solidFill>
              </a:rPr>
              <a:t>Decide</a:t>
            </a:r>
            <a:r>
              <a:rPr sz="1050" b="0" i="0">
                <a:solidFill>
                  <a:srgbClr val="5E6A71"/>
                </a:solidFill>
              </a:rPr>
              <a:t/>
            </a:r>
          </a:p>
        </p:txBody>
      </p:sp>
      <p:sp>
        <p:nvSpPr>
          <p:cNvPr id="12" name="Box"/>
          <p:cNvSpPr/>
          <p:nvPr/>
        </p:nvSpPr>
        <p:spPr>
          <a:xfrm>
            <a:off x="548640" y="2176272"/>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731520" y="2176272"/>
            <a:ext cx="2743200" cy="457200"/>
          </a:xfrm>
          <a:prstGeom prst="rect">
            <a:avLst/>
          </a:prstGeom>
          <a:noFill/>
        </p:spPr>
        <p:txBody>
          <a:bodyPr wrap="square" lIns="0" rIns="0" tIns="0" bIns="0" anchor="ctr">
            <a:spAutoFit/>
          </a:bodyPr>
          <a:lstStyle/>
          <a:p>
            <a:pPr algn="l"/>
            <a:r>
              <a:rPr sz="1300" b="1" i="0">
                <a:solidFill>
                  <a:srgbClr val="1E262B"/>
                </a:solidFill>
              </a:rPr>
              <a:t>a question answered</a:t>
            </a:r>
          </a:p>
        </p:txBody>
      </p:sp>
      <p:sp>
        <p:nvSpPr>
          <p:cNvPr id="14" name="Text"/>
          <p:cNvSpPr txBox="1"/>
          <p:nvPr/>
        </p:nvSpPr>
        <p:spPr>
          <a:xfrm>
            <a:off x="3566160" y="2176272"/>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15" name="Box"/>
          <p:cNvSpPr/>
          <p:nvPr/>
        </p:nvSpPr>
        <p:spPr>
          <a:xfrm>
            <a:off x="4114800" y="2176272"/>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4251960" y="2176272"/>
            <a:ext cx="3429000" cy="457200"/>
          </a:xfrm>
          <a:prstGeom prst="rect">
            <a:avLst/>
          </a:prstGeom>
          <a:noFill/>
        </p:spPr>
        <p:txBody>
          <a:bodyPr wrap="square" lIns="0" rIns="0" tIns="0" bIns="0" anchor="ctr">
            <a:spAutoFit/>
          </a:bodyPr>
          <a:lstStyle/>
          <a:p>
            <a:pPr algn="l"/>
            <a:r>
              <a:rPr sz="1350" b="1" i="0">
                <a:solidFill>
                  <a:srgbClr val="0B4A4A"/>
                </a:solidFill>
              </a:rPr>
              <a:t>Answer</a:t>
            </a:r>
            <a:r>
              <a:rPr sz="1050" b="0" i="0">
                <a:solidFill>
                  <a:srgbClr val="5E6A71"/>
                </a:solidFill>
              </a:rPr>
              <a:t/>
            </a:r>
          </a:p>
        </p:txBody>
      </p:sp>
      <p:sp>
        <p:nvSpPr>
          <p:cNvPr id="17" name="Box"/>
          <p:cNvSpPr/>
          <p:nvPr/>
        </p:nvSpPr>
        <p:spPr>
          <a:xfrm>
            <a:off x="548640" y="2706624"/>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731520" y="2706624"/>
            <a:ext cx="2743200" cy="457200"/>
          </a:xfrm>
          <a:prstGeom prst="rect">
            <a:avLst/>
          </a:prstGeom>
          <a:noFill/>
        </p:spPr>
        <p:txBody>
          <a:bodyPr wrap="square" lIns="0" rIns="0" tIns="0" bIns="0" anchor="ctr">
            <a:spAutoFit/>
          </a:bodyPr>
          <a:lstStyle/>
          <a:p>
            <a:pPr algn="l"/>
            <a:r>
              <a:rPr sz="1300" b="1" i="0">
                <a:solidFill>
                  <a:srgbClr val="1E262B"/>
                </a:solidFill>
              </a:rPr>
              <a:t>a message sent</a:t>
            </a:r>
          </a:p>
        </p:txBody>
      </p:sp>
      <p:sp>
        <p:nvSpPr>
          <p:cNvPr id="19" name="Text"/>
          <p:cNvSpPr txBox="1"/>
          <p:nvPr/>
        </p:nvSpPr>
        <p:spPr>
          <a:xfrm>
            <a:off x="3566160" y="2706624"/>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20" name="Box"/>
          <p:cNvSpPr/>
          <p:nvPr/>
        </p:nvSpPr>
        <p:spPr>
          <a:xfrm>
            <a:off x="4114800" y="2706624"/>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4251960" y="2706624"/>
            <a:ext cx="3429000" cy="457200"/>
          </a:xfrm>
          <a:prstGeom prst="rect">
            <a:avLst/>
          </a:prstGeom>
          <a:noFill/>
        </p:spPr>
        <p:txBody>
          <a:bodyPr wrap="square" lIns="0" rIns="0" tIns="0" bIns="0" anchor="ctr">
            <a:spAutoFit/>
          </a:bodyPr>
          <a:lstStyle/>
          <a:p>
            <a:pPr algn="l"/>
            <a:r>
              <a:rPr sz="1350" b="1" i="0">
                <a:solidFill>
                  <a:srgbClr val="0B4A4A"/>
                </a:solidFill>
              </a:rPr>
              <a:t>Chase</a:t>
            </a:r>
            <a:r>
              <a:rPr sz="1050" b="0" i="0">
                <a:solidFill>
                  <a:srgbClr val="5E6A71"/>
                </a:solidFill>
              </a:rPr>
              <a:t>   about something already asked</a:t>
            </a:r>
          </a:p>
        </p:txBody>
      </p:sp>
      <p:sp>
        <p:nvSpPr>
          <p:cNvPr id="22" name="Box"/>
          <p:cNvSpPr/>
          <p:nvPr/>
        </p:nvSpPr>
        <p:spPr>
          <a:xfrm>
            <a:off x="7845552" y="2706624"/>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7982712" y="2706624"/>
            <a:ext cx="3429000" cy="457200"/>
          </a:xfrm>
          <a:prstGeom prst="rect">
            <a:avLst/>
          </a:prstGeom>
          <a:noFill/>
        </p:spPr>
        <p:txBody>
          <a:bodyPr wrap="square" lIns="0" rIns="0" tIns="0" bIns="0" anchor="ctr">
            <a:spAutoFit/>
          </a:bodyPr>
          <a:lstStyle/>
          <a:p>
            <a:pPr algn="l"/>
            <a:r>
              <a:rPr sz="1350" b="1" i="0">
                <a:solidFill>
                  <a:srgbClr val="0B4A4A"/>
                </a:solidFill>
              </a:rPr>
              <a:t>Report</a:t>
            </a:r>
            <a:r>
              <a:rPr sz="1050" b="0" i="0">
                <a:solidFill>
                  <a:srgbClr val="5E6A71"/>
                </a:solidFill>
              </a:rPr>
              <a:t>   a statement, for a reader</a:t>
            </a:r>
          </a:p>
        </p:txBody>
      </p:sp>
      <p:sp>
        <p:nvSpPr>
          <p:cNvPr id="24" name="Box"/>
          <p:cNvSpPr/>
          <p:nvPr/>
        </p:nvSpPr>
        <p:spPr>
          <a:xfrm>
            <a:off x="548640" y="3236976"/>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731520" y="3236976"/>
            <a:ext cx="2743200" cy="457200"/>
          </a:xfrm>
          <a:prstGeom prst="rect">
            <a:avLst/>
          </a:prstGeom>
          <a:noFill/>
        </p:spPr>
        <p:txBody>
          <a:bodyPr wrap="square" lIns="0" rIns="0" tIns="0" bIns="0" anchor="ctr">
            <a:spAutoFit/>
          </a:bodyPr>
          <a:lstStyle/>
          <a:p>
            <a:pPr algn="l"/>
            <a:r>
              <a:rPr sz="1300" b="1" i="0">
                <a:solidFill>
                  <a:srgbClr val="1E262B"/>
                </a:solidFill>
              </a:rPr>
              <a:t>a change in the system</a:t>
            </a:r>
          </a:p>
        </p:txBody>
      </p:sp>
      <p:sp>
        <p:nvSpPr>
          <p:cNvPr id="26" name="Text"/>
          <p:cNvSpPr txBox="1"/>
          <p:nvPr/>
        </p:nvSpPr>
        <p:spPr>
          <a:xfrm>
            <a:off x="3566160" y="3236976"/>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27" name="Box"/>
          <p:cNvSpPr/>
          <p:nvPr/>
        </p:nvSpPr>
        <p:spPr>
          <a:xfrm>
            <a:off x="4114800" y="3236976"/>
            <a:ext cx="2435352"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p:cNvSpPr txBox="1"/>
          <p:nvPr/>
        </p:nvSpPr>
        <p:spPr>
          <a:xfrm>
            <a:off x="4251960" y="3236976"/>
            <a:ext cx="2206752" cy="457200"/>
          </a:xfrm>
          <a:prstGeom prst="rect">
            <a:avLst/>
          </a:prstGeom>
          <a:noFill/>
        </p:spPr>
        <p:txBody>
          <a:bodyPr wrap="square" lIns="0" rIns="0" tIns="0" bIns="0" anchor="ctr">
            <a:spAutoFit/>
          </a:bodyPr>
          <a:lstStyle/>
          <a:p>
            <a:pPr algn="l"/>
            <a:r>
              <a:rPr sz="1350" b="1" i="0">
                <a:solidFill>
                  <a:srgbClr val="0B4A4A"/>
                </a:solidFill>
              </a:rPr>
              <a:t>Make</a:t>
            </a:r>
            <a:r>
              <a:rPr sz="1050" b="0" i="0">
                <a:solidFill>
                  <a:srgbClr val="5E6A71"/>
                </a:solidFill>
              </a:rPr>
              <a:t>   the role decides it</a:t>
            </a:r>
          </a:p>
        </p:txBody>
      </p:sp>
      <p:sp>
        <p:nvSpPr>
          <p:cNvPr id="29" name="Box"/>
          <p:cNvSpPr/>
          <p:nvPr/>
        </p:nvSpPr>
        <p:spPr>
          <a:xfrm>
            <a:off x="6623304" y="3236976"/>
            <a:ext cx="2435352"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6760464" y="3236976"/>
            <a:ext cx="2206752" cy="457200"/>
          </a:xfrm>
          <a:prstGeom prst="rect">
            <a:avLst/>
          </a:prstGeom>
          <a:noFill/>
        </p:spPr>
        <p:txBody>
          <a:bodyPr wrap="square" lIns="0" rIns="0" tIns="0" bIns="0" anchor="ctr">
            <a:spAutoFit/>
          </a:bodyPr>
          <a:lstStyle/>
          <a:p>
            <a:pPr algn="l"/>
            <a:r>
              <a:rPr sz="1350" b="1" i="0">
                <a:solidFill>
                  <a:srgbClr val="0B4A4A"/>
                </a:solidFill>
              </a:rPr>
              <a:t>Record</a:t>
            </a:r>
            <a:r>
              <a:rPr sz="1050" b="0" i="0">
                <a:solidFill>
                  <a:srgbClr val="5E6A71"/>
                </a:solidFill>
              </a:rPr>
              <a:t>   the world gives it</a:t>
            </a:r>
          </a:p>
        </p:txBody>
      </p:sp>
      <p:sp>
        <p:nvSpPr>
          <p:cNvPr id="31" name="Box"/>
          <p:cNvSpPr/>
          <p:nvPr/>
        </p:nvSpPr>
        <p:spPr>
          <a:xfrm>
            <a:off x="9131808" y="3236976"/>
            <a:ext cx="2435352"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p:cNvSpPr txBox="1"/>
          <p:nvPr/>
        </p:nvSpPr>
        <p:spPr>
          <a:xfrm>
            <a:off x="9268968" y="3236976"/>
            <a:ext cx="2206752" cy="457200"/>
          </a:xfrm>
          <a:prstGeom prst="rect">
            <a:avLst/>
          </a:prstGeom>
          <a:noFill/>
        </p:spPr>
        <p:txBody>
          <a:bodyPr wrap="square" lIns="0" rIns="0" tIns="0" bIns="0" anchor="ctr">
            <a:spAutoFit/>
          </a:bodyPr>
          <a:lstStyle/>
          <a:p>
            <a:pPr algn="l"/>
            <a:r>
              <a:rPr sz="1350" b="1" i="0">
                <a:solidFill>
                  <a:srgbClr val="0B4A4A"/>
                </a:solidFill>
              </a:rPr>
              <a:t>Run a batch</a:t>
            </a:r>
            <a:r>
              <a:rPr sz="1050" b="0" i="0">
                <a:solidFill>
                  <a:srgbClr val="5E6A71"/>
                </a:solidFill>
              </a:rPr>
              <a:t>   over a whole set</a:t>
            </a:r>
          </a:p>
        </p:txBody>
      </p:sp>
      <p:sp>
        <p:nvSpPr>
          <p:cNvPr id="33" name="Box"/>
          <p:cNvSpPr/>
          <p:nvPr/>
        </p:nvSpPr>
        <p:spPr>
          <a:xfrm>
            <a:off x="548640" y="3767328"/>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731520" y="3767328"/>
            <a:ext cx="2743200" cy="457200"/>
          </a:xfrm>
          <a:prstGeom prst="rect">
            <a:avLst/>
          </a:prstGeom>
          <a:noFill/>
        </p:spPr>
        <p:txBody>
          <a:bodyPr wrap="square" lIns="0" rIns="0" tIns="0" bIns="0" anchor="ctr">
            <a:spAutoFit/>
          </a:bodyPr>
          <a:lstStyle/>
          <a:p>
            <a:pPr algn="l"/>
            <a:r>
              <a:rPr sz="1300" b="1" i="0">
                <a:solidFill>
                  <a:srgbClr val="1E262B"/>
                </a:solidFill>
              </a:rPr>
              <a:t>the work handed over</a:t>
            </a:r>
          </a:p>
        </p:txBody>
      </p:sp>
      <p:sp>
        <p:nvSpPr>
          <p:cNvPr id="35" name="Text"/>
          <p:cNvSpPr txBox="1"/>
          <p:nvPr/>
        </p:nvSpPr>
        <p:spPr>
          <a:xfrm>
            <a:off x="3566160" y="3767328"/>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36" name="Box"/>
          <p:cNvSpPr/>
          <p:nvPr/>
        </p:nvSpPr>
        <p:spPr>
          <a:xfrm>
            <a:off x="4114800" y="3767328"/>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p:cNvSpPr txBox="1"/>
          <p:nvPr/>
        </p:nvSpPr>
        <p:spPr>
          <a:xfrm>
            <a:off x="4251960" y="3767328"/>
            <a:ext cx="3429000" cy="457200"/>
          </a:xfrm>
          <a:prstGeom prst="rect">
            <a:avLst/>
          </a:prstGeom>
          <a:noFill/>
        </p:spPr>
        <p:txBody>
          <a:bodyPr wrap="square" lIns="0" rIns="0" tIns="0" bIns="0" anchor="ctr">
            <a:spAutoFit/>
          </a:bodyPr>
          <a:lstStyle/>
          <a:p>
            <a:pPr algn="l"/>
            <a:r>
              <a:rPr sz="1350" b="1" i="0">
                <a:solidFill>
                  <a:srgbClr val="0B4A4A"/>
                </a:solidFill>
              </a:rPr>
              <a:t>Ask</a:t>
            </a:r>
            <a:r>
              <a:rPr sz="1050" b="0" i="0">
                <a:solidFill>
                  <a:srgbClr val="5E6A71"/>
                </a:solidFill>
              </a:rPr>
              <a:t>   someone else's to do</a:t>
            </a:r>
          </a:p>
        </p:txBody>
      </p:sp>
      <p:sp>
        <p:nvSpPr>
          <p:cNvPr id="38" name="Box"/>
          <p:cNvSpPr/>
          <p:nvPr/>
        </p:nvSpPr>
        <p:spPr>
          <a:xfrm>
            <a:off x="548640" y="4297680"/>
            <a:ext cx="3017520" cy="457200"/>
          </a:xfrm>
          <a:prstGeom prst="roundRect">
            <a:avLst>
              <a:gd name="adj" fmla="val 8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731520" y="4297680"/>
            <a:ext cx="2743200" cy="457200"/>
          </a:xfrm>
          <a:prstGeom prst="rect">
            <a:avLst/>
          </a:prstGeom>
          <a:noFill/>
        </p:spPr>
        <p:txBody>
          <a:bodyPr wrap="square" lIns="0" rIns="0" tIns="0" bIns="0" anchor="ctr">
            <a:spAutoFit/>
          </a:bodyPr>
          <a:lstStyle/>
          <a:p>
            <a:pPr algn="l"/>
            <a:r>
              <a:rPr sz="1300" b="1" i="0">
                <a:solidFill>
                  <a:srgbClr val="1E262B"/>
                </a:solidFill>
              </a:rPr>
              <a:t>something understood</a:t>
            </a:r>
          </a:p>
        </p:txBody>
      </p:sp>
      <p:sp>
        <p:nvSpPr>
          <p:cNvPr id="40" name="Text"/>
          <p:cNvSpPr txBox="1"/>
          <p:nvPr/>
        </p:nvSpPr>
        <p:spPr>
          <a:xfrm>
            <a:off x="3566160" y="4297680"/>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41" name="Box"/>
          <p:cNvSpPr/>
          <p:nvPr/>
        </p:nvSpPr>
        <p:spPr>
          <a:xfrm>
            <a:off x="4114800" y="4297680"/>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4251960" y="4297680"/>
            <a:ext cx="3429000" cy="457200"/>
          </a:xfrm>
          <a:prstGeom prst="rect">
            <a:avLst/>
          </a:prstGeom>
          <a:noFill/>
        </p:spPr>
        <p:txBody>
          <a:bodyPr wrap="square" lIns="0" rIns="0" tIns="0" bIns="0" anchor="ctr">
            <a:spAutoFit/>
          </a:bodyPr>
          <a:lstStyle/>
          <a:p>
            <a:pPr algn="l"/>
            <a:r>
              <a:rPr sz="1350" b="1" i="0">
                <a:solidFill>
                  <a:srgbClr val="0B4A4A"/>
                </a:solidFill>
              </a:rPr>
              <a:t>Assess</a:t>
            </a:r>
            <a:r>
              <a:rPr sz="1050" b="0" i="0">
                <a:solidFill>
                  <a:srgbClr val="5E6A71"/>
                </a:solidFill>
              </a:rPr>
              <a:t>   one conclusion about a whole list</a:t>
            </a:r>
          </a:p>
        </p:txBody>
      </p:sp>
      <p:sp>
        <p:nvSpPr>
          <p:cNvPr id="43" name="Box"/>
          <p:cNvSpPr/>
          <p:nvPr/>
        </p:nvSpPr>
        <p:spPr>
          <a:xfrm>
            <a:off x="548640" y="4828032"/>
            <a:ext cx="3017520" cy="4572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p:cNvSpPr txBox="1"/>
          <p:nvPr/>
        </p:nvSpPr>
        <p:spPr>
          <a:xfrm>
            <a:off x="731520" y="4828032"/>
            <a:ext cx="2743200" cy="457200"/>
          </a:xfrm>
          <a:prstGeom prst="rect">
            <a:avLst/>
          </a:prstGeom>
          <a:noFill/>
        </p:spPr>
        <p:txBody>
          <a:bodyPr wrap="square" lIns="0" rIns="0" tIns="0" bIns="0" anchor="ctr">
            <a:spAutoFit/>
          </a:bodyPr>
          <a:lstStyle/>
          <a:p>
            <a:pPr algn="l"/>
            <a:r>
              <a:rPr sz="1300" b="1" i="0">
                <a:solidFill>
                  <a:srgbClr val="8A5A12"/>
                </a:solidFill>
              </a:rPr>
              <a:t>not in the format's list</a:t>
            </a:r>
          </a:p>
        </p:txBody>
      </p:sp>
      <p:sp>
        <p:nvSpPr>
          <p:cNvPr id="45" name="Text"/>
          <p:cNvSpPr txBox="1"/>
          <p:nvPr/>
        </p:nvSpPr>
        <p:spPr>
          <a:xfrm>
            <a:off x="3566160" y="4828032"/>
            <a:ext cx="548640" cy="457200"/>
          </a:xfrm>
          <a:prstGeom prst="rect">
            <a:avLst/>
          </a:prstGeom>
          <a:noFill/>
        </p:spPr>
        <p:txBody>
          <a:bodyPr wrap="square" lIns="0" rIns="0" tIns="0" bIns="0" anchor="ctr">
            <a:spAutoFit/>
          </a:bodyPr>
          <a:lstStyle/>
          <a:p>
            <a:pPr algn="ctr"/>
            <a:r>
              <a:rPr sz="1600" b="1" i="0">
                <a:solidFill>
                  <a:srgbClr val="0B6463"/>
                </a:solidFill>
              </a:rPr>
              <a:t>→</a:t>
            </a:r>
          </a:p>
        </p:txBody>
      </p:sp>
      <p:sp>
        <p:nvSpPr>
          <p:cNvPr id="46" name="Box"/>
          <p:cNvSpPr/>
          <p:nvPr/>
        </p:nvSpPr>
        <p:spPr>
          <a:xfrm>
            <a:off x="4114800" y="4828032"/>
            <a:ext cx="3657600"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p:cNvSpPr txBox="1"/>
          <p:nvPr/>
        </p:nvSpPr>
        <p:spPr>
          <a:xfrm>
            <a:off x="4251960" y="4828032"/>
            <a:ext cx="3429000" cy="457200"/>
          </a:xfrm>
          <a:prstGeom prst="rect">
            <a:avLst/>
          </a:prstGeom>
          <a:noFill/>
        </p:spPr>
        <p:txBody>
          <a:bodyPr wrap="square" lIns="0" rIns="0" tIns="0" bIns="0" anchor="ctr">
            <a:spAutoFit/>
          </a:bodyPr>
          <a:lstStyle/>
          <a:p>
            <a:pPr algn="l"/>
            <a:r>
              <a:rPr sz="1350" b="1" i="0">
                <a:solidFill>
                  <a:srgbClr val="0B4A4A"/>
                </a:solidFill>
              </a:rPr>
              <a:t>Carry through</a:t>
            </a:r>
            <a:r>
              <a:rPr sz="1050" b="0" i="0">
                <a:solidFill>
                  <a:srgbClr val="5E6A71"/>
                </a:solidFill>
              </a:rPr>
              <a:t>   every step of a case</a:t>
            </a:r>
          </a:p>
        </p:txBody>
      </p:sp>
      <p:sp>
        <p:nvSpPr>
          <p:cNvPr id="48" name="Finding"/>
          <p:cNvSpPr/>
          <p:nvPr/>
        </p:nvSpPr>
        <p:spPr>
          <a:xfrm>
            <a:off x="548640" y="5468112"/>
            <a:ext cx="11091672" cy="6858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
          <p:cNvSpPr txBox="1"/>
          <p:nvPr/>
        </p:nvSpPr>
        <p:spPr>
          <a:xfrm>
            <a:off x="822960" y="5468112"/>
            <a:ext cx="10543032" cy="685800"/>
          </a:xfrm>
          <a:prstGeom prst="rect">
            <a:avLst/>
          </a:prstGeom>
          <a:noFill/>
        </p:spPr>
        <p:txBody>
          <a:bodyPr wrap="square" lIns="0" rIns="0" tIns="0" bIns="0" anchor="ctr">
            <a:spAutoFit/>
          </a:bodyPr>
          <a:lstStyle/>
          <a:p>
            <a:pPr algn="l"/>
            <a:r>
              <a:rPr sz="1350" b="1" i="0">
                <a:solidFill>
                  <a:srgbClr val="1E262B"/>
                </a:solidFill>
              </a:rPr>
              <a:t>The endings are the format's; the ten types are this seat's reading of them.  </a:t>
            </a:r>
            <a:r>
              <a:rPr sz="1350" b="0" i="0">
                <a:solidFill>
                  <a:srgbClr val="1E262B"/>
                </a:solidFill>
              </a:rPr>
              <a:t>Each task's type is one reader's judgement, and the screens are untested.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ten types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TAXONOMY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4</a:t>
            </a:r>
          </a:p>
        </p:txBody>
      </p:sp>
      <p:sp>
        <p:nvSpPr>
          <p:cNvPr id="5" name="Text"/>
          <p:cNvSpPr txBox="1"/>
          <p:nvPr/>
        </p:nvSpPr>
        <p:spPr>
          <a:xfrm>
            <a:off x="548640" y="1371600"/>
            <a:ext cx="2011680" cy="201168"/>
          </a:xfrm>
          <a:prstGeom prst="rect">
            <a:avLst/>
          </a:prstGeom>
          <a:noFill/>
        </p:spPr>
        <p:txBody>
          <a:bodyPr wrap="square" lIns="0" rIns="0" tIns="0" bIns="0" anchor="t">
            <a:spAutoFit/>
          </a:bodyPr>
          <a:lstStyle/>
          <a:p>
            <a:pPr algn="l"/>
            <a:r>
              <a:rPr sz="1000" b="1" i="0">
                <a:solidFill>
                  <a:srgbClr val="5E6A71"/>
                </a:solidFill>
              </a:rPr>
              <a:t>THE TYPE</a:t>
            </a:r>
          </a:p>
        </p:txBody>
      </p:sp>
      <p:sp>
        <p:nvSpPr>
          <p:cNvPr id="6" name="Text"/>
          <p:cNvSpPr txBox="1"/>
          <p:nvPr/>
        </p:nvSpPr>
        <p:spPr>
          <a:xfrm>
            <a:off x="2606040" y="1371600"/>
            <a:ext cx="5029200" cy="201168"/>
          </a:xfrm>
          <a:prstGeom prst="rect">
            <a:avLst/>
          </a:prstGeom>
          <a:noFill/>
        </p:spPr>
        <p:txBody>
          <a:bodyPr wrap="square" lIns="0" rIns="0" tIns="0" bIns="0" anchor="t">
            <a:spAutoFit/>
          </a:bodyPr>
          <a:lstStyle/>
          <a:p>
            <a:pPr algn="l"/>
            <a:r>
              <a:rPr sz="1000" b="1" i="0">
                <a:solidFill>
                  <a:srgbClr val="5E6A71"/>
                </a:solidFill>
              </a:rPr>
              <a:t>SIGNATURE HAPPENINGS THAT IDENTIFY IT</a:t>
            </a:r>
          </a:p>
        </p:txBody>
      </p:sp>
      <p:sp>
        <p:nvSpPr>
          <p:cNvPr id="7" name="Text"/>
          <p:cNvSpPr txBox="1"/>
          <p:nvPr/>
        </p:nvSpPr>
        <p:spPr>
          <a:xfrm>
            <a:off x="7909560" y="1371600"/>
            <a:ext cx="3749039" cy="201168"/>
          </a:xfrm>
          <a:prstGeom prst="rect">
            <a:avLst/>
          </a:prstGeom>
          <a:noFill/>
        </p:spPr>
        <p:txBody>
          <a:bodyPr wrap="square" lIns="0" rIns="0" tIns="0" bIns="0" anchor="t">
            <a:spAutoFit/>
          </a:bodyPr>
          <a:lstStyle/>
          <a:p>
            <a:pPr algn="l"/>
            <a:r>
              <a:rPr sz="1000" b="1" i="0">
                <a:solidFill>
                  <a:srgbClr val="5E6A71"/>
                </a:solidFill>
              </a:rPr>
              <a:t>FOR EXAMPLE</a:t>
            </a:r>
          </a:p>
        </p:txBody>
      </p:sp>
      <p:cxnSp>
        <p:nvCxnSpPr>
          <p:cNvPr id="8" name="Connector 7"/>
          <p:cNvCxnSpPr/>
          <p:nvPr/>
        </p:nvCxnSpPr>
        <p:spPr>
          <a:xfrm>
            <a:off x="548640" y="162763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1627632"/>
            <a:ext cx="2011680" cy="429768"/>
          </a:xfrm>
          <a:prstGeom prst="rect">
            <a:avLst/>
          </a:prstGeom>
          <a:noFill/>
        </p:spPr>
        <p:txBody>
          <a:bodyPr wrap="square" lIns="0" rIns="0" tIns="0" bIns="0" anchor="ctr">
            <a:spAutoFit/>
          </a:bodyPr>
          <a:lstStyle/>
          <a:p>
            <a:pPr algn="l"/>
            <a:r>
              <a:rPr sz="1450" b="1" i="0">
                <a:solidFill>
                  <a:srgbClr val="0B6463"/>
                </a:solidFill>
              </a:rPr>
              <a:t>Decide</a:t>
            </a:r>
          </a:p>
        </p:txBody>
      </p:sp>
      <p:sp>
        <p:nvSpPr>
          <p:cNvPr id="10" name="Text"/>
          <p:cNvSpPr txBox="1"/>
          <p:nvPr/>
        </p:nvSpPr>
        <p:spPr>
          <a:xfrm>
            <a:off x="2606040" y="1627632"/>
            <a:ext cx="5166360" cy="429768"/>
          </a:xfrm>
          <a:prstGeom prst="rect">
            <a:avLst/>
          </a:prstGeom>
          <a:noFill/>
        </p:spPr>
        <p:txBody>
          <a:bodyPr wrap="square" lIns="0" rIns="0" tIns="0" bIns="0" anchor="ctr">
            <a:spAutoFit/>
          </a:bodyPr>
          <a:lstStyle/>
          <a:p>
            <a:pPr algn="l"/>
            <a:r>
              <a:rPr sz="1250" b="0" i="0">
                <a:solidFill>
                  <a:srgbClr val="1E262B"/>
                </a:solidFill>
              </a:rPr>
              <a:t>An outcome is chosen among finite options for something that arrived</a:t>
            </a:r>
          </a:p>
        </p:txBody>
      </p:sp>
      <p:sp>
        <p:nvSpPr>
          <p:cNvPr id="11" name="Text"/>
          <p:cNvSpPr txBox="1"/>
          <p:nvPr/>
        </p:nvSpPr>
        <p:spPr>
          <a:xfrm>
            <a:off x="7909560" y="1627632"/>
            <a:ext cx="3749039" cy="429768"/>
          </a:xfrm>
          <a:prstGeom prst="rect">
            <a:avLst/>
          </a:prstGeom>
          <a:noFill/>
        </p:spPr>
        <p:txBody>
          <a:bodyPr wrap="square" lIns="0" rIns="0" tIns="0" bIns="0" anchor="ctr">
            <a:spAutoFit/>
          </a:bodyPr>
          <a:lstStyle/>
          <a:p>
            <a:pPr algn="l"/>
            <a:r>
              <a:rPr sz="1150" b="0" i="0">
                <a:solidFill>
                  <a:srgbClr val="5E6A71"/>
                </a:solidFill>
              </a:rPr>
              <a:t>Decide an order sent for credit review</a:t>
            </a:r>
          </a:p>
        </p:txBody>
      </p:sp>
      <p:cxnSp>
        <p:nvCxnSpPr>
          <p:cNvPr id="12" name="Connector 11"/>
          <p:cNvCxnSpPr/>
          <p:nvPr/>
        </p:nvCxnSpPr>
        <p:spPr>
          <a:xfrm>
            <a:off x="548640" y="205740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3" name="Text"/>
          <p:cNvSpPr txBox="1"/>
          <p:nvPr/>
        </p:nvSpPr>
        <p:spPr>
          <a:xfrm>
            <a:off x="548640" y="2057400"/>
            <a:ext cx="2011680" cy="429768"/>
          </a:xfrm>
          <a:prstGeom prst="rect">
            <a:avLst/>
          </a:prstGeom>
          <a:noFill/>
        </p:spPr>
        <p:txBody>
          <a:bodyPr wrap="square" lIns="0" rIns="0" tIns="0" bIns="0" anchor="ctr">
            <a:spAutoFit/>
          </a:bodyPr>
          <a:lstStyle/>
          <a:p>
            <a:pPr algn="l"/>
            <a:r>
              <a:rPr sz="1450" b="1" i="0">
                <a:solidFill>
                  <a:srgbClr val="0B6463"/>
                </a:solidFill>
              </a:rPr>
              <a:t>Make</a:t>
            </a:r>
          </a:p>
        </p:txBody>
      </p:sp>
      <p:sp>
        <p:nvSpPr>
          <p:cNvPr id="14" name="Text"/>
          <p:cNvSpPr txBox="1"/>
          <p:nvPr/>
        </p:nvSpPr>
        <p:spPr>
          <a:xfrm>
            <a:off x="2606040" y="2057400"/>
            <a:ext cx="5166360" cy="429768"/>
          </a:xfrm>
          <a:prstGeom prst="rect">
            <a:avLst/>
          </a:prstGeom>
          <a:noFill/>
        </p:spPr>
        <p:txBody>
          <a:bodyPr wrap="square" lIns="0" rIns="0" tIns="0" bIns="0" anchor="ctr">
            <a:spAutoFit/>
          </a:bodyPr>
          <a:lstStyle/>
          <a:p>
            <a:pPr algn="l"/>
            <a:r>
              <a:rPr sz="1250" b="0" i="0">
                <a:solidFill>
                  <a:srgbClr val="1E262B"/>
                </a:solidFill>
              </a:rPr>
              <a:t>A thing is created or updated, and the role decided its content</a:t>
            </a:r>
          </a:p>
        </p:txBody>
      </p:sp>
      <p:sp>
        <p:nvSpPr>
          <p:cNvPr id="15" name="Text"/>
          <p:cNvSpPr txBox="1"/>
          <p:nvPr/>
        </p:nvSpPr>
        <p:spPr>
          <a:xfrm>
            <a:off x="7909560" y="2057400"/>
            <a:ext cx="3749039" cy="429768"/>
          </a:xfrm>
          <a:prstGeom prst="rect">
            <a:avLst/>
          </a:prstGeom>
          <a:noFill/>
        </p:spPr>
        <p:txBody>
          <a:bodyPr wrap="square" lIns="0" rIns="0" tIns="0" bIns="0" anchor="ctr">
            <a:spAutoFit/>
          </a:bodyPr>
          <a:lstStyle/>
          <a:p>
            <a:pPr algn="l"/>
            <a:r>
              <a:rPr sz="1150" b="0" i="0">
                <a:solidFill>
                  <a:srgbClr val="5E6A71"/>
                </a:solidFill>
              </a:rPr>
              <a:t>Raise a PO</a:t>
            </a:r>
          </a:p>
        </p:txBody>
      </p:sp>
      <p:cxnSp>
        <p:nvCxnSpPr>
          <p:cNvPr id="16" name="Connector 15"/>
          <p:cNvCxnSpPr/>
          <p:nvPr/>
        </p:nvCxnSpPr>
        <p:spPr>
          <a:xfrm>
            <a:off x="548640" y="248716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7" name="Text"/>
          <p:cNvSpPr txBox="1"/>
          <p:nvPr/>
        </p:nvSpPr>
        <p:spPr>
          <a:xfrm>
            <a:off x="548640" y="2487168"/>
            <a:ext cx="2011680" cy="429768"/>
          </a:xfrm>
          <a:prstGeom prst="rect">
            <a:avLst/>
          </a:prstGeom>
          <a:noFill/>
        </p:spPr>
        <p:txBody>
          <a:bodyPr wrap="square" lIns="0" rIns="0" tIns="0" bIns="0" anchor="ctr">
            <a:spAutoFit/>
          </a:bodyPr>
          <a:lstStyle/>
          <a:p>
            <a:pPr algn="l"/>
            <a:r>
              <a:rPr sz="1450" b="1" i="0">
                <a:solidFill>
                  <a:srgbClr val="0B6463"/>
                </a:solidFill>
              </a:rPr>
              <a:t>Record</a:t>
            </a:r>
          </a:p>
        </p:txBody>
      </p:sp>
      <p:sp>
        <p:nvSpPr>
          <p:cNvPr id="18" name="Text"/>
          <p:cNvSpPr txBox="1"/>
          <p:nvPr/>
        </p:nvSpPr>
        <p:spPr>
          <a:xfrm>
            <a:off x="2606040" y="2487168"/>
            <a:ext cx="5166360" cy="429768"/>
          </a:xfrm>
          <a:prstGeom prst="rect">
            <a:avLst/>
          </a:prstGeom>
          <a:noFill/>
        </p:spPr>
        <p:txBody>
          <a:bodyPr wrap="square" lIns="0" rIns="0" tIns="0" bIns="0" anchor="ctr">
            <a:spAutoFit/>
          </a:bodyPr>
          <a:lstStyle/>
          <a:p>
            <a:pPr algn="l"/>
            <a:r>
              <a:rPr sz="1250" b="0" i="0">
                <a:solidFill>
                  <a:srgbClr val="1E262B"/>
                </a:solidFill>
              </a:rPr>
              <a:t>What happened recorded, as it happened - i.e without change</a:t>
            </a:r>
          </a:p>
        </p:txBody>
      </p:sp>
      <p:sp>
        <p:nvSpPr>
          <p:cNvPr id="19" name="Text"/>
          <p:cNvSpPr txBox="1"/>
          <p:nvPr/>
        </p:nvSpPr>
        <p:spPr>
          <a:xfrm>
            <a:off x="7909560" y="2487168"/>
            <a:ext cx="3749039" cy="429768"/>
          </a:xfrm>
          <a:prstGeom prst="rect">
            <a:avLst/>
          </a:prstGeom>
          <a:noFill/>
        </p:spPr>
        <p:txBody>
          <a:bodyPr wrap="square" lIns="0" rIns="0" tIns="0" bIns="0" anchor="ctr">
            <a:spAutoFit/>
          </a:bodyPr>
          <a:lstStyle/>
          <a:p>
            <a:pPr algn="l"/>
            <a:r>
              <a:rPr sz="1150" b="0" i="0">
                <a:solidFill>
                  <a:srgbClr val="5E6A71"/>
                </a:solidFill>
              </a:rPr>
              <a:t>Record a delivery</a:t>
            </a:r>
          </a:p>
        </p:txBody>
      </p:sp>
      <p:cxnSp>
        <p:nvCxnSpPr>
          <p:cNvPr id="20" name="Connector 19"/>
          <p:cNvCxnSpPr/>
          <p:nvPr/>
        </p:nvCxnSpPr>
        <p:spPr>
          <a:xfrm>
            <a:off x="548640" y="291693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1" name="Text"/>
          <p:cNvSpPr txBox="1"/>
          <p:nvPr/>
        </p:nvSpPr>
        <p:spPr>
          <a:xfrm>
            <a:off x="548640" y="2916936"/>
            <a:ext cx="2011680" cy="429768"/>
          </a:xfrm>
          <a:prstGeom prst="rect">
            <a:avLst/>
          </a:prstGeom>
          <a:noFill/>
        </p:spPr>
        <p:txBody>
          <a:bodyPr wrap="square" lIns="0" rIns="0" tIns="0" bIns="0" anchor="ctr">
            <a:spAutoFit/>
          </a:bodyPr>
          <a:lstStyle/>
          <a:p>
            <a:pPr algn="l"/>
            <a:r>
              <a:rPr sz="1450" b="1" i="0">
                <a:solidFill>
                  <a:srgbClr val="0B6463"/>
                </a:solidFill>
              </a:rPr>
              <a:t>Ask</a:t>
            </a:r>
          </a:p>
        </p:txBody>
      </p:sp>
      <p:sp>
        <p:nvSpPr>
          <p:cNvPr id="22" name="Text"/>
          <p:cNvSpPr txBox="1"/>
          <p:nvPr/>
        </p:nvSpPr>
        <p:spPr>
          <a:xfrm>
            <a:off x="2606040" y="2916936"/>
            <a:ext cx="5166360" cy="429768"/>
          </a:xfrm>
          <a:prstGeom prst="rect">
            <a:avLst/>
          </a:prstGeom>
          <a:noFill/>
        </p:spPr>
        <p:txBody>
          <a:bodyPr wrap="square" lIns="0" rIns="0" tIns="0" bIns="0" anchor="ctr">
            <a:spAutoFit/>
          </a:bodyPr>
          <a:lstStyle/>
          <a:p>
            <a:pPr algn="l"/>
            <a:r>
              <a:rPr sz="1250" b="0" i="0">
                <a:solidFill>
                  <a:srgbClr val="1E262B"/>
                </a:solidFill>
              </a:rPr>
              <a:t>A request is sent to someone who has the ability to act on it</a:t>
            </a:r>
          </a:p>
        </p:txBody>
      </p:sp>
      <p:sp>
        <p:nvSpPr>
          <p:cNvPr id="23" name="Text"/>
          <p:cNvSpPr txBox="1"/>
          <p:nvPr/>
        </p:nvSpPr>
        <p:spPr>
          <a:xfrm>
            <a:off x="7909560" y="2916936"/>
            <a:ext cx="3749039" cy="429768"/>
          </a:xfrm>
          <a:prstGeom prst="rect">
            <a:avLst/>
          </a:prstGeom>
          <a:noFill/>
        </p:spPr>
        <p:txBody>
          <a:bodyPr wrap="square" lIns="0" rIns="0" tIns="0" bIns="0" anchor="ctr">
            <a:spAutoFit/>
          </a:bodyPr>
          <a:lstStyle/>
          <a:p>
            <a:pPr algn="l"/>
            <a:r>
              <a:rPr sz="1150" b="0" i="0">
                <a:solidFill>
                  <a:srgbClr val="5E6A71"/>
                </a:solidFill>
              </a:rPr>
              <a:t>Request a credit-hold release</a:t>
            </a:r>
          </a:p>
        </p:txBody>
      </p:sp>
      <p:cxnSp>
        <p:nvCxnSpPr>
          <p:cNvPr id="24" name="Connector 23"/>
          <p:cNvCxnSpPr/>
          <p:nvPr/>
        </p:nvCxnSpPr>
        <p:spPr>
          <a:xfrm>
            <a:off x="548640" y="334670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3346704"/>
            <a:ext cx="2011680" cy="429768"/>
          </a:xfrm>
          <a:prstGeom prst="rect">
            <a:avLst/>
          </a:prstGeom>
          <a:noFill/>
        </p:spPr>
        <p:txBody>
          <a:bodyPr wrap="square" lIns="0" rIns="0" tIns="0" bIns="0" anchor="ctr">
            <a:spAutoFit/>
          </a:bodyPr>
          <a:lstStyle/>
          <a:p>
            <a:pPr algn="l"/>
            <a:r>
              <a:rPr sz="1450" b="1" i="0">
                <a:solidFill>
                  <a:srgbClr val="0B6463"/>
                </a:solidFill>
              </a:rPr>
              <a:t>Chase</a:t>
            </a:r>
          </a:p>
        </p:txBody>
      </p:sp>
      <p:sp>
        <p:nvSpPr>
          <p:cNvPr id="26" name="Text"/>
          <p:cNvSpPr txBox="1"/>
          <p:nvPr/>
        </p:nvSpPr>
        <p:spPr>
          <a:xfrm>
            <a:off x="2606040" y="3346704"/>
            <a:ext cx="5166360" cy="429768"/>
          </a:xfrm>
          <a:prstGeom prst="rect">
            <a:avLst/>
          </a:prstGeom>
          <a:noFill/>
        </p:spPr>
        <p:txBody>
          <a:bodyPr wrap="square" lIns="0" rIns="0" tIns="0" bIns="0" anchor="ctr">
            <a:spAutoFit/>
          </a:bodyPr>
          <a:lstStyle/>
          <a:p>
            <a:pPr algn="l"/>
            <a:r>
              <a:rPr sz="1250" b="0" i="0">
                <a:solidFill>
                  <a:srgbClr val="1E262B"/>
                </a:solidFill>
              </a:rPr>
              <a:t>Reminding whoever is sitting on a request/decision for too long</a:t>
            </a:r>
          </a:p>
        </p:txBody>
      </p:sp>
      <p:sp>
        <p:nvSpPr>
          <p:cNvPr id="27" name="Text"/>
          <p:cNvSpPr txBox="1"/>
          <p:nvPr/>
        </p:nvSpPr>
        <p:spPr>
          <a:xfrm>
            <a:off x="7909560" y="3346704"/>
            <a:ext cx="3749039" cy="429768"/>
          </a:xfrm>
          <a:prstGeom prst="rect">
            <a:avLst/>
          </a:prstGeom>
          <a:noFill/>
        </p:spPr>
        <p:txBody>
          <a:bodyPr wrap="square" lIns="0" rIns="0" tIns="0" bIns="0" anchor="ctr">
            <a:spAutoFit/>
          </a:bodyPr>
          <a:lstStyle/>
          <a:p>
            <a:pPr algn="l"/>
            <a:r>
              <a:rPr sz="1150" b="0" i="0">
                <a:solidFill>
                  <a:srgbClr val="5E6A71"/>
                </a:solidFill>
              </a:rPr>
              <a:t>Remind an approver who has not decided</a:t>
            </a:r>
          </a:p>
        </p:txBody>
      </p:sp>
      <p:cxnSp>
        <p:nvCxnSpPr>
          <p:cNvPr id="28" name="Connector 27"/>
          <p:cNvCxnSpPr/>
          <p:nvPr/>
        </p:nvCxnSpPr>
        <p:spPr>
          <a:xfrm>
            <a:off x="548640" y="377647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548640" y="3776472"/>
            <a:ext cx="2011680" cy="429768"/>
          </a:xfrm>
          <a:prstGeom prst="rect">
            <a:avLst/>
          </a:prstGeom>
          <a:noFill/>
        </p:spPr>
        <p:txBody>
          <a:bodyPr wrap="square" lIns="0" rIns="0" tIns="0" bIns="0" anchor="ctr">
            <a:spAutoFit/>
          </a:bodyPr>
          <a:lstStyle/>
          <a:p>
            <a:pPr algn="l"/>
            <a:r>
              <a:rPr sz="1450" b="1" i="0">
                <a:solidFill>
                  <a:srgbClr val="0B6463"/>
                </a:solidFill>
              </a:rPr>
              <a:t>Answer</a:t>
            </a:r>
          </a:p>
        </p:txBody>
      </p:sp>
      <p:sp>
        <p:nvSpPr>
          <p:cNvPr id="30" name="Text"/>
          <p:cNvSpPr txBox="1"/>
          <p:nvPr/>
        </p:nvSpPr>
        <p:spPr>
          <a:xfrm>
            <a:off x="2606040" y="3776472"/>
            <a:ext cx="5166360" cy="429768"/>
          </a:xfrm>
          <a:prstGeom prst="rect">
            <a:avLst/>
          </a:prstGeom>
          <a:noFill/>
        </p:spPr>
        <p:txBody>
          <a:bodyPr wrap="square" lIns="0" rIns="0" tIns="0" bIns="0" anchor="ctr">
            <a:spAutoFit/>
          </a:bodyPr>
          <a:lstStyle/>
          <a:p>
            <a:pPr algn="l"/>
            <a:r>
              <a:rPr sz="1250" b="0" i="0">
                <a:solidFill>
                  <a:srgbClr val="1E262B"/>
                </a:solidFill>
              </a:rPr>
              <a:t>Answer a Question/Query someone asked</a:t>
            </a:r>
          </a:p>
        </p:txBody>
      </p:sp>
      <p:sp>
        <p:nvSpPr>
          <p:cNvPr id="31" name="Text"/>
          <p:cNvSpPr txBox="1"/>
          <p:nvPr/>
        </p:nvSpPr>
        <p:spPr>
          <a:xfrm>
            <a:off x="7909560" y="3776472"/>
            <a:ext cx="3749039" cy="429768"/>
          </a:xfrm>
          <a:prstGeom prst="rect">
            <a:avLst/>
          </a:prstGeom>
          <a:noFill/>
        </p:spPr>
        <p:txBody>
          <a:bodyPr wrap="square" lIns="0" rIns="0" tIns="0" bIns="0" anchor="ctr">
            <a:spAutoFit/>
          </a:bodyPr>
          <a:lstStyle/>
          <a:p>
            <a:pPr algn="l"/>
            <a:r>
              <a:rPr sz="1150" b="0" i="0">
                <a:solidFill>
                  <a:srgbClr val="5E6A71"/>
                </a:solidFill>
              </a:rPr>
              <a:t>Answer where inbound goods are</a:t>
            </a:r>
          </a:p>
        </p:txBody>
      </p:sp>
      <p:cxnSp>
        <p:nvCxnSpPr>
          <p:cNvPr id="32" name="Connector 31"/>
          <p:cNvCxnSpPr/>
          <p:nvPr/>
        </p:nvCxnSpPr>
        <p:spPr>
          <a:xfrm>
            <a:off x="548640" y="420624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3" name="Text"/>
          <p:cNvSpPr txBox="1"/>
          <p:nvPr/>
        </p:nvSpPr>
        <p:spPr>
          <a:xfrm>
            <a:off x="548640" y="4206240"/>
            <a:ext cx="2011680" cy="429768"/>
          </a:xfrm>
          <a:prstGeom prst="rect">
            <a:avLst/>
          </a:prstGeom>
          <a:noFill/>
        </p:spPr>
        <p:txBody>
          <a:bodyPr wrap="square" lIns="0" rIns="0" tIns="0" bIns="0" anchor="ctr">
            <a:spAutoFit/>
          </a:bodyPr>
          <a:lstStyle/>
          <a:p>
            <a:pPr algn="l"/>
            <a:r>
              <a:rPr sz="1450" b="1" i="0">
                <a:solidFill>
                  <a:srgbClr val="0B6463"/>
                </a:solidFill>
              </a:rPr>
              <a:t>Assess</a:t>
            </a:r>
          </a:p>
        </p:txBody>
      </p:sp>
      <p:sp>
        <p:nvSpPr>
          <p:cNvPr id="34" name="Text"/>
          <p:cNvSpPr txBox="1"/>
          <p:nvPr/>
        </p:nvSpPr>
        <p:spPr>
          <a:xfrm>
            <a:off x="2606040" y="4206240"/>
            <a:ext cx="5166360" cy="429768"/>
          </a:xfrm>
          <a:prstGeom prst="rect">
            <a:avLst/>
          </a:prstGeom>
          <a:noFill/>
        </p:spPr>
        <p:txBody>
          <a:bodyPr wrap="square" lIns="0" rIns="0" tIns="0" bIns="0" anchor="ctr">
            <a:spAutoFit/>
          </a:bodyPr>
          <a:lstStyle/>
          <a:p>
            <a:pPr algn="l"/>
            <a:r>
              <a:rPr sz="1250" b="0" i="0">
                <a:solidFill>
                  <a:srgbClr val="1E262B"/>
                </a:solidFill>
              </a:rPr>
              <a:t>Looking across a whole list to draw one conclusion about it</a:t>
            </a:r>
          </a:p>
        </p:txBody>
      </p:sp>
      <p:sp>
        <p:nvSpPr>
          <p:cNvPr id="35" name="Text"/>
          <p:cNvSpPr txBox="1"/>
          <p:nvPr/>
        </p:nvSpPr>
        <p:spPr>
          <a:xfrm>
            <a:off x="7909560" y="4206240"/>
            <a:ext cx="3749039" cy="429768"/>
          </a:xfrm>
          <a:prstGeom prst="rect">
            <a:avLst/>
          </a:prstGeom>
          <a:noFill/>
        </p:spPr>
        <p:txBody>
          <a:bodyPr wrap="square" lIns="0" rIns="0" tIns="0" bIns="0" anchor="ctr">
            <a:spAutoFit/>
          </a:bodyPr>
          <a:lstStyle/>
          <a:p>
            <a:pPr algn="l"/>
            <a:r>
              <a:rPr sz="1150" b="0" i="0">
                <a:solidFill>
                  <a:srgbClr val="5E6A71"/>
                </a:solidFill>
              </a:rPr>
              <a:t>Find where differences concentrate</a:t>
            </a:r>
          </a:p>
        </p:txBody>
      </p:sp>
      <p:cxnSp>
        <p:nvCxnSpPr>
          <p:cNvPr id="36" name="Connector 35"/>
          <p:cNvCxnSpPr/>
          <p:nvPr/>
        </p:nvCxnSpPr>
        <p:spPr>
          <a:xfrm>
            <a:off x="548640" y="463600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7" name="Text"/>
          <p:cNvSpPr txBox="1"/>
          <p:nvPr/>
        </p:nvSpPr>
        <p:spPr>
          <a:xfrm>
            <a:off x="548640" y="4636008"/>
            <a:ext cx="2011680" cy="429768"/>
          </a:xfrm>
          <a:prstGeom prst="rect">
            <a:avLst/>
          </a:prstGeom>
          <a:noFill/>
        </p:spPr>
        <p:txBody>
          <a:bodyPr wrap="square" lIns="0" rIns="0" tIns="0" bIns="0" anchor="ctr">
            <a:spAutoFit/>
          </a:bodyPr>
          <a:lstStyle/>
          <a:p>
            <a:pPr algn="l"/>
            <a:r>
              <a:rPr sz="1450" b="1" i="0">
                <a:solidFill>
                  <a:srgbClr val="0B6463"/>
                </a:solidFill>
              </a:rPr>
              <a:t>Report</a:t>
            </a:r>
          </a:p>
        </p:txBody>
      </p:sp>
      <p:sp>
        <p:nvSpPr>
          <p:cNvPr id="38" name="Text"/>
          <p:cNvSpPr txBox="1"/>
          <p:nvPr/>
        </p:nvSpPr>
        <p:spPr>
          <a:xfrm>
            <a:off x="2606040" y="4636008"/>
            <a:ext cx="5166360" cy="429768"/>
          </a:xfrm>
          <a:prstGeom prst="rect">
            <a:avLst/>
          </a:prstGeom>
          <a:noFill/>
        </p:spPr>
        <p:txBody>
          <a:bodyPr wrap="square" lIns="0" rIns="0" tIns="0" bIns="0" anchor="ctr">
            <a:spAutoFit/>
          </a:bodyPr>
          <a:lstStyle/>
          <a:p>
            <a:pPr algn="l"/>
            <a:r>
              <a:rPr sz="1250" b="0" i="0">
                <a:solidFill>
                  <a:srgbClr val="1E262B"/>
                </a:solidFill>
              </a:rPr>
              <a:t>A summary or explanation is prepared and sent to its reader</a:t>
            </a:r>
          </a:p>
        </p:txBody>
      </p:sp>
      <p:sp>
        <p:nvSpPr>
          <p:cNvPr id="39" name="Text"/>
          <p:cNvSpPr txBox="1"/>
          <p:nvPr/>
        </p:nvSpPr>
        <p:spPr>
          <a:xfrm>
            <a:off x="7909560" y="4636008"/>
            <a:ext cx="3749039" cy="429768"/>
          </a:xfrm>
          <a:prstGeom prst="rect">
            <a:avLst/>
          </a:prstGeom>
          <a:noFill/>
        </p:spPr>
        <p:txBody>
          <a:bodyPr wrap="square" lIns="0" rIns="0" tIns="0" bIns="0" anchor="ctr">
            <a:spAutoFit/>
          </a:bodyPr>
          <a:lstStyle/>
          <a:p>
            <a:pPr algn="l"/>
            <a:r>
              <a:rPr sz="1150" b="0" i="0">
                <a:solidFill>
                  <a:srgbClr val="5E6A71"/>
                </a:solidFill>
              </a:rPr>
              <a:t>Explain DPO</a:t>
            </a:r>
          </a:p>
        </p:txBody>
      </p:sp>
      <p:cxnSp>
        <p:nvCxnSpPr>
          <p:cNvPr id="40" name="Connector 39"/>
          <p:cNvCxnSpPr/>
          <p:nvPr/>
        </p:nvCxnSpPr>
        <p:spPr>
          <a:xfrm>
            <a:off x="548640" y="506577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1" name="Text"/>
          <p:cNvSpPr txBox="1"/>
          <p:nvPr/>
        </p:nvSpPr>
        <p:spPr>
          <a:xfrm>
            <a:off x="548640" y="5065776"/>
            <a:ext cx="2011680" cy="429768"/>
          </a:xfrm>
          <a:prstGeom prst="rect">
            <a:avLst/>
          </a:prstGeom>
          <a:noFill/>
        </p:spPr>
        <p:txBody>
          <a:bodyPr wrap="square" lIns="0" rIns="0" tIns="0" bIns="0" anchor="ctr">
            <a:spAutoFit/>
          </a:bodyPr>
          <a:lstStyle/>
          <a:p>
            <a:pPr algn="l"/>
            <a:r>
              <a:rPr sz="1450" b="1" i="0">
                <a:solidFill>
                  <a:srgbClr val="0B6463"/>
                </a:solidFill>
              </a:rPr>
              <a:t>Carry through</a:t>
            </a:r>
          </a:p>
        </p:txBody>
      </p:sp>
      <p:sp>
        <p:nvSpPr>
          <p:cNvPr id="42" name="Text"/>
          <p:cNvSpPr txBox="1"/>
          <p:nvPr/>
        </p:nvSpPr>
        <p:spPr>
          <a:xfrm>
            <a:off x="2606040" y="5065776"/>
            <a:ext cx="5166360" cy="429768"/>
          </a:xfrm>
          <a:prstGeom prst="rect">
            <a:avLst/>
          </a:prstGeom>
          <a:noFill/>
        </p:spPr>
        <p:txBody>
          <a:bodyPr wrap="square" lIns="0" rIns="0" tIns="0" bIns="0" anchor="ctr">
            <a:spAutoFit/>
          </a:bodyPr>
          <a:lstStyle/>
          <a:p>
            <a:pPr algn="l"/>
            <a:r>
              <a:rPr sz="1250" b="0" i="0">
                <a:solidFill>
                  <a:srgbClr val="1E262B"/>
                </a:solidFill>
              </a:rPr>
              <a:t>Seeing a case through all its steps, across several people</a:t>
            </a:r>
          </a:p>
        </p:txBody>
      </p:sp>
      <p:sp>
        <p:nvSpPr>
          <p:cNvPr id="43" name="Text"/>
          <p:cNvSpPr txBox="1"/>
          <p:nvPr/>
        </p:nvSpPr>
        <p:spPr>
          <a:xfrm>
            <a:off x="7909560" y="5065776"/>
            <a:ext cx="3749039" cy="429768"/>
          </a:xfrm>
          <a:prstGeom prst="rect">
            <a:avLst/>
          </a:prstGeom>
          <a:noFill/>
        </p:spPr>
        <p:txBody>
          <a:bodyPr wrap="square" lIns="0" rIns="0" tIns="0" bIns="0" anchor="ctr">
            <a:spAutoFit/>
          </a:bodyPr>
          <a:lstStyle/>
          <a:p>
            <a:pPr algn="l"/>
            <a:r>
              <a:rPr sz="1150" b="0" i="0">
                <a:solidFill>
                  <a:srgbClr val="5E6A71"/>
                </a:solidFill>
              </a:rPr>
              <a:t>Run an exit</a:t>
            </a:r>
          </a:p>
        </p:txBody>
      </p:sp>
      <p:cxnSp>
        <p:nvCxnSpPr>
          <p:cNvPr id="44" name="Connector 43"/>
          <p:cNvCxnSpPr/>
          <p:nvPr/>
        </p:nvCxnSpPr>
        <p:spPr>
          <a:xfrm>
            <a:off x="548640" y="549554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5" name="Text"/>
          <p:cNvSpPr txBox="1"/>
          <p:nvPr/>
        </p:nvSpPr>
        <p:spPr>
          <a:xfrm>
            <a:off x="548640" y="5495544"/>
            <a:ext cx="2011680" cy="429768"/>
          </a:xfrm>
          <a:prstGeom prst="rect">
            <a:avLst/>
          </a:prstGeom>
          <a:noFill/>
        </p:spPr>
        <p:txBody>
          <a:bodyPr wrap="square" lIns="0" rIns="0" tIns="0" bIns="0" anchor="ctr">
            <a:spAutoFit/>
          </a:bodyPr>
          <a:lstStyle/>
          <a:p>
            <a:pPr algn="l"/>
            <a:r>
              <a:rPr sz="1450" b="1" i="0">
                <a:solidFill>
                  <a:srgbClr val="0B6463"/>
                </a:solidFill>
              </a:rPr>
              <a:t>Run a batch</a:t>
            </a:r>
          </a:p>
        </p:txBody>
      </p:sp>
      <p:sp>
        <p:nvSpPr>
          <p:cNvPr id="46" name="Text"/>
          <p:cNvSpPr txBox="1"/>
          <p:nvPr/>
        </p:nvSpPr>
        <p:spPr>
          <a:xfrm>
            <a:off x="2606040" y="5495544"/>
            <a:ext cx="5166360" cy="429768"/>
          </a:xfrm>
          <a:prstGeom prst="rect">
            <a:avLst/>
          </a:prstGeom>
          <a:noFill/>
        </p:spPr>
        <p:txBody>
          <a:bodyPr wrap="square" lIns="0" rIns="0" tIns="0" bIns="0" anchor="ctr">
            <a:spAutoFit/>
          </a:bodyPr>
          <a:lstStyle/>
          <a:p>
            <a:pPr algn="l"/>
            <a:r>
              <a:rPr sz="1250" b="0" i="0">
                <a:solidFill>
                  <a:srgbClr val="1E262B"/>
                </a:solidFill>
              </a:rPr>
              <a:t>One system run, started by the role, acts on a whole set</a:t>
            </a:r>
          </a:p>
        </p:txBody>
      </p:sp>
      <p:sp>
        <p:nvSpPr>
          <p:cNvPr id="47" name="Text"/>
          <p:cNvSpPr txBox="1"/>
          <p:nvPr/>
        </p:nvSpPr>
        <p:spPr>
          <a:xfrm>
            <a:off x="7909560" y="5495544"/>
            <a:ext cx="3749039" cy="429768"/>
          </a:xfrm>
          <a:prstGeom prst="rect">
            <a:avLst/>
          </a:prstGeom>
          <a:noFill/>
        </p:spPr>
        <p:txBody>
          <a:bodyPr wrap="square" lIns="0" rIns="0" tIns="0" bIns="0" anchor="ctr">
            <a:spAutoFit/>
          </a:bodyPr>
          <a:lstStyle/>
          <a:p>
            <a:pPr algn="l"/>
            <a:r>
              <a:rPr sz="1150" b="0" i="0">
                <a:solidFill>
                  <a:srgbClr val="5E6A71"/>
                </a:solidFill>
              </a:rPr>
              <a:t>Calculate the payroll</a:t>
            </a:r>
          </a:p>
        </p:txBody>
      </p:sp>
      <p:cxnSp>
        <p:nvCxnSpPr>
          <p:cNvPr id="48" name="Connector 47"/>
          <p:cNvCxnSpPr/>
          <p:nvPr/>
        </p:nvCxnSpPr>
        <p:spPr>
          <a:xfrm>
            <a:off x="548640" y="592531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Telling near neighbours apart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TAXONOMY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5</a:t>
            </a:r>
          </a:p>
        </p:txBody>
      </p:sp>
      <p:sp>
        <p:nvSpPr>
          <p:cNvPr id="5" name="Box"/>
          <p:cNvSpPr/>
          <p:nvPr/>
        </p:nvSpPr>
        <p:spPr>
          <a:xfrm>
            <a:off x="548640" y="1463040"/>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ip"/>
          <p:cNvSpPr/>
          <p:nvPr/>
        </p:nvSpPr>
        <p:spPr>
          <a:xfrm>
            <a:off x="749808" y="1618488"/>
            <a:ext cx="768096"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ip"/>
          <p:cNvSpPr txBox="1"/>
          <p:nvPr/>
        </p:nvSpPr>
        <p:spPr>
          <a:xfrm>
            <a:off x="749808" y="1618488"/>
            <a:ext cx="768096" cy="274320"/>
          </a:xfrm>
          <a:prstGeom prst="rect">
            <a:avLst/>
          </a:prstGeom>
          <a:noFill/>
        </p:spPr>
        <p:txBody>
          <a:bodyPr wrap="square" lIns="0" rIns="0" tIns="0" bIns="0" anchor="ctr">
            <a:spAutoFit/>
          </a:bodyPr>
          <a:lstStyle/>
          <a:p>
            <a:pPr algn="ctr"/>
            <a:r>
              <a:rPr sz="1100" b="1" i="0">
                <a:solidFill>
                  <a:srgbClr val="FFFFFF"/>
                </a:solidFill>
              </a:rPr>
              <a:t>Make</a:t>
            </a:r>
          </a:p>
        </p:txBody>
      </p:sp>
      <p:sp>
        <p:nvSpPr>
          <p:cNvPr id="8" name="Text"/>
          <p:cNvSpPr txBox="1"/>
          <p:nvPr/>
        </p:nvSpPr>
        <p:spPr>
          <a:xfrm>
            <a:off x="1545336" y="1618488"/>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9" name="Chip"/>
          <p:cNvSpPr/>
          <p:nvPr/>
        </p:nvSpPr>
        <p:spPr>
          <a:xfrm>
            <a:off x="1865376" y="1618488"/>
            <a:ext cx="923544"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p:cNvSpPr txBox="1"/>
          <p:nvPr/>
        </p:nvSpPr>
        <p:spPr>
          <a:xfrm>
            <a:off x="1865376" y="1618488"/>
            <a:ext cx="923544" cy="274320"/>
          </a:xfrm>
          <a:prstGeom prst="rect">
            <a:avLst/>
          </a:prstGeom>
          <a:noFill/>
        </p:spPr>
        <p:txBody>
          <a:bodyPr wrap="square" lIns="0" rIns="0" tIns="0" bIns="0" anchor="ctr">
            <a:spAutoFit/>
          </a:bodyPr>
          <a:lstStyle/>
          <a:p>
            <a:pPr algn="ctr"/>
            <a:r>
              <a:rPr sz="1100" b="1" i="0">
                <a:solidFill>
                  <a:srgbClr val="FFFFFF"/>
                </a:solidFill>
              </a:rPr>
              <a:t>Record</a:t>
            </a:r>
          </a:p>
        </p:txBody>
      </p:sp>
      <p:sp>
        <p:nvSpPr>
          <p:cNvPr id="11" name="Text"/>
          <p:cNvSpPr txBox="1"/>
          <p:nvPr/>
        </p:nvSpPr>
        <p:spPr>
          <a:xfrm>
            <a:off x="749808" y="1993392"/>
            <a:ext cx="5029200" cy="365760"/>
          </a:xfrm>
          <a:prstGeom prst="rect">
            <a:avLst/>
          </a:prstGeom>
          <a:noFill/>
        </p:spPr>
        <p:txBody>
          <a:bodyPr wrap="square" lIns="0" rIns="0" tIns="0" bIns="0" anchor="t">
            <a:spAutoFit/>
          </a:bodyPr>
          <a:lstStyle/>
          <a:p>
            <a:pPr algn="l"/>
            <a:r>
              <a:rPr sz="1500" b="1" i="0">
                <a:solidFill>
                  <a:srgbClr val="0B4A4A"/>
                </a:solidFill>
              </a:rPr>
              <a:t>Who decides what is entered?</a:t>
            </a:r>
          </a:p>
        </p:txBody>
      </p:sp>
      <p:sp>
        <p:nvSpPr>
          <p:cNvPr id="12" name="Box"/>
          <p:cNvSpPr/>
          <p:nvPr/>
        </p:nvSpPr>
        <p:spPr>
          <a:xfrm>
            <a:off x="6190488" y="1463040"/>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hip"/>
          <p:cNvSpPr/>
          <p:nvPr/>
        </p:nvSpPr>
        <p:spPr>
          <a:xfrm>
            <a:off x="6391655" y="1618488"/>
            <a:ext cx="768096"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hip"/>
          <p:cNvSpPr txBox="1"/>
          <p:nvPr/>
        </p:nvSpPr>
        <p:spPr>
          <a:xfrm>
            <a:off x="6391655" y="1618488"/>
            <a:ext cx="768096" cy="274320"/>
          </a:xfrm>
          <a:prstGeom prst="rect">
            <a:avLst/>
          </a:prstGeom>
          <a:noFill/>
        </p:spPr>
        <p:txBody>
          <a:bodyPr wrap="square" lIns="0" rIns="0" tIns="0" bIns="0" anchor="ctr">
            <a:spAutoFit/>
          </a:bodyPr>
          <a:lstStyle/>
          <a:p>
            <a:pPr algn="ctr"/>
            <a:r>
              <a:rPr sz="1100" b="1" i="0">
                <a:solidFill>
                  <a:srgbClr val="FFFFFF"/>
                </a:solidFill>
              </a:rPr>
              <a:t>Make</a:t>
            </a:r>
          </a:p>
        </p:txBody>
      </p:sp>
      <p:sp>
        <p:nvSpPr>
          <p:cNvPr id="15" name="Text"/>
          <p:cNvSpPr txBox="1"/>
          <p:nvPr/>
        </p:nvSpPr>
        <p:spPr>
          <a:xfrm>
            <a:off x="7187183" y="1618488"/>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16" name="Chip"/>
          <p:cNvSpPr/>
          <p:nvPr/>
        </p:nvSpPr>
        <p:spPr>
          <a:xfrm>
            <a:off x="7507223" y="1618488"/>
            <a:ext cx="690372"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ip"/>
          <p:cNvSpPr txBox="1"/>
          <p:nvPr/>
        </p:nvSpPr>
        <p:spPr>
          <a:xfrm>
            <a:off x="7507223" y="1618488"/>
            <a:ext cx="690372" cy="274320"/>
          </a:xfrm>
          <a:prstGeom prst="rect">
            <a:avLst/>
          </a:prstGeom>
          <a:noFill/>
        </p:spPr>
        <p:txBody>
          <a:bodyPr wrap="square" lIns="0" rIns="0" tIns="0" bIns="0" anchor="ctr">
            <a:spAutoFit/>
          </a:bodyPr>
          <a:lstStyle/>
          <a:p>
            <a:pPr algn="ctr"/>
            <a:r>
              <a:rPr sz="1100" b="1" i="0">
                <a:solidFill>
                  <a:srgbClr val="FFFFFF"/>
                </a:solidFill>
              </a:rPr>
              <a:t>Ask</a:t>
            </a:r>
          </a:p>
        </p:txBody>
      </p:sp>
      <p:sp>
        <p:nvSpPr>
          <p:cNvPr id="18" name="Text"/>
          <p:cNvSpPr txBox="1"/>
          <p:nvPr/>
        </p:nvSpPr>
        <p:spPr>
          <a:xfrm>
            <a:off x="6391655" y="1993392"/>
            <a:ext cx="5029200" cy="365760"/>
          </a:xfrm>
          <a:prstGeom prst="rect">
            <a:avLst/>
          </a:prstGeom>
          <a:noFill/>
        </p:spPr>
        <p:txBody>
          <a:bodyPr wrap="square" lIns="0" rIns="0" tIns="0" bIns="0" anchor="t">
            <a:spAutoFit/>
          </a:bodyPr>
          <a:lstStyle/>
          <a:p>
            <a:pPr algn="l"/>
            <a:r>
              <a:rPr sz="1500" b="1" i="0">
                <a:solidFill>
                  <a:srgbClr val="0B4A4A"/>
                </a:solidFill>
              </a:rPr>
              <a:t>Whose is the substance?</a:t>
            </a:r>
          </a:p>
        </p:txBody>
      </p:sp>
      <p:sp>
        <p:nvSpPr>
          <p:cNvPr id="19" name="Box"/>
          <p:cNvSpPr/>
          <p:nvPr/>
        </p:nvSpPr>
        <p:spPr>
          <a:xfrm>
            <a:off x="548640" y="2606040"/>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ip"/>
          <p:cNvSpPr/>
          <p:nvPr/>
        </p:nvSpPr>
        <p:spPr>
          <a:xfrm>
            <a:off x="749808" y="2761488"/>
            <a:ext cx="690372"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hip"/>
          <p:cNvSpPr txBox="1"/>
          <p:nvPr/>
        </p:nvSpPr>
        <p:spPr>
          <a:xfrm>
            <a:off x="749808" y="2761488"/>
            <a:ext cx="690372" cy="274320"/>
          </a:xfrm>
          <a:prstGeom prst="rect">
            <a:avLst/>
          </a:prstGeom>
          <a:noFill/>
        </p:spPr>
        <p:txBody>
          <a:bodyPr wrap="square" lIns="0" rIns="0" tIns="0" bIns="0" anchor="ctr">
            <a:spAutoFit/>
          </a:bodyPr>
          <a:lstStyle/>
          <a:p>
            <a:pPr algn="ctr"/>
            <a:r>
              <a:rPr sz="1100" b="1" i="0">
                <a:solidFill>
                  <a:srgbClr val="FFFFFF"/>
                </a:solidFill>
              </a:rPr>
              <a:t>Ask</a:t>
            </a:r>
          </a:p>
        </p:txBody>
      </p:sp>
      <p:sp>
        <p:nvSpPr>
          <p:cNvPr id="22" name="Text"/>
          <p:cNvSpPr txBox="1"/>
          <p:nvPr/>
        </p:nvSpPr>
        <p:spPr>
          <a:xfrm>
            <a:off x="1467612" y="2761488"/>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23" name="Chip"/>
          <p:cNvSpPr/>
          <p:nvPr/>
        </p:nvSpPr>
        <p:spPr>
          <a:xfrm>
            <a:off x="1787652" y="2761488"/>
            <a:ext cx="845820"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hip"/>
          <p:cNvSpPr txBox="1"/>
          <p:nvPr/>
        </p:nvSpPr>
        <p:spPr>
          <a:xfrm>
            <a:off x="1787652" y="2761488"/>
            <a:ext cx="845820" cy="274320"/>
          </a:xfrm>
          <a:prstGeom prst="rect">
            <a:avLst/>
          </a:prstGeom>
          <a:noFill/>
        </p:spPr>
        <p:txBody>
          <a:bodyPr wrap="square" lIns="0" rIns="0" tIns="0" bIns="0" anchor="ctr">
            <a:spAutoFit/>
          </a:bodyPr>
          <a:lstStyle/>
          <a:p>
            <a:pPr algn="ctr"/>
            <a:r>
              <a:rPr sz="1100" b="1" i="0">
                <a:solidFill>
                  <a:srgbClr val="FFFFFF"/>
                </a:solidFill>
              </a:rPr>
              <a:t>Chase</a:t>
            </a:r>
          </a:p>
        </p:txBody>
      </p:sp>
      <p:sp>
        <p:nvSpPr>
          <p:cNvPr id="25" name="Text"/>
          <p:cNvSpPr txBox="1"/>
          <p:nvPr/>
        </p:nvSpPr>
        <p:spPr>
          <a:xfrm>
            <a:off x="749808" y="3136392"/>
            <a:ext cx="5029200" cy="365760"/>
          </a:xfrm>
          <a:prstGeom prst="rect">
            <a:avLst/>
          </a:prstGeom>
          <a:noFill/>
        </p:spPr>
        <p:txBody>
          <a:bodyPr wrap="square" lIns="0" rIns="0" tIns="0" bIns="0" anchor="t">
            <a:spAutoFit/>
          </a:bodyPr>
          <a:lstStyle/>
          <a:p>
            <a:pPr algn="l"/>
            <a:r>
              <a:rPr sz="1500" b="1" i="0">
                <a:solidFill>
                  <a:srgbClr val="0B4A4A"/>
                </a:solidFill>
              </a:rPr>
              <a:t>Was it asked before?</a:t>
            </a:r>
          </a:p>
        </p:txBody>
      </p:sp>
      <p:sp>
        <p:nvSpPr>
          <p:cNvPr id="26" name="Box"/>
          <p:cNvSpPr/>
          <p:nvPr/>
        </p:nvSpPr>
        <p:spPr>
          <a:xfrm>
            <a:off x="6190488" y="2606040"/>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ip"/>
          <p:cNvSpPr/>
          <p:nvPr/>
        </p:nvSpPr>
        <p:spPr>
          <a:xfrm>
            <a:off x="6391655" y="2761488"/>
            <a:ext cx="923544"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hip"/>
          <p:cNvSpPr txBox="1"/>
          <p:nvPr/>
        </p:nvSpPr>
        <p:spPr>
          <a:xfrm>
            <a:off x="6391655" y="2761488"/>
            <a:ext cx="923544" cy="274320"/>
          </a:xfrm>
          <a:prstGeom prst="rect">
            <a:avLst/>
          </a:prstGeom>
          <a:noFill/>
        </p:spPr>
        <p:txBody>
          <a:bodyPr wrap="square" lIns="0" rIns="0" tIns="0" bIns="0" anchor="ctr">
            <a:spAutoFit/>
          </a:bodyPr>
          <a:lstStyle/>
          <a:p>
            <a:pPr algn="ctr"/>
            <a:r>
              <a:rPr sz="1100" b="1" i="0">
                <a:solidFill>
                  <a:srgbClr val="FFFFFF"/>
                </a:solidFill>
              </a:rPr>
              <a:t>Decide</a:t>
            </a:r>
          </a:p>
        </p:txBody>
      </p:sp>
      <p:sp>
        <p:nvSpPr>
          <p:cNvPr id="29" name="Text"/>
          <p:cNvSpPr txBox="1"/>
          <p:nvPr/>
        </p:nvSpPr>
        <p:spPr>
          <a:xfrm>
            <a:off x="7342631" y="2761488"/>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30" name="Chip"/>
          <p:cNvSpPr/>
          <p:nvPr/>
        </p:nvSpPr>
        <p:spPr>
          <a:xfrm>
            <a:off x="7662671" y="2761488"/>
            <a:ext cx="923544"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hip"/>
          <p:cNvSpPr txBox="1"/>
          <p:nvPr/>
        </p:nvSpPr>
        <p:spPr>
          <a:xfrm>
            <a:off x="7662671" y="2761488"/>
            <a:ext cx="923544" cy="274320"/>
          </a:xfrm>
          <a:prstGeom prst="rect">
            <a:avLst/>
          </a:prstGeom>
          <a:noFill/>
        </p:spPr>
        <p:txBody>
          <a:bodyPr wrap="square" lIns="0" rIns="0" tIns="0" bIns="0" anchor="ctr">
            <a:spAutoFit/>
          </a:bodyPr>
          <a:lstStyle/>
          <a:p>
            <a:pPr algn="ctr"/>
            <a:r>
              <a:rPr sz="1100" b="1" i="0">
                <a:solidFill>
                  <a:srgbClr val="FFFFFF"/>
                </a:solidFill>
              </a:rPr>
              <a:t>Assess</a:t>
            </a:r>
          </a:p>
        </p:txBody>
      </p:sp>
      <p:sp>
        <p:nvSpPr>
          <p:cNvPr id="32" name="Text"/>
          <p:cNvSpPr txBox="1"/>
          <p:nvPr/>
        </p:nvSpPr>
        <p:spPr>
          <a:xfrm>
            <a:off x="6391655" y="3136392"/>
            <a:ext cx="5029200" cy="365760"/>
          </a:xfrm>
          <a:prstGeom prst="rect">
            <a:avLst/>
          </a:prstGeom>
          <a:noFill/>
        </p:spPr>
        <p:txBody>
          <a:bodyPr wrap="square" lIns="0" rIns="0" tIns="0" bIns="0" anchor="t">
            <a:spAutoFit/>
          </a:bodyPr>
          <a:lstStyle/>
          <a:p>
            <a:pPr algn="l"/>
            <a:r>
              <a:rPr sz="1500" b="1" i="0">
                <a:solidFill>
                  <a:srgbClr val="0B4A4A"/>
                </a:solidFill>
              </a:rPr>
              <a:t>Each item, or the whole list?</a:t>
            </a:r>
          </a:p>
        </p:txBody>
      </p:sp>
      <p:sp>
        <p:nvSpPr>
          <p:cNvPr id="33" name="Box"/>
          <p:cNvSpPr/>
          <p:nvPr/>
        </p:nvSpPr>
        <p:spPr>
          <a:xfrm>
            <a:off x="548640" y="3749039"/>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ip"/>
          <p:cNvSpPr/>
          <p:nvPr/>
        </p:nvSpPr>
        <p:spPr>
          <a:xfrm>
            <a:off x="749808" y="3904487"/>
            <a:ext cx="923544"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hip"/>
          <p:cNvSpPr txBox="1"/>
          <p:nvPr/>
        </p:nvSpPr>
        <p:spPr>
          <a:xfrm>
            <a:off x="749808" y="3904487"/>
            <a:ext cx="923544" cy="274320"/>
          </a:xfrm>
          <a:prstGeom prst="rect">
            <a:avLst/>
          </a:prstGeom>
          <a:noFill/>
        </p:spPr>
        <p:txBody>
          <a:bodyPr wrap="square" lIns="0" rIns="0" tIns="0" bIns="0" anchor="ctr">
            <a:spAutoFit/>
          </a:bodyPr>
          <a:lstStyle/>
          <a:p>
            <a:pPr algn="ctr"/>
            <a:r>
              <a:rPr sz="1100" b="1" i="0">
                <a:solidFill>
                  <a:srgbClr val="FFFFFF"/>
                </a:solidFill>
              </a:rPr>
              <a:t>Assess</a:t>
            </a:r>
          </a:p>
        </p:txBody>
      </p:sp>
      <p:sp>
        <p:nvSpPr>
          <p:cNvPr id="36" name="Text"/>
          <p:cNvSpPr txBox="1"/>
          <p:nvPr/>
        </p:nvSpPr>
        <p:spPr>
          <a:xfrm>
            <a:off x="1700784" y="3904487"/>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37" name="Chip"/>
          <p:cNvSpPr/>
          <p:nvPr/>
        </p:nvSpPr>
        <p:spPr>
          <a:xfrm>
            <a:off x="2020824" y="3904487"/>
            <a:ext cx="923544"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hip"/>
          <p:cNvSpPr txBox="1"/>
          <p:nvPr/>
        </p:nvSpPr>
        <p:spPr>
          <a:xfrm>
            <a:off x="2020824" y="3904487"/>
            <a:ext cx="923544" cy="274320"/>
          </a:xfrm>
          <a:prstGeom prst="rect">
            <a:avLst/>
          </a:prstGeom>
          <a:noFill/>
        </p:spPr>
        <p:txBody>
          <a:bodyPr wrap="square" lIns="0" rIns="0" tIns="0" bIns="0" anchor="ctr">
            <a:spAutoFit/>
          </a:bodyPr>
          <a:lstStyle/>
          <a:p>
            <a:pPr algn="ctr"/>
            <a:r>
              <a:rPr sz="1100" b="1" i="0">
                <a:solidFill>
                  <a:srgbClr val="FFFFFF"/>
                </a:solidFill>
              </a:rPr>
              <a:t>Report</a:t>
            </a:r>
          </a:p>
        </p:txBody>
      </p:sp>
      <p:sp>
        <p:nvSpPr>
          <p:cNvPr id="39" name="Text"/>
          <p:cNvSpPr txBox="1"/>
          <p:nvPr/>
        </p:nvSpPr>
        <p:spPr>
          <a:xfrm>
            <a:off x="749808" y="4279392"/>
            <a:ext cx="5029200" cy="365760"/>
          </a:xfrm>
          <a:prstGeom prst="rect">
            <a:avLst/>
          </a:prstGeom>
          <a:noFill/>
        </p:spPr>
        <p:txBody>
          <a:bodyPr wrap="square" lIns="0" rIns="0" tIns="0" bIns="0" anchor="t">
            <a:spAutoFit/>
          </a:bodyPr>
          <a:lstStyle/>
          <a:p>
            <a:pPr algn="l"/>
            <a:r>
              <a:rPr sz="1500" b="1" i="0">
                <a:solidFill>
                  <a:srgbClr val="0B4A4A"/>
                </a:solidFill>
              </a:rPr>
              <a:t>Kept, or sent to a reader?</a:t>
            </a:r>
          </a:p>
        </p:txBody>
      </p:sp>
      <p:sp>
        <p:nvSpPr>
          <p:cNvPr id="40" name="Box"/>
          <p:cNvSpPr/>
          <p:nvPr/>
        </p:nvSpPr>
        <p:spPr>
          <a:xfrm>
            <a:off x="6190488" y="3749039"/>
            <a:ext cx="5449824" cy="987552"/>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hip"/>
          <p:cNvSpPr/>
          <p:nvPr/>
        </p:nvSpPr>
        <p:spPr>
          <a:xfrm>
            <a:off x="6391655" y="3904487"/>
            <a:ext cx="1467612"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hip"/>
          <p:cNvSpPr txBox="1"/>
          <p:nvPr/>
        </p:nvSpPr>
        <p:spPr>
          <a:xfrm>
            <a:off x="6391655" y="3904487"/>
            <a:ext cx="1467612" cy="274320"/>
          </a:xfrm>
          <a:prstGeom prst="rect">
            <a:avLst/>
          </a:prstGeom>
          <a:noFill/>
        </p:spPr>
        <p:txBody>
          <a:bodyPr wrap="square" lIns="0" rIns="0" tIns="0" bIns="0" anchor="ctr">
            <a:spAutoFit/>
          </a:bodyPr>
          <a:lstStyle/>
          <a:p>
            <a:pPr algn="ctr"/>
            <a:r>
              <a:rPr sz="1100" b="1" i="0">
                <a:solidFill>
                  <a:srgbClr val="FFFFFF"/>
                </a:solidFill>
              </a:rPr>
              <a:t>Carry through</a:t>
            </a:r>
          </a:p>
        </p:txBody>
      </p:sp>
      <p:sp>
        <p:nvSpPr>
          <p:cNvPr id="43" name="Text"/>
          <p:cNvSpPr txBox="1"/>
          <p:nvPr/>
        </p:nvSpPr>
        <p:spPr>
          <a:xfrm>
            <a:off x="7886700" y="3904487"/>
            <a:ext cx="320040" cy="274320"/>
          </a:xfrm>
          <a:prstGeom prst="rect">
            <a:avLst/>
          </a:prstGeom>
          <a:noFill/>
        </p:spPr>
        <p:txBody>
          <a:bodyPr wrap="square" lIns="0" rIns="0" tIns="0" bIns="0" anchor="ctr">
            <a:spAutoFit/>
          </a:bodyPr>
          <a:lstStyle/>
          <a:p>
            <a:pPr algn="l"/>
            <a:r>
              <a:rPr sz="1100" b="0" i="0">
                <a:solidFill>
                  <a:srgbClr val="5E6A71"/>
                </a:solidFill>
              </a:rPr>
              <a:t>or</a:t>
            </a:r>
          </a:p>
        </p:txBody>
      </p:sp>
      <p:sp>
        <p:nvSpPr>
          <p:cNvPr id="44" name="Chip"/>
          <p:cNvSpPr/>
          <p:nvPr/>
        </p:nvSpPr>
        <p:spPr>
          <a:xfrm>
            <a:off x="8206740" y="3904487"/>
            <a:ext cx="1078992" cy="274320"/>
          </a:xfrm>
          <a:prstGeom prst="roundRect">
            <a:avLst>
              <a:gd name="adj" fmla="val 50000"/>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hip"/>
          <p:cNvSpPr txBox="1"/>
          <p:nvPr/>
        </p:nvSpPr>
        <p:spPr>
          <a:xfrm>
            <a:off x="8206740" y="3904487"/>
            <a:ext cx="1078992" cy="274320"/>
          </a:xfrm>
          <a:prstGeom prst="rect">
            <a:avLst/>
          </a:prstGeom>
          <a:noFill/>
        </p:spPr>
        <p:txBody>
          <a:bodyPr wrap="square" lIns="0" rIns="0" tIns="0" bIns="0" anchor="ctr">
            <a:spAutoFit/>
          </a:bodyPr>
          <a:lstStyle/>
          <a:p>
            <a:pPr algn="ctr"/>
            <a:r>
              <a:rPr sz="1100" b="1" i="0">
                <a:solidFill>
                  <a:srgbClr val="FFFFFF"/>
                </a:solidFill>
              </a:rPr>
              <a:t>the rest</a:t>
            </a:r>
          </a:p>
        </p:txBody>
      </p:sp>
      <p:sp>
        <p:nvSpPr>
          <p:cNvPr id="46" name="Text"/>
          <p:cNvSpPr txBox="1"/>
          <p:nvPr/>
        </p:nvSpPr>
        <p:spPr>
          <a:xfrm>
            <a:off x="6391655" y="4279392"/>
            <a:ext cx="5029200" cy="365760"/>
          </a:xfrm>
          <a:prstGeom prst="rect">
            <a:avLst/>
          </a:prstGeom>
          <a:noFill/>
        </p:spPr>
        <p:txBody>
          <a:bodyPr wrap="square" lIns="0" rIns="0" tIns="0" bIns="0" anchor="t">
            <a:spAutoFit/>
          </a:bodyPr>
          <a:lstStyle/>
          <a:p>
            <a:pPr algn="l"/>
            <a:r>
              <a:rPr sz="1500" b="1" i="0">
                <a:solidFill>
                  <a:srgbClr val="0B4A4A"/>
                </a:solidFill>
              </a:rPr>
              <a:t>Done at the first hand-over?</a:t>
            </a:r>
          </a:p>
        </p:txBody>
      </p:sp>
      <p:sp>
        <p:nvSpPr>
          <p:cNvPr id="47" name="Finding"/>
          <p:cNvSpPr/>
          <p:nvPr/>
        </p:nvSpPr>
        <p:spPr>
          <a:xfrm>
            <a:off x="548640" y="5074920"/>
            <a:ext cx="11091672" cy="64008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
          <p:cNvSpPr txBox="1"/>
          <p:nvPr/>
        </p:nvSpPr>
        <p:spPr>
          <a:xfrm>
            <a:off x="822960" y="5074920"/>
            <a:ext cx="10543032" cy="640080"/>
          </a:xfrm>
          <a:prstGeom prst="rect">
            <a:avLst/>
          </a:prstGeom>
          <a:noFill/>
        </p:spPr>
        <p:txBody>
          <a:bodyPr wrap="square" lIns="0" rIns="0" tIns="0" bIns="0" anchor="ctr">
            <a:spAutoFit/>
          </a:bodyPr>
          <a:lstStyle/>
          <a:p>
            <a:pPr algn="l"/>
            <a:r>
              <a:rPr sz="1350" b="1" i="0">
                <a:solidFill>
                  <a:srgbClr val="1E262B"/>
                </a:solidFill>
              </a:rPr>
              <a:t>One question per pair, answered from the role file's row.  </a:t>
            </a:r>
            <a:r>
              <a:rPr sz="1350" b="0" i="0">
                <a:solidFill>
                  <a:srgbClr val="1E262B"/>
                </a:solidFill>
              </a:rPr>
              <a:t>Where the row does not answer it, the task sits between two types.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 list is not a type; a conclusion about one is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TAXONOMY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6</a:t>
            </a:r>
          </a:p>
        </p:txBody>
      </p:sp>
      <p:sp>
        <p:nvSpPr>
          <p:cNvPr id="5" name="Text"/>
          <p:cNvSpPr txBox="1"/>
          <p:nvPr/>
        </p:nvSpPr>
        <p:spPr>
          <a:xfrm>
            <a:off x="548640" y="1325880"/>
            <a:ext cx="11091672" cy="274320"/>
          </a:xfrm>
          <a:prstGeom prst="rect">
            <a:avLst/>
          </a:prstGeom>
          <a:noFill/>
        </p:spPr>
        <p:txBody>
          <a:bodyPr wrap="square" lIns="0" rIns="0" tIns="0" bIns="0" anchor="t">
            <a:spAutoFit/>
          </a:bodyPr>
          <a:lstStyle/>
          <a:p>
            <a:pPr algn="l"/>
            <a:r>
              <a:rPr sz="1200" b="0" i="0">
                <a:solidFill>
                  <a:srgbClr val="5E6A71"/>
                </a:solidFill>
                <a:latin typeface="Georgia"/>
              </a:rPr>
              <a:t>“Working through a list item by item is one task done many times. Looking across the whole list for a pattern is one task.”  The role format.</a:t>
            </a:r>
          </a:p>
        </p:txBody>
      </p:sp>
      <p:sp>
        <p:nvSpPr>
          <p:cNvPr id="6" name="Box"/>
          <p:cNvSpPr/>
          <p:nvPr/>
        </p:nvSpPr>
        <p:spPr>
          <a:xfrm>
            <a:off x="548640" y="1783080"/>
            <a:ext cx="3575304" cy="3429000"/>
          </a:xfrm>
          <a:prstGeom prst="roundRect">
            <a:avLst>
              <a:gd name="adj" fmla="val 24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1892807"/>
            <a:ext cx="3108960" cy="365760"/>
          </a:xfrm>
          <a:prstGeom prst="rect">
            <a:avLst/>
          </a:prstGeom>
          <a:noFill/>
        </p:spPr>
        <p:txBody>
          <a:bodyPr wrap="square" lIns="0" rIns="0" tIns="0" bIns="0" anchor="t">
            <a:spAutoFit/>
          </a:bodyPr>
          <a:lstStyle/>
          <a:p>
            <a:pPr algn="l"/>
            <a:r>
              <a:rPr sz="1700" b="1" i="0">
                <a:solidFill>
                  <a:srgbClr val="0B4A4A"/>
                </a:solidFill>
              </a:rPr>
              <a:t>One item</a:t>
            </a:r>
          </a:p>
        </p:txBody>
      </p:sp>
      <p:sp>
        <p:nvSpPr>
          <p:cNvPr id="8" name="Wire"/>
          <p:cNvSpPr/>
          <p:nvPr/>
        </p:nvSpPr>
        <p:spPr>
          <a:xfrm>
            <a:off x="777240" y="2331720"/>
            <a:ext cx="3118104" cy="169164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x"/>
          <p:cNvSpPr/>
          <p:nvPr/>
        </p:nvSpPr>
        <p:spPr>
          <a:xfrm>
            <a:off x="777240" y="2331720"/>
            <a:ext cx="3118104"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886968" y="2331720"/>
            <a:ext cx="2935224" cy="274320"/>
          </a:xfrm>
          <a:prstGeom prst="rect">
            <a:avLst/>
          </a:prstGeom>
          <a:noFill/>
        </p:spPr>
        <p:txBody>
          <a:bodyPr wrap="square" lIns="0" rIns="0" tIns="0" bIns="0" anchor="ctr">
            <a:spAutoFit/>
          </a:bodyPr>
          <a:lstStyle/>
          <a:p>
            <a:pPr algn="l"/>
            <a:r>
              <a:rPr sz="950" b="1" i="0">
                <a:solidFill>
                  <a:srgbClr val="5E6A71"/>
                </a:solidFill>
              </a:rPr>
              <a:t>DECIDE</a:t>
            </a:r>
          </a:p>
        </p:txBody>
      </p:sp>
      <p:sp>
        <p:nvSpPr>
          <p:cNvPr id="11" name="Box"/>
          <p:cNvSpPr/>
          <p:nvPr/>
        </p:nvSpPr>
        <p:spPr>
          <a:xfrm>
            <a:off x="933145" y="2719425"/>
            <a:ext cx="2806293" cy="708660"/>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1006297" y="2765145"/>
            <a:ext cx="2678277" cy="635508"/>
          </a:xfrm>
          <a:prstGeom prst="rect">
            <a:avLst/>
          </a:prstGeom>
          <a:noFill/>
        </p:spPr>
        <p:txBody>
          <a:bodyPr wrap="square" lIns="0" rIns="0" tIns="0" bIns="0" anchor="t">
            <a:spAutoFit/>
          </a:bodyPr>
          <a:lstStyle/>
          <a:p>
            <a:pPr algn="l"/>
            <a:r>
              <a:rPr sz="950" b="1" i="0">
                <a:solidFill>
                  <a:srgbClr val="0B4A4A"/>
                </a:solidFill>
              </a:rPr>
              <a:t>SHOW  the evidence</a:t>
            </a:r>
          </a:p>
        </p:txBody>
      </p:sp>
      <p:sp>
        <p:nvSpPr>
          <p:cNvPr id="13" name="Box"/>
          <p:cNvSpPr/>
          <p:nvPr/>
        </p:nvSpPr>
        <p:spPr>
          <a:xfrm>
            <a:off x="2648102" y="3569817"/>
            <a:ext cx="1091336" cy="283464"/>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2648102" y="3569817"/>
            <a:ext cx="1091336" cy="283464"/>
          </a:xfrm>
          <a:prstGeom prst="rect">
            <a:avLst/>
          </a:prstGeom>
          <a:noFill/>
        </p:spPr>
        <p:txBody>
          <a:bodyPr wrap="square" lIns="0" rIns="0" tIns="0" bIns="0" anchor="ctr">
            <a:spAutoFit/>
          </a:bodyPr>
          <a:lstStyle/>
          <a:p>
            <a:pPr algn="ctr"/>
            <a:r>
              <a:rPr sz="900" b="1" i="0">
                <a:solidFill>
                  <a:srgbClr val="FFFFFF"/>
                </a:solidFill>
              </a:rPr>
              <a:t>approve</a:t>
            </a:r>
          </a:p>
        </p:txBody>
      </p:sp>
      <p:sp>
        <p:nvSpPr>
          <p:cNvPr id="15" name="Text"/>
          <p:cNvSpPr txBox="1"/>
          <p:nvPr/>
        </p:nvSpPr>
        <p:spPr>
          <a:xfrm>
            <a:off x="777240" y="4114800"/>
            <a:ext cx="3108960" cy="320040"/>
          </a:xfrm>
          <a:prstGeom prst="rect">
            <a:avLst/>
          </a:prstGeom>
          <a:noFill/>
        </p:spPr>
        <p:txBody>
          <a:bodyPr wrap="square" lIns="0" rIns="0" tIns="0" bIns="0" anchor="t">
            <a:spAutoFit/>
          </a:bodyPr>
          <a:lstStyle/>
          <a:p>
            <a:pPr algn="l"/>
            <a:r>
              <a:rPr sz="1300" b="1" i="0">
                <a:solidFill>
                  <a:srgbClr val="0B6463"/>
                </a:solidFill>
              </a:rPr>
              <a:t>Decide</a:t>
            </a:r>
            <a:r>
              <a:rPr sz="1300" b="0" i="0">
                <a:solidFill>
                  <a:srgbClr val="1E262B"/>
                </a:solidFill>
              </a:rPr>
              <a:t>  ·  Review</a:t>
            </a:r>
          </a:p>
        </p:txBody>
      </p:sp>
      <p:sp>
        <p:nvSpPr>
          <p:cNvPr id="16" name="Text"/>
          <p:cNvSpPr txBox="1"/>
          <p:nvPr/>
        </p:nvSpPr>
        <p:spPr>
          <a:xfrm>
            <a:off x="777240" y="4480560"/>
            <a:ext cx="3108960" cy="640080"/>
          </a:xfrm>
          <a:prstGeom prst="rect">
            <a:avLst/>
          </a:prstGeom>
          <a:noFill/>
        </p:spPr>
        <p:txBody>
          <a:bodyPr wrap="square" lIns="0" rIns="0" tIns="0" bIns="0" anchor="t">
            <a:spAutoFit/>
          </a:bodyPr>
          <a:lstStyle/>
          <a:p>
            <a:pPr algn="l"/>
            <a:r>
              <a:rPr sz="1150" b="0" i="0">
                <a:solidFill>
                  <a:srgbClr val="5E6A71"/>
                </a:solidFill>
              </a:rPr>
              <a:t>e.g. Decide an order sent for credit review</a:t>
            </a:r>
          </a:p>
        </p:txBody>
      </p:sp>
      <p:sp>
        <p:nvSpPr>
          <p:cNvPr id="17" name="Box"/>
          <p:cNvSpPr/>
          <p:nvPr/>
        </p:nvSpPr>
        <p:spPr>
          <a:xfrm>
            <a:off x="4306824" y="1783080"/>
            <a:ext cx="3575304" cy="3429000"/>
          </a:xfrm>
          <a:prstGeom prst="roundRect">
            <a:avLst>
              <a:gd name="adj" fmla="val 24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p:cNvSpPr txBox="1"/>
          <p:nvPr/>
        </p:nvSpPr>
        <p:spPr>
          <a:xfrm>
            <a:off x="4535424" y="1892807"/>
            <a:ext cx="3108960" cy="365760"/>
          </a:xfrm>
          <a:prstGeom prst="rect">
            <a:avLst/>
          </a:prstGeom>
          <a:noFill/>
        </p:spPr>
        <p:txBody>
          <a:bodyPr wrap="square" lIns="0" rIns="0" tIns="0" bIns="0" anchor="t">
            <a:spAutoFit/>
          </a:bodyPr>
          <a:lstStyle/>
          <a:p>
            <a:pPr algn="l"/>
            <a:r>
              <a:rPr sz="1700" b="1" i="0">
                <a:solidFill>
                  <a:srgbClr val="0B4A4A"/>
                </a:solidFill>
              </a:rPr>
              <a:t>Many at once</a:t>
            </a:r>
          </a:p>
        </p:txBody>
      </p:sp>
      <p:sp>
        <p:nvSpPr>
          <p:cNvPr id="19" name="Wire"/>
          <p:cNvSpPr/>
          <p:nvPr/>
        </p:nvSpPr>
        <p:spPr>
          <a:xfrm>
            <a:off x="4535424" y="2331720"/>
            <a:ext cx="3118104" cy="169164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x"/>
          <p:cNvSpPr/>
          <p:nvPr/>
        </p:nvSpPr>
        <p:spPr>
          <a:xfrm>
            <a:off x="4535424" y="2331720"/>
            <a:ext cx="3118104"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p:cNvSpPr txBox="1"/>
          <p:nvPr/>
        </p:nvSpPr>
        <p:spPr>
          <a:xfrm>
            <a:off x="4645152" y="2331720"/>
            <a:ext cx="2935224" cy="274320"/>
          </a:xfrm>
          <a:prstGeom prst="rect">
            <a:avLst/>
          </a:prstGeom>
          <a:noFill/>
        </p:spPr>
        <p:txBody>
          <a:bodyPr wrap="square" lIns="0" rIns="0" tIns="0" bIns="0" anchor="ctr">
            <a:spAutoFit/>
          </a:bodyPr>
          <a:lstStyle/>
          <a:p>
            <a:pPr algn="l"/>
            <a:r>
              <a:rPr sz="950" b="1" i="0">
                <a:solidFill>
                  <a:srgbClr val="5E6A71"/>
                </a:solidFill>
              </a:rPr>
              <a:t>STILL DECIDE</a:t>
            </a:r>
          </a:p>
        </p:txBody>
      </p:sp>
      <p:sp>
        <p:nvSpPr>
          <p:cNvPr id="22" name="Box"/>
          <p:cNvSpPr/>
          <p:nvPr/>
        </p:nvSpPr>
        <p:spPr>
          <a:xfrm>
            <a:off x="4691329" y="2719425"/>
            <a:ext cx="2806293" cy="283464"/>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p:cNvSpPr txBox="1"/>
          <p:nvPr/>
        </p:nvSpPr>
        <p:spPr>
          <a:xfrm>
            <a:off x="4764481" y="2719425"/>
            <a:ext cx="2678277" cy="283464"/>
          </a:xfrm>
          <a:prstGeom prst="rect">
            <a:avLst/>
          </a:prstGeom>
          <a:noFill/>
        </p:spPr>
        <p:txBody>
          <a:bodyPr wrap="square" lIns="0" rIns="0" tIns="0" bIns="0" anchor="ctr">
            <a:spAutoFit/>
          </a:bodyPr>
          <a:lstStyle/>
          <a:p>
            <a:pPr algn="l"/>
            <a:r>
              <a:rPr sz="900" b="0" i="0">
                <a:solidFill>
                  <a:srgbClr val="5E6A71"/>
                </a:solidFill>
              </a:rPr>
              <a:t>contract ending</a:t>
            </a:r>
          </a:p>
        </p:txBody>
      </p:sp>
      <p:sp>
        <p:nvSpPr>
          <p:cNvPr id="24" name="Box"/>
          <p:cNvSpPr/>
          <p:nvPr/>
        </p:nvSpPr>
        <p:spPr>
          <a:xfrm>
            <a:off x="6718096" y="2747772"/>
            <a:ext cx="685982" cy="226771"/>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6718096" y="2747772"/>
            <a:ext cx="685982" cy="226771"/>
          </a:xfrm>
          <a:prstGeom prst="rect">
            <a:avLst/>
          </a:prstGeom>
          <a:noFill/>
        </p:spPr>
        <p:txBody>
          <a:bodyPr wrap="square" lIns="0" rIns="0" tIns="0" bIns="0" anchor="ctr">
            <a:spAutoFit/>
          </a:bodyPr>
          <a:lstStyle/>
          <a:p>
            <a:pPr algn="ctr"/>
            <a:r>
              <a:rPr sz="900" b="1" i="0">
                <a:solidFill>
                  <a:srgbClr val="FFFFFF"/>
                </a:solidFill>
              </a:rPr>
              <a:t>renew</a:t>
            </a:r>
          </a:p>
        </p:txBody>
      </p:sp>
      <p:sp>
        <p:nvSpPr>
          <p:cNvPr id="26" name="Box"/>
          <p:cNvSpPr/>
          <p:nvPr/>
        </p:nvSpPr>
        <p:spPr>
          <a:xfrm>
            <a:off x="4691329" y="3059582"/>
            <a:ext cx="2806293" cy="283464"/>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4764481" y="3059582"/>
            <a:ext cx="2678277" cy="283464"/>
          </a:xfrm>
          <a:prstGeom prst="rect">
            <a:avLst/>
          </a:prstGeom>
          <a:noFill/>
        </p:spPr>
        <p:txBody>
          <a:bodyPr wrap="square" lIns="0" rIns="0" tIns="0" bIns="0" anchor="ctr">
            <a:spAutoFit/>
          </a:bodyPr>
          <a:lstStyle/>
          <a:p>
            <a:pPr algn="l"/>
            <a:r>
              <a:rPr sz="900" b="0" i="0">
                <a:solidFill>
                  <a:srgbClr val="5E6A71"/>
                </a:solidFill>
              </a:rPr>
              <a:t>contract ending</a:t>
            </a:r>
          </a:p>
        </p:txBody>
      </p:sp>
      <p:sp>
        <p:nvSpPr>
          <p:cNvPr id="28" name="Box"/>
          <p:cNvSpPr/>
          <p:nvPr/>
        </p:nvSpPr>
        <p:spPr>
          <a:xfrm>
            <a:off x="6718096" y="3087928"/>
            <a:ext cx="685982" cy="226771"/>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6718096" y="3087928"/>
            <a:ext cx="685982" cy="226771"/>
          </a:xfrm>
          <a:prstGeom prst="rect">
            <a:avLst/>
          </a:prstGeom>
          <a:noFill/>
        </p:spPr>
        <p:txBody>
          <a:bodyPr wrap="square" lIns="0" rIns="0" tIns="0" bIns="0" anchor="ctr">
            <a:spAutoFit/>
          </a:bodyPr>
          <a:lstStyle/>
          <a:p>
            <a:pPr algn="ctr"/>
            <a:r>
              <a:rPr sz="900" b="1" i="0">
                <a:solidFill>
                  <a:srgbClr val="FFFFFF"/>
                </a:solidFill>
              </a:rPr>
              <a:t>renew</a:t>
            </a:r>
          </a:p>
        </p:txBody>
      </p:sp>
      <p:sp>
        <p:nvSpPr>
          <p:cNvPr id="30" name="Box"/>
          <p:cNvSpPr/>
          <p:nvPr/>
        </p:nvSpPr>
        <p:spPr>
          <a:xfrm>
            <a:off x="4691329" y="3399739"/>
            <a:ext cx="2806293" cy="283464"/>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p:cNvSpPr txBox="1"/>
          <p:nvPr/>
        </p:nvSpPr>
        <p:spPr>
          <a:xfrm>
            <a:off x="4764481" y="3399739"/>
            <a:ext cx="2678277" cy="283464"/>
          </a:xfrm>
          <a:prstGeom prst="rect">
            <a:avLst/>
          </a:prstGeom>
          <a:noFill/>
        </p:spPr>
        <p:txBody>
          <a:bodyPr wrap="square" lIns="0" rIns="0" tIns="0" bIns="0" anchor="ctr">
            <a:spAutoFit/>
          </a:bodyPr>
          <a:lstStyle/>
          <a:p>
            <a:pPr algn="l"/>
            <a:r>
              <a:rPr sz="900" b="0" i="0">
                <a:solidFill>
                  <a:srgbClr val="5E6A71"/>
                </a:solidFill>
              </a:rPr>
              <a:t>contract ending</a:t>
            </a:r>
          </a:p>
        </p:txBody>
      </p:sp>
      <p:sp>
        <p:nvSpPr>
          <p:cNvPr id="32" name="Box"/>
          <p:cNvSpPr/>
          <p:nvPr/>
        </p:nvSpPr>
        <p:spPr>
          <a:xfrm>
            <a:off x="6718096" y="3428085"/>
            <a:ext cx="685982" cy="226771"/>
          </a:xfrm>
          <a:prstGeom prst="roundRect">
            <a:avLst>
              <a:gd name="adj" fmla="val 30000"/>
            </a:avLst>
          </a:prstGeom>
          <a:solidFill>
            <a:srgbClr val="FFFFFF"/>
          </a:solidFill>
          <a:ln w="158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6718096" y="3428085"/>
            <a:ext cx="685982" cy="226771"/>
          </a:xfrm>
          <a:prstGeom prst="rect">
            <a:avLst/>
          </a:prstGeom>
          <a:noFill/>
        </p:spPr>
        <p:txBody>
          <a:bodyPr wrap="square" lIns="0" rIns="0" tIns="0" bIns="0" anchor="ctr">
            <a:spAutoFit/>
          </a:bodyPr>
          <a:lstStyle/>
          <a:p>
            <a:pPr algn="ctr"/>
            <a:r>
              <a:rPr sz="900" b="1" i="0">
                <a:solidFill>
                  <a:srgbClr val="0B6463"/>
                </a:solidFill>
              </a:rPr>
              <a:t>let lapse</a:t>
            </a:r>
          </a:p>
        </p:txBody>
      </p:sp>
      <p:sp>
        <p:nvSpPr>
          <p:cNvPr id="34" name="Text"/>
          <p:cNvSpPr txBox="1"/>
          <p:nvPr/>
        </p:nvSpPr>
        <p:spPr>
          <a:xfrm>
            <a:off x="4535424" y="4114800"/>
            <a:ext cx="3108960" cy="320040"/>
          </a:xfrm>
          <a:prstGeom prst="rect">
            <a:avLst/>
          </a:prstGeom>
          <a:noFill/>
        </p:spPr>
        <p:txBody>
          <a:bodyPr wrap="square" lIns="0" rIns="0" tIns="0" bIns="0" anchor="t">
            <a:spAutoFit/>
          </a:bodyPr>
          <a:lstStyle/>
          <a:p>
            <a:pPr algn="l"/>
            <a:r>
              <a:rPr sz="1300" b="1" i="0">
                <a:solidFill>
                  <a:srgbClr val="0B6463"/>
                </a:solidFill>
              </a:rPr>
              <a:t>Still Decide</a:t>
            </a:r>
            <a:r>
              <a:rPr sz="1300" b="0" i="0">
                <a:solidFill>
                  <a:srgbClr val="1E262B"/>
                </a:solidFill>
              </a:rPr>
              <a:t>  ·  Worklist</a:t>
            </a:r>
          </a:p>
        </p:txBody>
      </p:sp>
      <p:sp>
        <p:nvSpPr>
          <p:cNvPr id="35" name="Text"/>
          <p:cNvSpPr txBox="1"/>
          <p:nvPr/>
        </p:nvSpPr>
        <p:spPr>
          <a:xfrm>
            <a:off x="4535424" y="4480560"/>
            <a:ext cx="3108960" cy="640080"/>
          </a:xfrm>
          <a:prstGeom prst="rect">
            <a:avLst/>
          </a:prstGeom>
          <a:noFill/>
        </p:spPr>
        <p:txBody>
          <a:bodyPr wrap="square" lIns="0" rIns="0" tIns="0" bIns="0" anchor="t">
            <a:spAutoFit/>
          </a:bodyPr>
          <a:lstStyle/>
          <a:p>
            <a:pPr algn="l"/>
            <a:r>
              <a:rPr sz="1150" b="0" i="0">
                <a:solidFill>
                  <a:srgbClr val="5E6A71"/>
                </a:solidFill>
              </a:rPr>
              <a:t>e.g. Review renewals and expiry</a:t>
            </a:r>
          </a:p>
        </p:txBody>
      </p:sp>
      <p:sp>
        <p:nvSpPr>
          <p:cNvPr id="36" name="Box"/>
          <p:cNvSpPr/>
          <p:nvPr/>
        </p:nvSpPr>
        <p:spPr>
          <a:xfrm>
            <a:off x="8065008" y="1783080"/>
            <a:ext cx="3575304" cy="3429000"/>
          </a:xfrm>
          <a:prstGeom prst="roundRect">
            <a:avLst>
              <a:gd name="adj" fmla="val 24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p:cNvSpPr txBox="1"/>
          <p:nvPr/>
        </p:nvSpPr>
        <p:spPr>
          <a:xfrm>
            <a:off x="8293608" y="1892807"/>
            <a:ext cx="3108960" cy="365760"/>
          </a:xfrm>
          <a:prstGeom prst="rect">
            <a:avLst/>
          </a:prstGeom>
          <a:noFill/>
        </p:spPr>
        <p:txBody>
          <a:bodyPr wrap="square" lIns="0" rIns="0" tIns="0" bIns="0" anchor="t">
            <a:spAutoFit/>
          </a:bodyPr>
          <a:lstStyle/>
          <a:p>
            <a:pPr algn="l"/>
            <a:r>
              <a:rPr sz="1700" b="1" i="0">
                <a:solidFill>
                  <a:srgbClr val="0B4A4A"/>
                </a:solidFill>
              </a:rPr>
              <a:t>The whole list, judged</a:t>
            </a:r>
          </a:p>
        </p:txBody>
      </p:sp>
      <p:sp>
        <p:nvSpPr>
          <p:cNvPr id="38" name="Wire"/>
          <p:cNvSpPr/>
          <p:nvPr/>
        </p:nvSpPr>
        <p:spPr>
          <a:xfrm>
            <a:off x="8293608" y="2331720"/>
            <a:ext cx="3118104" cy="169164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ox"/>
          <p:cNvSpPr/>
          <p:nvPr/>
        </p:nvSpPr>
        <p:spPr>
          <a:xfrm>
            <a:off x="8293608" y="2331720"/>
            <a:ext cx="3118104"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p:cNvSpPr txBox="1"/>
          <p:nvPr/>
        </p:nvSpPr>
        <p:spPr>
          <a:xfrm>
            <a:off x="8403336" y="2331720"/>
            <a:ext cx="2935224" cy="274320"/>
          </a:xfrm>
          <a:prstGeom prst="rect">
            <a:avLst/>
          </a:prstGeom>
          <a:noFill/>
        </p:spPr>
        <p:txBody>
          <a:bodyPr wrap="square" lIns="0" rIns="0" tIns="0" bIns="0" anchor="ctr">
            <a:spAutoFit/>
          </a:bodyPr>
          <a:lstStyle/>
          <a:p>
            <a:pPr algn="l"/>
            <a:r>
              <a:rPr sz="950" b="1" i="0">
                <a:solidFill>
                  <a:srgbClr val="5E6A71"/>
                </a:solidFill>
              </a:rPr>
              <a:t>ASSESS</a:t>
            </a:r>
          </a:p>
        </p:txBody>
      </p:sp>
      <p:sp>
        <p:nvSpPr>
          <p:cNvPr id="41" name="Box"/>
          <p:cNvSpPr/>
          <p:nvPr/>
        </p:nvSpPr>
        <p:spPr>
          <a:xfrm>
            <a:off x="8449513" y="2719425"/>
            <a:ext cx="2806293" cy="566928"/>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8522665" y="2765145"/>
            <a:ext cx="2678277" cy="493776"/>
          </a:xfrm>
          <a:prstGeom prst="rect">
            <a:avLst/>
          </a:prstGeom>
          <a:noFill/>
        </p:spPr>
        <p:txBody>
          <a:bodyPr wrap="square" lIns="0" rIns="0" tIns="0" bIns="0" anchor="t">
            <a:spAutoFit/>
          </a:bodyPr>
          <a:lstStyle/>
          <a:p>
            <a:pPr algn="l"/>
            <a:r>
              <a:rPr sz="950" b="1" i="0">
                <a:solidFill>
                  <a:srgbClr val="0B4A4A"/>
                </a:solidFill>
              </a:rPr>
              <a:t>SHOW  grouped: where it concentrates</a:t>
            </a:r>
          </a:p>
        </p:txBody>
      </p:sp>
      <p:sp>
        <p:nvSpPr>
          <p:cNvPr id="43" name="Box"/>
          <p:cNvSpPr/>
          <p:nvPr/>
        </p:nvSpPr>
        <p:spPr>
          <a:xfrm>
            <a:off x="8449513" y="3399739"/>
            <a:ext cx="1714957" cy="425196"/>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p:cNvSpPr txBox="1"/>
          <p:nvPr/>
        </p:nvSpPr>
        <p:spPr>
          <a:xfrm>
            <a:off x="8522665" y="3445459"/>
            <a:ext cx="1586941" cy="352043"/>
          </a:xfrm>
          <a:prstGeom prst="rect">
            <a:avLst/>
          </a:prstGeom>
          <a:noFill/>
        </p:spPr>
        <p:txBody>
          <a:bodyPr wrap="square" lIns="0" rIns="0" tIns="0" bIns="0" anchor="t">
            <a:spAutoFit/>
          </a:bodyPr>
          <a:lstStyle/>
          <a:p>
            <a:pPr algn="l"/>
            <a:r>
              <a:rPr sz="950" b="1" i="0">
                <a:solidFill>
                  <a:srgbClr val="1E262B"/>
                </a:solidFill>
              </a:rPr>
              <a:t>the conclusion</a:t>
            </a:r>
          </a:p>
        </p:txBody>
      </p:sp>
      <p:sp>
        <p:nvSpPr>
          <p:cNvPr id="45" name="Box"/>
          <p:cNvSpPr/>
          <p:nvPr/>
        </p:nvSpPr>
        <p:spPr>
          <a:xfrm>
            <a:off x="10289194" y="3456431"/>
            <a:ext cx="966612" cy="283464"/>
          </a:xfrm>
          <a:prstGeom prst="roundRect">
            <a:avLst>
              <a:gd name="adj" fmla="val 30000"/>
            </a:avLst>
          </a:prstGeom>
          <a:solidFill>
            <a:srgbClr val="FFFFFF"/>
          </a:solidFill>
          <a:ln w="158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p:cNvSpPr txBox="1"/>
          <p:nvPr/>
        </p:nvSpPr>
        <p:spPr>
          <a:xfrm>
            <a:off x="10289194" y="3456431"/>
            <a:ext cx="966612" cy="283464"/>
          </a:xfrm>
          <a:prstGeom prst="rect">
            <a:avLst/>
          </a:prstGeom>
          <a:noFill/>
        </p:spPr>
        <p:txBody>
          <a:bodyPr wrap="square" lIns="0" rIns="0" tIns="0" bIns="0" anchor="ctr">
            <a:spAutoFit/>
          </a:bodyPr>
          <a:lstStyle/>
          <a:p>
            <a:pPr algn="ctr"/>
            <a:r>
              <a:rPr sz="900" b="1" i="0">
                <a:solidFill>
                  <a:srgbClr val="0B6463"/>
                </a:solidFill>
              </a:rPr>
              <a:t>nothing found</a:t>
            </a:r>
          </a:p>
        </p:txBody>
      </p:sp>
      <p:sp>
        <p:nvSpPr>
          <p:cNvPr id="47" name="Text"/>
          <p:cNvSpPr txBox="1"/>
          <p:nvPr/>
        </p:nvSpPr>
        <p:spPr>
          <a:xfrm>
            <a:off x="8293608" y="4114800"/>
            <a:ext cx="3108960" cy="320040"/>
          </a:xfrm>
          <a:prstGeom prst="rect">
            <a:avLst/>
          </a:prstGeom>
          <a:noFill/>
        </p:spPr>
        <p:txBody>
          <a:bodyPr wrap="square" lIns="0" rIns="0" tIns="0" bIns="0" anchor="t">
            <a:spAutoFit/>
          </a:bodyPr>
          <a:lstStyle/>
          <a:p>
            <a:pPr algn="l"/>
            <a:r>
              <a:rPr sz="1300" b="1" i="0">
                <a:solidFill>
                  <a:srgbClr val="0B6463"/>
                </a:solidFill>
              </a:rPr>
              <a:t>Assess</a:t>
            </a:r>
            <a:r>
              <a:rPr sz="1300" b="0" i="0">
                <a:solidFill>
                  <a:srgbClr val="1E262B"/>
                </a:solidFill>
              </a:rPr>
              <a:t>  ·  A conclusion, kept</a:t>
            </a:r>
          </a:p>
        </p:txBody>
      </p:sp>
      <p:sp>
        <p:nvSpPr>
          <p:cNvPr id="48" name="Text"/>
          <p:cNvSpPr txBox="1"/>
          <p:nvPr/>
        </p:nvSpPr>
        <p:spPr>
          <a:xfrm>
            <a:off x="8293608" y="4480560"/>
            <a:ext cx="3108960" cy="640080"/>
          </a:xfrm>
          <a:prstGeom prst="rect">
            <a:avLst/>
          </a:prstGeom>
          <a:noFill/>
        </p:spPr>
        <p:txBody>
          <a:bodyPr wrap="square" lIns="0" rIns="0" tIns="0" bIns="0" anchor="t">
            <a:spAutoFit/>
          </a:bodyPr>
          <a:lstStyle/>
          <a:p>
            <a:pPr algn="l"/>
            <a:r>
              <a:rPr sz="1150" b="0" i="0">
                <a:solidFill>
                  <a:srgbClr val="5E6A71"/>
                </a:solidFill>
              </a:rPr>
              <a:t>e.g. Find where differences concentrate</a:t>
            </a:r>
          </a:p>
        </p:txBody>
      </p:sp>
      <p:sp>
        <p:nvSpPr>
          <p:cNvPr id="49" name="Finding"/>
          <p:cNvSpPr/>
          <p:nvPr/>
        </p:nvSpPr>
        <p:spPr>
          <a:xfrm>
            <a:off x="548640" y="5440680"/>
            <a:ext cx="11091672" cy="54864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
          <p:cNvSpPr txBox="1"/>
          <p:nvPr/>
        </p:nvSpPr>
        <p:spPr>
          <a:xfrm>
            <a:off x="822960" y="5440680"/>
            <a:ext cx="10543032" cy="548640"/>
          </a:xfrm>
          <a:prstGeom prst="rect">
            <a:avLst/>
          </a:prstGeom>
          <a:noFill/>
        </p:spPr>
        <p:txBody>
          <a:bodyPr wrap="square" lIns="0" rIns="0" tIns="0" bIns="0" anchor="ctr">
            <a:spAutoFit/>
          </a:bodyPr>
          <a:lstStyle/>
          <a:p>
            <a:pPr algn="l"/>
            <a:r>
              <a:rPr sz="1350" b="1" i="0">
                <a:solidFill>
                  <a:srgbClr val="1E262B"/>
                </a:solidFill>
              </a:rPr>
              <a:t>How many at once changes the screen, not the type.  </a:t>
            </a:r>
            <a:r>
              <a:rPr sz="1350" b="0" i="0">
                <a:solidFill>
                  <a:srgbClr val="1E262B"/>
                </a:solidFill>
              </a:rPr>
              <a:t>Only one conclusion about the whole list is a type of its 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Tried on 430 tasks of 30 roles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DOES IT HOLD?</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7</a:t>
            </a:r>
          </a:p>
        </p:txBody>
      </p:sp>
      <p:sp>
        <p:nvSpPr>
          <p:cNvPr id="5" name="Text"/>
          <p:cNvSpPr txBox="1"/>
          <p:nvPr/>
        </p:nvSpPr>
        <p:spPr>
          <a:xfrm>
            <a:off x="548640" y="1463040"/>
            <a:ext cx="1737360" cy="329184"/>
          </a:xfrm>
          <a:prstGeom prst="rect">
            <a:avLst/>
          </a:prstGeom>
          <a:noFill/>
        </p:spPr>
        <p:txBody>
          <a:bodyPr wrap="square" lIns="0" rIns="0" tIns="0" bIns="0" anchor="ctr">
            <a:spAutoFit/>
          </a:bodyPr>
          <a:lstStyle/>
          <a:p>
            <a:pPr algn="l"/>
            <a:r>
              <a:rPr sz="1350" b="1" i="0">
                <a:solidFill>
                  <a:srgbClr val="1E262B"/>
                </a:solidFill>
              </a:rPr>
              <a:t>Decide</a:t>
            </a:r>
          </a:p>
        </p:txBody>
      </p:sp>
      <p:sp>
        <p:nvSpPr>
          <p:cNvPr id="6" name="Bar"/>
          <p:cNvSpPr/>
          <p:nvPr/>
        </p:nvSpPr>
        <p:spPr>
          <a:xfrm>
            <a:off x="2331720" y="1527048"/>
            <a:ext cx="3108960"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5532119" y="1463040"/>
            <a:ext cx="548640" cy="329184"/>
          </a:xfrm>
          <a:prstGeom prst="rect">
            <a:avLst/>
          </a:prstGeom>
          <a:noFill/>
        </p:spPr>
        <p:txBody>
          <a:bodyPr wrap="square" lIns="0" rIns="0" tIns="0" bIns="0" anchor="ctr">
            <a:spAutoFit/>
          </a:bodyPr>
          <a:lstStyle/>
          <a:p>
            <a:pPr algn="l"/>
            <a:r>
              <a:rPr sz="1300" b="1" i="0">
                <a:solidFill>
                  <a:srgbClr val="0B4A4A"/>
                </a:solidFill>
              </a:rPr>
              <a:t>105</a:t>
            </a:r>
          </a:p>
        </p:txBody>
      </p:sp>
      <p:sp>
        <p:nvSpPr>
          <p:cNvPr id="8" name="Text"/>
          <p:cNvSpPr txBox="1"/>
          <p:nvPr/>
        </p:nvSpPr>
        <p:spPr>
          <a:xfrm>
            <a:off x="548640" y="1856232"/>
            <a:ext cx="1737360" cy="329184"/>
          </a:xfrm>
          <a:prstGeom prst="rect">
            <a:avLst/>
          </a:prstGeom>
          <a:noFill/>
        </p:spPr>
        <p:txBody>
          <a:bodyPr wrap="square" lIns="0" rIns="0" tIns="0" bIns="0" anchor="ctr">
            <a:spAutoFit/>
          </a:bodyPr>
          <a:lstStyle/>
          <a:p>
            <a:pPr algn="l"/>
            <a:r>
              <a:rPr sz="1350" b="1" i="0">
                <a:solidFill>
                  <a:srgbClr val="1E262B"/>
                </a:solidFill>
              </a:rPr>
              <a:t>Record</a:t>
            </a:r>
          </a:p>
        </p:txBody>
      </p:sp>
      <p:sp>
        <p:nvSpPr>
          <p:cNvPr id="9" name="Bar"/>
          <p:cNvSpPr/>
          <p:nvPr/>
        </p:nvSpPr>
        <p:spPr>
          <a:xfrm>
            <a:off x="2331720" y="1920240"/>
            <a:ext cx="2309513"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4732673" y="1856232"/>
            <a:ext cx="548640" cy="329184"/>
          </a:xfrm>
          <a:prstGeom prst="rect">
            <a:avLst/>
          </a:prstGeom>
          <a:noFill/>
        </p:spPr>
        <p:txBody>
          <a:bodyPr wrap="square" lIns="0" rIns="0" tIns="0" bIns="0" anchor="ctr">
            <a:spAutoFit/>
          </a:bodyPr>
          <a:lstStyle/>
          <a:p>
            <a:pPr algn="l"/>
            <a:r>
              <a:rPr sz="1300" b="1" i="0">
                <a:solidFill>
                  <a:srgbClr val="0B4A4A"/>
                </a:solidFill>
              </a:rPr>
              <a:t>78</a:t>
            </a:r>
          </a:p>
        </p:txBody>
      </p:sp>
      <p:sp>
        <p:nvSpPr>
          <p:cNvPr id="11" name="Text"/>
          <p:cNvSpPr txBox="1"/>
          <p:nvPr/>
        </p:nvSpPr>
        <p:spPr>
          <a:xfrm>
            <a:off x="548640" y="2249424"/>
            <a:ext cx="1737360" cy="329184"/>
          </a:xfrm>
          <a:prstGeom prst="rect">
            <a:avLst/>
          </a:prstGeom>
          <a:noFill/>
        </p:spPr>
        <p:txBody>
          <a:bodyPr wrap="square" lIns="0" rIns="0" tIns="0" bIns="0" anchor="ctr">
            <a:spAutoFit/>
          </a:bodyPr>
          <a:lstStyle/>
          <a:p>
            <a:pPr algn="l"/>
            <a:r>
              <a:rPr sz="1350" b="1" i="0">
                <a:solidFill>
                  <a:srgbClr val="1E262B"/>
                </a:solidFill>
              </a:rPr>
              <a:t>Ask</a:t>
            </a:r>
          </a:p>
        </p:txBody>
      </p:sp>
      <p:sp>
        <p:nvSpPr>
          <p:cNvPr id="12" name="Bar"/>
          <p:cNvSpPr/>
          <p:nvPr/>
        </p:nvSpPr>
        <p:spPr>
          <a:xfrm>
            <a:off x="2331720" y="2313432"/>
            <a:ext cx="1362020"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3785180" y="2249424"/>
            <a:ext cx="548640" cy="329184"/>
          </a:xfrm>
          <a:prstGeom prst="rect">
            <a:avLst/>
          </a:prstGeom>
          <a:noFill/>
        </p:spPr>
        <p:txBody>
          <a:bodyPr wrap="square" lIns="0" rIns="0" tIns="0" bIns="0" anchor="ctr">
            <a:spAutoFit/>
          </a:bodyPr>
          <a:lstStyle/>
          <a:p>
            <a:pPr algn="l"/>
            <a:r>
              <a:rPr sz="1300" b="1" i="0">
                <a:solidFill>
                  <a:srgbClr val="0B4A4A"/>
                </a:solidFill>
              </a:rPr>
              <a:t>46</a:t>
            </a:r>
          </a:p>
        </p:txBody>
      </p:sp>
      <p:sp>
        <p:nvSpPr>
          <p:cNvPr id="14" name="Text"/>
          <p:cNvSpPr txBox="1"/>
          <p:nvPr/>
        </p:nvSpPr>
        <p:spPr>
          <a:xfrm>
            <a:off x="548640" y="2642616"/>
            <a:ext cx="1737360" cy="329184"/>
          </a:xfrm>
          <a:prstGeom prst="rect">
            <a:avLst/>
          </a:prstGeom>
          <a:noFill/>
        </p:spPr>
        <p:txBody>
          <a:bodyPr wrap="square" lIns="0" rIns="0" tIns="0" bIns="0" anchor="ctr">
            <a:spAutoFit/>
          </a:bodyPr>
          <a:lstStyle/>
          <a:p>
            <a:pPr algn="l"/>
            <a:r>
              <a:rPr sz="1350" b="1" i="0">
                <a:solidFill>
                  <a:srgbClr val="1E262B"/>
                </a:solidFill>
              </a:rPr>
              <a:t>Answer</a:t>
            </a:r>
          </a:p>
        </p:txBody>
      </p:sp>
      <p:sp>
        <p:nvSpPr>
          <p:cNvPr id="15" name="Bar"/>
          <p:cNvSpPr/>
          <p:nvPr/>
        </p:nvSpPr>
        <p:spPr>
          <a:xfrm>
            <a:off x="2331720" y="2706624"/>
            <a:ext cx="1332411"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3755571" y="2642616"/>
            <a:ext cx="548640" cy="329184"/>
          </a:xfrm>
          <a:prstGeom prst="rect">
            <a:avLst/>
          </a:prstGeom>
          <a:noFill/>
        </p:spPr>
        <p:txBody>
          <a:bodyPr wrap="square" lIns="0" rIns="0" tIns="0" bIns="0" anchor="ctr">
            <a:spAutoFit/>
          </a:bodyPr>
          <a:lstStyle/>
          <a:p>
            <a:pPr algn="l"/>
            <a:r>
              <a:rPr sz="1300" b="1" i="0">
                <a:solidFill>
                  <a:srgbClr val="0B4A4A"/>
                </a:solidFill>
              </a:rPr>
              <a:t>45</a:t>
            </a:r>
          </a:p>
        </p:txBody>
      </p:sp>
      <p:sp>
        <p:nvSpPr>
          <p:cNvPr id="17" name="Text"/>
          <p:cNvSpPr txBox="1"/>
          <p:nvPr/>
        </p:nvSpPr>
        <p:spPr>
          <a:xfrm>
            <a:off x="548640" y="3035808"/>
            <a:ext cx="1737360" cy="329184"/>
          </a:xfrm>
          <a:prstGeom prst="rect">
            <a:avLst/>
          </a:prstGeom>
          <a:noFill/>
        </p:spPr>
        <p:txBody>
          <a:bodyPr wrap="square" lIns="0" rIns="0" tIns="0" bIns="0" anchor="ctr">
            <a:spAutoFit/>
          </a:bodyPr>
          <a:lstStyle/>
          <a:p>
            <a:pPr algn="l"/>
            <a:r>
              <a:rPr sz="1350" b="1" i="0">
                <a:solidFill>
                  <a:srgbClr val="1E262B"/>
                </a:solidFill>
              </a:rPr>
              <a:t>Make</a:t>
            </a:r>
          </a:p>
        </p:txBody>
      </p:sp>
      <p:sp>
        <p:nvSpPr>
          <p:cNvPr id="18" name="Bar"/>
          <p:cNvSpPr/>
          <p:nvPr/>
        </p:nvSpPr>
        <p:spPr>
          <a:xfrm>
            <a:off x="2331720" y="3099816"/>
            <a:ext cx="1154756"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p:cNvSpPr txBox="1"/>
          <p:nvPr/>
        </p:nvSpPr>
        <p:spPr>
          <a:xfrm>
            <a:off x="3577916" y="3035808"/>
            <a:ext cx="548640" cy="329184"/>
          </a:xfrm>
          <a:prstGeom prst="rect">
            <a:avLst/>
          </a:prstGeom>
          <a:noFill/>
        </p:spPr>
        <p:txBody>
          <a:bodyPr wrap="square" lIns="0" rIns="0" tIns="0" bIns="0" anchor="ctr">
            <a:spAutoFit/>
          </a:bodyPr>
          <a:lstStyle/>
          <a:p>
            <a:pPr algn="l"/>
            <a:r>
              <a:rPr sz="1300" b="1" i="0">
                <a:solidFill>
                  <a:srgbClr val="0B4A4A"/>
                </a:solidFill>
              </a:rPr>
              <a:t>39</a:t>
            </a:r>
          </a:p>
        </p:txBody>
      </p:sp>
      <p:sp>
        <p:nvSpPr>
          <p:cNvPr id="20" name="Text"/>
          <p:cNvSpPr txBox="1"/>
          <p:nvPr/>
        </p:nvSpPr>
        <p:spPr>
          <a:xfrm>
            <a:off x="548640" y="3429000"/>
            <a:ext cx="1737360" cy="329184"/>
          </a:xfrm>
          <a:prstGeom prst="rect">
            <a:avLst/>
          </a:prstGeom>
          <a:noFill/>
        </p:spPr>
        <p:txBody>
          <a:bodyPr wrap="square" lIns="0" rIns="0" tIns="0" bIns="0" anchor="ctr">
            <a:spAutoFit/>
          </a:bodyPr>
          <a:lstStyle/>
          <a:p>
            <a:pPr algn="l"/>
            <a:r>
              <a:rPr sz="1350" b="1" i="0">
                <a:solidFill>
                  <a:srgbClr val="1E262B"/>
                </a:solidFill>
              </a:rPr>
              <a:t>Chase</a:t>
            </a:r>
          </a:p>
        </p:txBody>
      </p:sp>
      <p:sp>
        <p:nvSpPr>
          <p:cNvPr id="21" name="Bar"/>
          <p:cNvSpPr/>
          <p:nvPr/>
        </p:nvSpPr>
        <p:spPr>
          <a:xfrm>
            <a:off x="2331720" y="3493008"/>
            <a:ext cx="888274"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3311434" y="3429000"/>
            <a:ext cx="548640" cy="329184"/>
          </a:xfrm>
          <a:prstGeom prst="rect">
            <a:avLst/>
          </a:prstGeom>
          <a:noFill/>
        </p:spPr>
        <p:txBody>
          <a:bodyPr wrap="square" lIns="0" rIns="0" tIns="0" bIns="0" anchor="ctr">
            <a:spAutoFit/>
          </a:bodyPr>
          <a:lstStyle/>
          <a:p>
            <a:pPr algn="l"/>
            <a:r>
              <a:rPr sz="1300" b="1" i="0">
                <a:solidFill>
                  <a:srgbClr val="0B4A4A"/>
                </a:solidFill>
              </a:rPr>
              <a:t>30</a:t>
            </a:r>
          </a:p>
        </p:txBody>
      </p:sp>
      <p:sp>
        <p:nvSpPr>
          <p:cNvPr id="23" name="Text"/>
          <p:cNvSpPr txBox="1"/>
          <p:nvPr/>
        </p:nvSpPr>
        <p:spPr>
          <a:xfrm>
            <a:off x="548640" y="3822191"/>
            <a:ext cx="1737360" cy="329184"/>
          </a:xfrm>
          <a:prstGeom prst="rect">
            <a:avLst/>
          </a:prstGeom>
          <a:noFill/>
        </p:spPr>
        <p:txBody>
          <a:bodyPr wrap="square" lIns="0" rIns="0" tIns="0" bIns="0" anchor="ctr">
            <a:spAutoFit/>
          </a:bodyPr>
          <a:lstStyle/>
          <a:p>
            <a:pPr algn="l"/>
            <a:r>
              <a:rPr sz="1350" b="1" i="0">
                <a:solidFill>
                  <a:srgbClr val="1E262B"/>
                </a:solidFill>
              </a:rPr>
              <a:t>Carry through</a:t>
            </a:r>
          </a:p>
        </p:txBody>
      </p:sp>
      <p:sp>
        <p:nvSpPr>
          <p:cNvPr id="24" name="Bar"/>
          <p:cNvSpPr/>
          <p:nvPr/>
        </p:nvSpPr>
        <p:spPr>
          <a:xfrm>
            <a:off x="2331720" y="3886200"/>
            <a:ext cx="888274"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3311434" y="3822191"/>
            <a:ext cx="548640" cy="329184"/>
          </a:xfrm>
          <a:prstGeom prst="rect">
            <a:avLst/>
          </a:prstGeom>
          <a:noFill/>
        </p:spPr>
        <p:txBody>
          <a:bodyPr wrap="square" lIns="0" rIns="0" tIns="0" bIns="0" anchor="ctr">
            <a:spAutoFit/>
          </a:bodyPr>
          <a:lstStyle/>
          <a:p>
            <a:pPr algn="l"/>
            <a:r>
              <a:rPr sz="1300" b="1" i="0">
                <a:solidFill>
                  <a:srgbClr val="0B4A4A"/>
                </a:solidFill>
              </a:rPr>
              <a:t>30</a:t>
            </a:r>
          </a:p>
        </p:txBody>
      </p:sp>
      <p:sp>
        <p:nvSpPr>
          <p:cNvPr id="26" name="Text"/>
          <p:cNvSpPr txBox="1"/>
          <p:nvPr/>
        </p:nvSpPr>
        <p:spPr>
          <a:xfrm>
            <a:off x="548640" y="4215383"/>
            <a:ext cx="1737360" cy="329184"/>
          </a:xfrm>
          <a:prstGeom prst="rect">
            <a:avLst/>
          </a:prstGeom>
          <a:noFill/>
        </p:spPr>
        <p:txBody>
          <a:bodyPr wrap="square" lIns="0" rIns="0" tIns="0" bIns="0" anchor="ctr">
            <a:spAutoFit/>
          </a:bodyPr>
          <a:lstStyle/>
          <a:p>
            <a:pPr algn="l"/>
            <a:r>
              <a:rPr sz="1350" b="1" i="0">
                <a:solidFill>
                  <a:srgbClr val="1E262B"/>
                </a:solidFill>
              </a:rPr>
              <a:t>Report</a:t>
            </a:r>
          </a:p>
        </p:txBody>
      </p:sp>
      <p:sp>
        <p:nvSpPr>
          <p:cNvPr id="27" name="Bar"/>
          <p:cNvSpPr/>
          <p:nvPr/>
        </p:nvSpPr>
        <p:spPr>
          <a:xfrm>
            <a:off x="2331720" y="4279392"/>
            <a:ext cx="858665"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p:cNvSpPr txBox="1"/>
          <p:nvPr/>
        </p:nvSpPr>
        <p:spPr>
          <a:xfrm>
            <a:off x="3281825" y="4215383"/>
            <a:ext cx="548640" cy="329184"/>
          </a:xfrm>
          <a:prstGeom prst="rect">
            <a:avLst/>
          </a:prstGeom>
          <a:noFill/>
        </p:spPr>
        <p:txBody>
          <a:bodyPr wrap="square" lIns="0" rIns="0" tIns="0" bIns="0" anchor="ctr">
            <a:spAutoFit/>
          </a:bodyPr>
          <a:lstStyle/>
          <a:p>
            <a:pPr algn="l"/>
            <a:r>
              <a:rPr sz="1300" b="1" i="0">
                <a:solidFill>
                  <a:srgbClr val="0B4A4A"/>
                </a:solidFill>
              </a:rPr>
              <a:t>29</a:t>
            </a:r>
          </a:p>
        </p:txBody>
      </p:sp>
      <p:sp>
        <p:nvSpPr>
          <p:cNvPr id="29" name="Text"/>
          <p:cNvSpPr txBox="1"/>
          <p:nvPr/>
        </p:nvSpPr>
        <p:spPr>
          <a:xfrm>
            <a:off x="548640" y="4608576"/>
            <a:ext cx="1737360" cy="329184"/>
          </a:xfrm>
          <a:prstGeom prst="rect">
            <a:avLst/>
          </a:prstGeom>
          <a:noFill/>
        </p:spPr>
        <p:txBody>
          <a:bodyPr wrap="square" lIns="0" rIns="0" tIns="0" bIns="0" anchor="ctr">
            <a:spAutoFit/>
          </a:bodyPr>
          <a:lstStyle/>
          <a:p>
            <a:pPr algn="l"/>
            <a:r>
              <a:rPr sz="1350" b="1" i="0">
                <a:solidFill>
                  <a:srgbClr val="1E262B"/>
                </a:solidFill>
              </a:rPr>
              <a:t>Run a batch</a:t>
            </a:r>
          </a:p>
        </p:txBody>
      </p:sp>
      <p:sp>
        <p:nvSpPr>
          <p:cNvPr id="30" name="Bar"/>
          <p:cNvSpPr/>
          <p:nvPr/>
        </p:nvSpPr>
        <p:spPr>
          <a:xfrm>
            <a:off x="2331720" y="4672584"/>
            <a:ext cx="503355"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p:cNvSpPr txBox="1"/>
          <p:nvPr/>
        </p:nvSpPr>
        <p:spPr>
          <a:xfrm>
            <a:off x="2926515" y="4608576"/>
            <a:ext cx="548640" cy="329184"/>
          </a:xfrm>
          <a:prstGeom prst="rect">
            <a:avLst/>
          </a:prstGeom>
          <a:noFill/>
        </p:spPr>
        <p:txBody>
          <a:bodyPr wrap="square" lIns="0" rIns="0" tIns="0" bIns="0" anchor="ctr">
            <a:spAutoFit/>
          </a:bodyPr>
          <a:lstStyle/>
          <a:p>
            <a:pPr algn="l"/>
            <a:r>
              <a:rPr sz="1300" b="1" i="0">
                <a:solidFill>
                  <a:srgbClr val="0B4A4A"/>
                </a:solidFill>
              </a:rPr>
              <a:t>17</a:t>
            </a:r>
          </a:p>
        </p:txBody>
      </p:sp>
      <p:sp>
        <p:nvSpPr>
          <p:cNvPr id="32" name="Text"/>
          <p:cNvSpPr txBox="1"/>
          <p:nvPr/>
        </p:nvSpPr>
        <p:spPr>
          <a:xfrm>
            <a:off x="548640" y="5001768"/>
            <a:ext cx="1737360" cy="329184"/>
          </a:xfrm>
          <a:prstGeom prst="rect">
            <a:avLst/>
          </a:prstGeom>
          <a:noFill/>
        </p:spPr>
        <p:txBody>
          <a:bodyPr wrap="square" lIns="0" rIns="0" tIns="0" bIns="0" anchor="ctr">
            <a:spAutoFit/>
          </a:bodyPr>
          <a:lstStyle/>
          <a:p>
            <a:pPr algn="l"/>
            <a:r>
              <a:rPr sz="1350" b="1" i="0">
                <a:solidFill>
                  <a:srgbClr val="1E262B"/>
                </a:solidFill>
              </a:rPr>
              <a:t>Assess</a:t>
            </a:r>
          </a:p>
        </p:txBody>
      </p:sp>
      <p:sp>
        <p:nvSpPr>
          <p:cNvPr id="33" name="Bar"/>
          <p:cNvSpPr/>
          <p:nvPr/>
        </p:nvSpPr>
        <p:spPr>
          <a:xfrm>
            <a:off x="2331720" y="5065776"/>
            <a:ext cx="325700" cy="201168"/>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2748860" y="5001768"/>
            <a:ext cx="548640" cy="329184"/>
          </a:xfrm>
          <a:prstGeom prst="rect">
            <a:avLst/>
          </a:prstGeom>
          <a:noFill/>
        </p:spPr>
        <p:txBody>
          <a:bodyPr wrap="square" lIns="0" rIns="0" tIns="0" bIns="0" anchor="ctr">
            <a:spAutoFit/>
          </a:bodyPr>
          <a:lstStyle/>
          <a:p>
            <a:pPr algn="l"/>
            <a:r>
              <a:rPr sz="1300" b="1" i="0">
                <a:solidFill>
                  <a:srgbClr val="0B4A4A"/>
                </a:solidFill>
              </a:rPr>
              <a:t>11</a:t>
            </a:r>
          </a:p>
        </p:txBody>
      </p:sp>
      <p:sp>
        <p:nvSpPr>
          <p:cNvPr id="35" name="Box"/>
          <p:cNvSpPr/>
          <p:nvPr/>
        </p:nvSpPr>
        <p:spPr>
          <a:xfrm>
            <a:off x="6400800" y="1463040"/>
            <a:ext cx="5239512" cy="1143000"/>
          </a:xfrm>
          <a:prstGeom prst="roundRect">
            <a:avLst>
              <a:gd name="adj" fmla="val 719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6629400" y="1645920"/>
            <a:ext cx="4846320" cy="365760"/>
          </a:xfrm>
          <a:prstGeom prst="rect">
            <a:avLst/>
          </a:prstGeom>
          <a:noFill/>
        </p:spPr>
        <p:txBody>
          <a:bodyPr wrap="square" lIns="0" rIns="0" tIns="0" bIns="0" anchor="t">
            <a:spAutoFit/>
          </a:bodyPr>
          <a:lstStyle/>
          <a:p>
            <a:pPr algn="l"/>
            <a:r>
              <a:rPr sz="1600" b="1" i="0">
                <a:solidFill>
                  <a:srgbClr val="0B4A4A"/>
                </a:solidFill>
              </a:rPr>
              <a:t>Every row was given one of the ten.</a:t>
            </a:r>
          </a:p>
        </p:txBody>
      </p:sp>
      <p:sp>
        <p:nvSpPr>
          <p:cNvPr id="37" name="Text"/>
          <p:cNvSpPr txBox="1"/>
          <p:nvPr/>
        </p:nvSpPr>
        <p:spPr>
          <a:xfrm>
            <a:off x="6629400" y="2066544"/>
            <a:ext cx="4846320" cy="411480"/>
          </a:xfrm>
          <a:prstGeom prst="rect">
            <a:avLst/>
          </a:prstGeom>
          <a:noFill/>
        </p:spPr>
        <p:txBody>
          <a:bodyPr wrap="square" lIns="0" rIns="0" tIns="0" bIns="0" anchor="t">
            <a:spAutoFit/>
          </a:bodyPr>
          <a:lstStyle/>
          <a:p>
            <a:pPr algn="l"/>
            <a:r>
              <a:rPr sz="1300" b="0" i="0">
                <a:solidFill>
                  <a:srgbClr val="5E6A71"/>
                </a:solidFill>
              </a:rPr>
              <a:t>One reader placed them all; that does not prove none is missing.</a:t>
            </a:r>
          </a:p>
        </p:txBody>
      </p:sp>
      <p:sp>
        <p:nvSpPr>
          <p:cNvPr id="38" name="Box"/>
          <p:cNvSpPr/>
          <p:nvPr/>
        </p:nvSpPr>
        <p:spPr>
          <a:xfrm>
            <a:off x="6400800" y="2761488"/>
            <a:ext cx="5239512" cy="1143000"/>
          </a:xfrm>
          <a:prstGeom prst="roundRect">
            <a:avLst>
              <a:gd name="adj" fmla="val 7199"/>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6629400" y="2944368"/>
            <a:ext cx="4846320" cy="365760"/>
          </a:xfrm>
          <a:prstGeom prst="rect">
            <a:avLst/>
          </a:prstGeom>
          <a:noFill/>
        </p:spPr>
        <p:txBody>
          <a:bodyPr wrap="square" lIns="0" rIns="0" tIns="0" bIns="0" anchor="t">
            <a:spAutoFit/>
          </a:bodyPr>
          <a:lstStyle/>
          <a:p>
            <a:pPr algn="l"/>
            <a:r>
              <a:rPr sz="1600" b="1" i="0">
                <a:solidFill>
                  <a:srgbClr val="0B4A4A"/>
                </a:solidFill>
              </a:rPr>
              <a:t>81 sit between two types.</a:t>
            </a:r>
          </a:p>
        </p:txBody>
      </p:sp>
      <p:sp>
        <p:nvSpPr>
          <p:cNvPr id="40" name="Text"/>
          <p:cNvSpPr txBox="1"/>
          <p:nvPr/>
        </p:nvSpPr>
        <p:spPr>
          <a:xfrm>
            <a:off x="6629400" y="3364992"/>
            <a:ext cx="4846320" cy="411480"/>
          </a:xfrm>
          <a:prstGeom prst="rect">
            <a:avLst/>
          </a:prstGeom>
          <a:noFill/>
        </p:spPr>
        <p:txBody>
          <a:bodyPr wrap="square" lIns="0" rIns="0" tIns="0" bIns="0" anchor="t">
            <a:spAutoFit/>
          </a:bodyPr>
          <a:lstStyle/>
          <a:p>
            <a:pPr algn="l"/>
            <a:r>
              <a:rPr sz="1300" b="0" i="0">
                <a:solidFill>
                  <a:srgbClr val="5E6A71"/>
                </a:solidFill>
              </a:rPr>
              <a:t>Most are two tasks in one row.</a:t>
            </a:r>
          </a:p>
        </p:txBody>
      </p:sp>
      <p:sp>
        <p:nvSpPr>
          <p:cNvPr id="41" name="Box"/>
          <p:cNvSpPr/>
          <p:nvPr/>
        </p:nvSpPr>
        <p:spPr>
          <a:xfrm>
            <a:off x="6400800" y="4059935"/>
            <a:ext cx="5239512" cy="1143000"/>
          </a:xfrm>
          <a:prstGeom prst="roundRect">
            <a:avLst>
              <a:gd name="adj" fmla="val 719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6629400" y="4242816"/>
            <a:ext cx="4846320" cy="365760"/>
          </a:xfrm>
          <a:prstGeom prst="rect">
            <a:avLst/>
          </a:prstGeom>
          <a:noFill/>
        </p:spPr>
        <p:txBody>
          <a:bodyPr wrap="square" lIns="0" rIns="0" tIns="0" bIns="0" anchor="t">
            <a:spAutoFit/>
          </a:bodyPr>
          <a:lstStyle/>
          <a:p>
            <a:pPr algn="l"/>
            <a:r>
              <a:rPr sz="1600" b="1" i="0">
                <a:solidFill>
                  <a:srgbClr val="0B4A4A"/>
                </a:solidFill>
              </a:rPr>
              <a:t>Cases and batches sit in the people roles.</a:t>
            </a:r>
          </a:p>
        </p:txBody>
      </p:sp>
      <p:sp>
        <p:nvSpPr>
          <p:cNvPr id="43" name="Text"/>
          <p:cNvSpPr txBox="1"/>
          <p:nvPr/>
        </p:nvSpPr>
        <p:spPr>
          <a:xfrm>
            <a:off x="6629400" y="4663440"/>
            <a:ext cx="4846320" cy="411480"/>
          </a:xfrm>
          <a:prstGeom prst="rect">
            <a:avLst/>
          </a:prstGeom>
          <a:noFill/>
        </p:spPr>
        <p:txBody>
          <a:bodyPr wrap="square" lIns="0" rIns="0" tIns="0" bIns="0" anchor="t">
            <a:spAutoFit/>
          </a:bodyPr>
          <a:lstStyle/>
          <a:p>
            <a:pPr algn="l"/>
            <a:r>
              <a:rPr sz="1300" b="0" i="0">
                <a:solidFill>
                  <a:srgbClr val="5E6A71"/>
                </a:solidFill>
              </a:rPr>
              <a:t>28 of 30 and 16 of 17, in these files.</a:t>
            </a:r>
          </a:p>
        </p:txBody>
      </p:sp>
      <p:sp>
        <p:nvSpPr>
          <p:cNvPr id="44" name="Finding"/>
          <p:cNvSpPr/>
          <p:nvPr/>
        </p:nvSpPr>
        <p:spPr>
          <a:xfrm>
            <a:off x="548640" y="5532120"/>
            <a:ext cx="11091672" cy="54864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p:cNvSpPr txBox="1"/>
          <p:nvPr/>
        </p:nvSpPr>
        <p:spPr>
          <a:xfrm>
            <a:off x="822960" y="5532120"/>
            <a:ext cx="10543032" cy="548640"/>
          </a:xfrm>
          <a:prstGeom prst="rect">
            <a:avLst/>
          </a:prstGeom>
          <a:noFill/>
        </p:spPr>
        <p:txBody>
          <a:bodyPr wrap="square" lIns="0" rIns="0" tIns="0" bIns="0" anchor="ctr">
            <a:spAutoFit/>
          </a:bodyPr>
          <a:lstStyle/>
          <a:p>
            <a:pPr algn="l"/>
            <a:r>
              <a:rPr sz="1350" b="1" i="0">
                <a:solidFill>
                  <a:srgbClr val="1E262B"/>
                </a:solidFill>
              </a:rPr>
              <a:t>Every row, with its type, is in a file beside this deck.  </a:t>
            </a:r>
            <a:r>
              <a:rPr sz="1350" b="0" i="0">
                <a:solidFill>
                  <a:srgbClr val="1E262B"/>
                </a:solidFill>
              </a:rPr>
              <a:t>Any row can be checked, and any type argued with.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Decide: the evidence first, the endings at the foot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1 OF 10 · 105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8</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item and its evidence, side by side.</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The choice; a reason only on departure.</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Someone else's move, at once.</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Approve on a list row: it hides the evidence.</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Decide an order sent for credit review</a:t>
            </a:r>
          </a:p>
          <a:p>
            <a:pPr algn="l">
              <a:spcAft>
                <a:spcPts val="100"/>
              </a:spcAft>
            </a:pPr>
            <a:r>
              <a:rPr sz="1200" b="0" i="0">
                <a:solidFill>
                  <a:srgbClr val="5E6A71"/>
                </a:solidFill>
              </a:rPr>
              <a:t>·  Decide a stock adjustment</a:t>
            </a:r>
          </a:p>
          <a:p>
            <a:pPr algn="l">
              <a:spcAft>
                <a:spcPts val="100"/>
              </a:spcAft>
            </a:pPr>
            <a:r>
              <a:rPr sz="1200" b="0" i="0">
                <a:solidFill>
                  <a:srgbClr val="5E6A71"/>
                </a:solidFill>
              </a:rPr>
              <a:t>·  Review renewals and expiry  (many at once)</a:t>
            </a:r>
          </a:p>
        </p:txBody>
      </p:sp>
      <p:sp>
        <p:nvSpPr>
          <p:cNvPr id="20" name="Capture frame"/>
          <p:cNvSpPr/>
          <p:nvPr/>
        </p:nvSpPr>
        <p:spPr>
          <a:xfrm>
            <a:off x="6246730" y="1371600"/>
            <a:ext cx="4816131"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ill.png"/>
          <p:cNvPicPr>
            <a:picLocks noChangeAspect="1"/>
          </p:cNvPicPr>
          <p:nvPr/>
        </p:nvPicPr>
        <p:blipFill>
          <a:blip r:embed="rId3"/>
          <a:stretch>
            <a:fillRect/>
          </a:stretch>
        </p:blipFill>
        <p:spPr>
          <a:xfrm>
            <a:off x="6246730" y="1371600"/>
            <a:ext cx="4816131" cy="3931920"/>
          </a:xfrm>
          <a:prstGeom prst="rect">
            <a:avLst/>
          </a:prstGeom>
        </p:spPr>
      </p:pic>
      <p:sp>
        <p:nvSpPr>
          <p:cNvPr id="22" name="Mark"/>
          <p:cNvSpPr/>
          <p:nvPr/>
        </p:nvSpPr>
        <p:spPr>
          <a:xfrm>
            <a:off x="6326685" y="1935990"/>
            <a:ext cx="1142890" cy="141097"/>
          </a:xfrm>
          <a:prstGeom prst="rect">
            <a:avLst/>
          </a:prstGeom>
          <a:noFill/>
          <a:ln w="28575">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7469576" y="1896811"/>
            <a:ext cx="685800" cy="219456"/>
          </a:xfrm>
          <a:prstGeom prst="rect">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7469576" y="1896811"/>
            <a:ext cx="685800" cy="219456"/>
          </a:xfrm>
          <a:prstGeom prst="rect">
            <a:avLst/>
          </a:prstGeom>
          <a:noFill/>
        </p:spPr>
        <p:txBody>
          <a:bodyPr wrap="square" lIns="0" rIns="0" tIns="0" bIns="0" anchor="ctr">
            <a:spAutoFit/>
          </a:bodyPr>
          <a:lstStyle/>
          <a:p>
            <a:pPr algn="ctr"/>
            <a:r>
              <a:rPr sz="950" b="1" i="0">
                <a:solidFill>
                  <a:srgbClr val="FFFFFF"/>
                </a:solidFill>
              </a:rPr>
              <a:t>HOLDER</a:t>
            </a:r>
          </a:p>
        </p:txBody>
      </p:sp>
      <p:sp>
        <p:nvSpPr>
          <p:cNvPr id="25" name="Mark"/>
          <p:cNvSpPr/>
          <p:nvPr/>
        </p:nvSpPr>
        <p:spPr>
          <a:xfrm>
            <a:off x="6340795" y="2147636"/>
            <a:ext cx="4628001" cy="2497427"/>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10438444" y="1928180"/>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438444" y="1928180"/>
            <a:ext cx="530352" cy="219456"/>
          </a:xfrm>
          <a:prstGeom prst="rect">
            <a:avLst/>
          </a:prstGeom>
          <a:noFill/>
        </p:spPr>
        <p:txBody>
          <a:bodyPr wrap="square" lIns="0" rIns="0" tIns="0" bIns="0" anchor="ctr">
            <a:spAutoFit/>
          </a:bodyPr>
          <a:lstStyle/>
          <a:p>
            <a:pPr algn="ctr"/>
            <a:r>
              <a:rPr sz="950" b="1" i="0">
                <a:solidFill>
                  <a:srgbClr val="FFFFFF"/>
                </a:solidFill>
              </a:rPr>
              <a:t>SHOW</a:t>
            </a:r>
          </a:p>
        </p:txBody>
      </p:sp>
      <p:sp>
        <p:nvSpPr>
          <p:cNvPr id="28" name="Mark"/>
          <p:cNvSpPr/>
          <p:nvPr/>
        </p:nvSpPr>
        <p:spPr>
          <a:xfrm>
            <a:off x="6340795" y="4786162"/>
            <a:ext cx="2469208" cy="465622"/>
          </a:xfrm>
          <a:prstGeom prst="rect">
            <a:avLst/>
          </a:prstGeom>
          <a:noFill/>
          <a:ln w="2857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8201927" y="4566706"/>
            <a:ext cx="608076" cy="219456"/>
          </a:xfrm>
          <a:prstGeom prst="rect">
            <a:avLst/>
          </a:prstGeom>
          <a:solidFill>
            <a:srgbClr val="B33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8201927" y="4566706"/>
            <a:ext cx="608076" cy="219456"/>
          </a:xfrm>
          <a:prstGeom prst="rect">
            <a:avLst/>
          </a:prstGeom>
          <a:noFill/>
        </p:spPr>
        <p:txBody>
          <a:bodyPr wrap="square" lIns="0" rIns="0" tIns="0" bIns="0" anchor="ctr">
            <a:spAutoFit/>
          </a:bodyPr>
          <a:lstStyle/>
          <a:p>
            <a:pPr algn="ctr"/>
            <a:r>
              <a:rPr sz="950" b="1" i="0">
                <a:solidFill>
                  <a:srgbClr val="FFFFFF"/>
                </a:solidFill>
              </a:rPr>
              <a:t>CHECK</a:t>
            </a:r>
          </a:p>
        </p:txBody>
      </p:sp>
      <p:sp>
        <p:nvSpPr>
          <p:cNvPr id="31" name="Mark"/>
          <p:cNvSpPr/>
          <p:nvPr/>
        </p:nvSpPr>
        <p:spPr>
          <a:xfrm>
            <a:off x="8873497" y="4894336"/>
            <a:ext cx="813662" cy="249272"/>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x"/>
          <p:cNvSpPr/>
          <p:nvPr/>
        </p:nvSpPr>
        <p:spPr>
          <a:xfrm>
            <a:off x="8873497" y="5143609"/>
            <a:ext cx="763524"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8873497" y="5143609"/>
            <a:ext cx="763524" cy="219456"/>
          </a:xfrm>
          <a:prstGeom prst="rect">
            <a:avLst/>
          </a:prstGeom>
          <a:noFill/>
        </p:spPr>
        <p:txBody>
          <a:bodyPr wrap="square" lIns="0" rIns="0" tIns="0" bIns="0" anchor="ctr">
            <a:spAutoFit/>
          </a:bodyPr>
          <a:lstStyle/>
          <a:p>
            <a:pPr algn="ctr"/>
            <a:r>
              <a:rPr sz="950" b="1" i="0">
                <a:solidFill>
                  <a:srgbClr val="FFFFFF"/>
                </a:solidFill>
              </a:rPr>
              <a:t>A CHASE</a:t>
            </a:r>
          </a:p>
        </p:txBody>
      </p:sp>
      <p:sp>
        <p:nvSpPr>
          <p:cNvPr id="34" name="Mark"/>
          <p:cNvSpPr/>
          <p:nvPr/>
        </p:nvSpPr>
        <p:spPr>
          <a:xfrm>
            <a:off x="9703621" y="4894336"/>
            <a:ext cx="1269878" cy="249272"/>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ox"/>
          <p:cNvSpPr/>
          <p:nvPr/>
        </p:nvSpPr>
        <p:spPr>
          <a:xfrm>
            <a:off x="9899080" y="5143609"/>
            <a:ext cx="1074420"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9899080" y="5143609"/>
            <a:ext cx="1074420" cy="219456"/>
          </a:xfrm>
          <a:prstGeom prst="rect">
            <a:avLst/>
          </a:prstGeom>
          <a:noFill/>
        </p:spPr>
        <p:txBody>
          <a:bodyPr wrap="square" lIns="0" rIns="0" tIns="0" bIns="0" anchor="ctr">
            <a:spAutoFit/>
          </a:bodyPr>
          <a:lstStyle/>
          <a:p>
            <a:pPr algn="ctr"/>
            <a:r>
              <a:rPr sz="950" b="1" i="0">
                <a:solidFill>
                  <a:srgbClr val="FFFFFF"/>
                </a:solidFill>
              </a:rPr>
              <a:t>THE ENDINGS</a:t>
            </a:r>
          </a:p>
        </p:txBody>
      </p:sp>
      <p:sp>
        <p:nvSpPr>
          <p:cNvPr id="37"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matching a service bill to its Works Order</a:t>
            </a:r>
          </a:p>
        </p:txBody>
      </p:sp>
      <p:sp>
        <p:nvSpPr>
          <p:cNvPr id="38"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a:t>
            </a:r>
            <a:r>
              <a:rPr sz="1350" b="0" i="0">
                <a:solidFill>
                  <a:srgbClr val="1E262B"/>
                </a:solidFill>
              </a:rPr>
              <a:t>Pattern: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Make: a start that is not blank, saved as it goes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2 OF 10 · 39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9</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A start that is not blank: the last one like it.</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Many inputs, with interruptions; it saves itself.</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Usually an approver's move.</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One long page; it loses the place.</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Raise a PO</a:t>
            </a:r>
          </a:p>
          <a:p>
            <a:pPr algn="l">
              <a:spcAft>
                <a:spcPts val="100"/>
              </a:spcAft>
            </a:pPr>
            <a:r>
              <a:rPr sz="1200" b="0" i="0">
                <a:solidFill>
                  <a:srgbClr val="5E6A71"/>
                </a:solidFill>
              </a:rPr>
              <a:t>·  Prepare a workforce plan</a:t>
            </a:r>
          </a:p>
          <a:p>
            <a:pPr algn="l">
              <a:spcAft>
                <a:spcPts val="100"/>
              </a:spcAft>
            </a:pPr>
            <a:r>
              <a:rPr sz="1200" b="0" i="0">
                <a:solidFill>
                  <a:srgbClr val="5E6A71"/>
                </a:solidFill>
              </a:rPr>
              <a:t>·  Plan a count cycle</a:t>
            </a:r>
          </a:p>
        </p:txBody>
      </p:sp>
      <p:sp>
        <p:nvSpPr>
          <p:cNvPr id="20" name="Capture frame"/>
          <p:cNvSpPr/>
          <p:nvPr/>
        </p:nvSpPr>
        <p:spPr>
          <a:xfrm>
            <a:off x="6435233" y="1371600"/>
            <a:ext cx="4439124"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new-works-order-4.png"/>
          <p:cNvPicPr>
            <a:picLocks noChangeAspect="1"/>
          </p:cNvPicPr>
          <p:nvPr/>
        </p:nvPicPr>
        <p:blipFill>
          <a:blip r:embed="rId3"/>
          <a:stretch>
            <a:fillRect/>
          </a:stretch>
        </p:blipFill>
        <p:spPr>
          <a:xfrm>
            <a:off x="6435233" y="1371600"/>
            <a:ext cx="4439124" cy="3931920"/>
          </a:xfrm>
          <a:prstGeom prst="rect">
            <a:avLst/>
          </a:prstGeom>
        </p:spPr>
      </p:pic>
      <p:sp>
        <p:nvSpPr>
          <p:cNvPr id="22" name="Mark"/>
          <p:cNvSpPr/>
          <p:nvPr/>
        </p:nvSpPr>
        <p:spPr>
          <a:xfrm>
            <a:off x="6521935" y="1972008"/>
            <a:ext cx="2583709" cy="3106086"/>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6521935" y="5078095"/>
            <a:ext cx="763524"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6521935" y="5078095"/>
            <a:ext cx="763524" cy="219456"/>
          </a:xfrm>
          <a:prstGeom prst="rect">
            <a:avLst/>
          </a:prstGeom>
          <a:noFill/>
        </p:spPr>
        <p:txBody>
          <a:bodyPr wrap="square" lIns="0" rIns="0" tIns="0" bIns="0" anchor="ctr">
            <a:spAutoFit/>
          </a:bodyPr>
          <a:lstStyle/>
          <a:p>
            <a:pPr algn="ctr"/>
            <a:r>
              <a:rPr sz="950" b="1" i="0">
                <a:solidFill>
                  <a:srgbClr val="FFFFFF"/>
                </a:solidFill>
              </a:rPr>
              <a:t>CAPTURE</a:t>
            </a:r>
          </a:p>
        </p:txBody>
      </p:sp>
      <p:sp>
        <p:nvSpPr>
          <p:cNvPr id="25" name="Mark"/>
          <p:cNvSpPr/>
          <p:nvPr/>
        </p:nvSpPr>
        <p:spPr>
          <a:xfrm>
            <a:off x="9157665" y="1972008"/>
            <a:ext cx="1629991" cy="2076504"/>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10257304" y="4048513"/>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257304" y="4048513"/>
            <a:ext cx="530352" cy="219456"/>
          </a:xfrm>
          <a:prstGeom prst="rect">
            <a:avLst/>
          </a:prstGeom>
          <a:noFill/>
        </p:spPr>
        <p:txBody>
          <a:bodyPr wrap="square" lIns="0" rIns="0" tIns="0" bIns="0" anchor="ctr">
            <a:spAutoFit/>
          </a:bodyPr>
          <a:lstStyle/>
          <a:p>
            <a:pPr algn="ctr"/>
            <a:r>
              <a:rPr sz="950" b="1" i="0">
                <a:solidFill>
                  <a:srgbClr val="FFFFFF"/>
                </a:solidFill>
              </a:rPr>
              <a:t>SHOW</a:t>
            </a:r>
          </a:p>
        </p:txBody>
      </p:sp>
      <p:sp>
        <p:nvSpPr>
          <p:cNvPr id="28" name="Mark"/>
          <p:cNvSpPr/>
          <p:nvPr/>
        </p:nvSpPr>
        <p:spPr>
          <a:xfrm>
            <a:off x="7432302" y="2986418"/>
            <a:ext cx="780314" cy="227591"/>
          </a:xfrm>
          <a:prstGeom prst="rect">
            <a:avLst/>
          </a:prstGeom>
          <a:noFill/>
          <a:ln w="2857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Mark"/>
          <p:cNvSpPr/>
          <p:nvPr/>
        </p:nvSpPr>
        <p:spPr>
          <a:xfrm>
            <a:off x="6621642" y="4107037"/>
            <a:ext cx="1027414" cy="229759"/>
          </a:xfrm>
          <a:prstGeom prst="rect">
            <a:avLst/>
          </a:prstGeom>
          <a:noFill/>
          <a:ln w="2857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x"/>
          <p:cNvSpPr/>
          <p:nvPr/>
        </p:nvSpPr>
        <p:spPr>
          <a:xfrm>
            <a:off x="7649056" y="4112188"/>
            <a:ext cx="608076" cy="219456"/>
          </a:xfrm>
          <a:prstGeom prst="rect">
            <a:avLst/>
          </a:prstGeom>
          <a:solidFill>
            <a:srgbClr val="B33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p:cNvSpPr txBox="1"/>
          <p:nvPr/>
        </p:nvSpPr>
        <p:spPr>
          <a:xfrm>
            <a:off x="7649056" y="4112188"/>
            <a:ext cx="608076" cy="219456"/>
          </a:xfrm>
          <a:prstGeom prst="rect">
            <a:avLst/>
          </a:prstGeom>
          <a:noFill/>
        </p:spPr>
        <p:txBody>
          <a:bodyPr wrap="square" lIns="0" rIns="0" tIns="0" bIns="0" anchor="ctr">
            <a:spAutoFit/>
          </a:bodyPr>
          <a:lstStyle/>
          <a:p>
            <a:pPr algn="ctr"/>
            <a:r>
              <a:rPr sz="950" b="1" i="0">
                <a:solidFill>
                  <a:srgbClr val="FFFFFF"/>
                </a:solidFill>
              </a:rPr>
              <a:t>CHECK</a:t>
            </a:r>
          </a:p>
        </p:txBody>
      </p:sp>
      <p:sp>
        <p:nvSpPr>
          <p:cNvPr id="32" name="Mark"/>
          <p:cNvSpPr/>
          <p:nvPr/>
        </p:nvSpPr>
        <p:spPr>
          <a:xfrm>
            <a:off x="6621642" y="4449508"/>
            <a:ext cx="2392965" cy="563560"/>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ox"/>
          <p:cNvSpPr/>
          <p:nvPr/>
        </p:nvSpPr>
        <p:spPr>
          <a:xfrm>
            <a:off x="9014607" y="4621561"/>
            <a:ext cx="918971"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9014607" y="4621561"/>
            <a:ext cx="918971" cy="219456"/>
          </a:xfrm>
          <a:prstGeom prst="rect">
            <a:avLst/>
          </a:prstGeom>
          <a:noFill/>
        </p:spPr>
        <p:txBody>
          <a:bodyPr wrap="square" lIns="0" rIns="0" tIns="0" bIns="0" anchor="ctr">
            <a:spAutoFit/>
          </a:bodyPr>
          <a:lstStyle/>
          <a:p>
            <a:pPr algn="ctr"/>
            <a:r>
              <a:rPr sz="950" b="1" i="0">
                <a:solidFill>
                  <a:srgbClr val="FFFFFF"/>
                </a:solidFill>
              </a:rPr>
              <a:t>HAND-OVER</a:t>
            </a:r>
          </a:p>
        </p:txBody>
      </p:sp>
      <p:sp>
        <p:nvSpPr>
          <p:cNvPr id="35"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raising a Works Order, last stage</a:t>
            </a:r>
          </a:p>
        </p:txBody>
      </p:sp>
      <p:sp>
        <p:nvSpPr>
          <p:cNvPr id="36"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Capture leads.  </a:t>
            </a:r>
            <a:r>
              <a:rPr sz="1350" b="0" i="0">
                <a:solidFill>
                  <a:srgbClr val="1E262B"/>
                </a:solidFill>
              </a:rPr>
              <a:t>Pattern: Flow, or a Form when small.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Record: filled in from what was expected</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3 OF 10 · 78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10</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What was expected: the order, the challan, the change.</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Only what differs, and fast.</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Often nobody: the record is the end.</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blank form that retypes what is known.</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Record a delivery</a:t>
            </a:r>
          </a:p>
          <a:p>
            <a:pPr algn="l">
              <a:spcAft>
                <a:spcPts val="100"/>
              </a:spcAft>
            </a:pPr>
            <a:r>
              <a:rPr sz="1200" b="0" i="0">
                <a:solidFill>
                  <a:srgbClr val="5E6A71"/>
                </a:solidFill>
              </a:rPr>
              <a:t>·  Capture a document</a:t>
            </a:r>
          </a:p>
          <a:p>
            <a:pPr algn="l">
              <a:spcAft>
                <a:spcPts val="100"/>
              </a:spcAft>
            </a:pPr>
            <a:r>
              <a:rPr sz="1200" b="0" i="0">
                <a:solidFill>
                  <a:srgbClr val="5E6A71"/>
                </a:solidFill>
              </a:rPr>
              <a:t>·  Update an employee's details</a:t>
            </a:r>
          </a:p>
        </p:txBody>
      </p:sp>
      <p:sp>
        <p:nvSpPr>
          <p:cNvPr id="20" name="Capture frame"/>
          <p:cNvSpPr/>
          <p:nvPr/>
        </p:nvSpPr>
        <p:spPr>
          <a:xfrm>
            <a:off x="6246730" y="1371600"/>
            <a:ext cx="4816131"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papers.png"/>
          <p:cNvPicPr>
            <a:picLocks noChangeAspect="1"/>
          </p:cNvPicPr>
          <p:nvPr/>
        </p:nvPicPr>
        <p:blipFill>
          <a:blip r:embed="rId3"/>
          <a:stretch>
            <a:fillRect/>
          </a:stretch>
        </p:blipFill>
        <p:spPr>
          <a:xfrm>
            <a:off x="6246730" y="1371600"/>
            <a:ext cx="4816131" cy="3931920"/>
          </a:xfrm>
          <a:prstGeom prst="rect">
            <a:avLst/>
          </a:prstGeom>
        </p:spPr>
      </p:pic>
      <p:sp>
        <p:nvSpPr>
          <p:cNvPr id="22" name="Mark"/>
          <p:cNvSpPr/>
          <p:nvPr/>
        </p:nvSpPr>
        <p:spPr>
          <a:xfrm>
            <a:off x="6340795" y="2147636"/>
            <a:ext cx="4628001" cy="2060025"/>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10205272" y="1928180"/>
            <a:ext cx="763524"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10205272" y="1928180"/>
            <a:ext cx="763524" cy="219456"/>
          </a:xfrm>
          <a:prstGeom prst="rect">
            <a:avLst/>
          </a:prstGeom>
          <a:noFill/>
        </p:spPr>
        <p:txBody>
          <a:bodyPr wrap="square" lIns="0" rIns="0" tIns="0" bIns="0" anchor="ctr">
            <a:spAutoFit/>
          </a:bodyPr>
          <a:lstStyle/>
          <a:p>
            <a:pPr algn="ctr"/>
            <a:r>
              <a:rPr sz="950" b="1" i="0">
                <a:solidFill>
                  <a:srgbClr val="FFFFFF"/>
                </a:solidFill>
              </a:rPr>
              <a:t>CAPTURE</a:t>
            </a:r>
          </a:p>
        </p:txBody>
      </p:sp>
      <p:sp>
        <p:nvSpPr>
          <p:cNvPr id="25" name="Mark"/>
          <p:cNvSpPr/>
          <p:nvPr/>
        </p:nvSpPr>
        <p:spPr>
          <a:xfrm>
            <a:off x="6448970" y="3194110"/>
            <a:ext cx="4411651" cy="564390"/>
          </a:xfrm>
          <a:prstGeom prst="rect">
            <a:avLst/>
          </a:prstGeom>
          <a:noFill/>
          <a:ln w="2857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10252545" y="2974654"/>
            <a:ext cx="608076" cy="219456"/>
          </a:xfrm>
          <a:prstGeom prst="rect">
            <a:avLst/>
          </a:prstGeom>
          <a:solidFill>
            <a:srgbClr val="B33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252545" y="2974654"/>
            <a:ext cx="608076" cy="219456"/>
          </a:xfrm>
          <a:prstGeom prst="rect">
            <a:avLst/>
          </a:prstGeom>
          <a:noFill/>
        </p:spPr>
        <p:txBody>
          <a:bodyPr wrap="square" lIns="0" rIns="0" tIns="0" bIns="0" anchor="ctr">
            <a:spAutoFit/>
          </a:bodyPr>
          <a:lstStyle/>
          <a:p>
            <a:pPr algn="ctr"/>
            <a:r>
              <a:rPr sz="950" b="1" i="0">
                <a:solidFill>
                  <a:srgbClr val="FFFFFF"/>
                </a:solidFill>
              </a:rPr>
              <a:t>CHECK</a:t>
            </a:r>
          </a:p>
        </p:txBody>
      </p:sp>
      <p:sp>
        <p:nvSpPr>
          <p:cNvPr id="28" name="Mark"/>
          <p:cNvSpPr/>
          <p:nvPr/>
        </p:nvSpPr>
        <p:spPr>
          <a:xfrm>
            <a:off x="6448970" y="3911356"/>
            <a:ext cx="3057114" cy="225756"/>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9506084" y="3914507"/>
            <a:ext cx="1152144"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9506084" y="3914507"/>
            <a:ext cx="1152144" cy="219456"/>
          </a:xfrm>
          <a:prstGeom prst="rect">
            <a:avLst/>
          </a:prstGeom>
          <a:noFill/>
        </p:spPr>
        <p:txBody>
          <a:bodyPr wrap="square" lIns="0" rIns="0" tIns="0" bIns="0" anchor="ctr">
            <a:spAutoFit/>
          </a:bodyPr>
          <a:lstStyle/>
          <a:p>
            <a:pPr algn="ctr"/>
            <a:r>
              <a:rPr sz="950" b="1" i="0">
                <a:solidFill>
                  <a:srgbClr val="FFFFFF"/>
                </a:solidFill>
              </a:rPr>
              <a:t>FORM-ACTIONS</a:t>
            </a:r>
          </a:p>
        </p:txBody>
      </p:sp>
      <p:sp>
        <p:nvSpPr>
          <p:cNvPr id="31" name="Mark"/>
          <p:cNvSpPr/>
          <p:nvPr/>
        </p:nvSpPr>
        <p:spPr>
          <a:xfrm>
            <a:off x="6340795" y="4264100"/>
            <a:ext cx="4628001" cy="1030012"/>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x"/>
          <p:cNvSpPr/>
          <p:nvPr/>
        </p:nvSpPr>
        <p:spPr>
          <a:xfrm>
            <a:off x="10438444" y="4264100"/>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10438444" y="4264100"/>
            <a:ext cx="530352" cy="219456"/>
          </a:xfrm>
          <a:prstGeom prst="rect">
            <a:avLst/>
          </a:prstGeom>
          <a:noFill/>
        </p:spPr>
        <p:txBody>
          <a:bodyPr wrap="square" lIns="0" rIns="0" tIns="0" bIns="0" anchor="ctr">
            <a:spAutoFit/>
          </a:bodyPr>
          <a:lstStyle/>
          <a:p>
            <a:pPr algn="ctr"/>
            <a:r>
              <a:rPr sz="950" b="1" i="0">
                <a:solidFill>
                  <a:srgbClr val="FFFFFF"/>
                </a:solidFill>
              </a:rPr>
              <a:t>SHOW</a:t>
            </a:r>
          </a:p>
        </p:txBody>
      </p:sp>
      <p:sp>
        <p:nvSpPr>
          <p:cNvPr id="34"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a contractor's papers for a month</a:t>
            </a:r>
          </a:p>
        </p:txBody>
      </p:sp>
      <p:sp>
        <p:nvSpPr>
          <p:cNvPr id="35"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Capture leads, filled in already.  </a:t>
            </a:r>
            <a:r>
              <a:rPr sz="1350" b="0" i="0">
                <a:solidFill>
                  <a:srgbClr val="1E262B"/>
                </a:solidFill>
              </a:rPr>
              <a:t>Pattern: Form, filled in from what was expected.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Ask: a small form, opened on the item</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4 OF 10 · 46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11</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item, and what the receiver needs to say yes.</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What is asked, and why; often one press.</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The receiver's move; a chase if it waits.</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page of its own, away from the item.</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Request a credit-hold release</a:t>
            </a:r>
          </a:p>
          <a:p>
            <a:pPr algn="l">
              <a:spcAft>
                <a:spcPts val="100"/>
              </a:spcAft>
            </a:pPr>
            <a:r>
              <a:rPr sz="1200" b="0" i="0">
                <a:solidFill>
                  <a:srgbClr val="5E6A71"/>
                </a:solidFill>
              </a:rPr>
              <a:t>·  Raise an indent</a:t>
            </a:r>
          </a:p>
          <a:p>
            <a:pPr algn="l">
              <a:spcAft>
                <a:spcPts val="100"/>
              </a:spcAft>
            </a:pPr>
            <a:r>
              <a:rPr sz="1200" b="0" i="0">
                <a:solidFill>
                  <a:srgbClr val="5E6A71"/>
                </a:solidFill>
              </a:rPr>
              <a:t>·  Ask for a new item</a:t>
            </a:r>
          </a:p>
        </p:txBody>
      </p:sp>
      <p:sp>
        <p:nvSpPr>
          <p:cNvPr id="20" name="Capture frame"/>
          <p:cNvSpPr/>
          <p:nvPr/>
        </p:nvSpPr>
        <p:spPr>
          <a:xfrm>
            <a:off x="7088581" y="1371600"/>
            <a:ext cx="3132429"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ask-panel.png"/>
          <p:cNvPicPr>
            <a:picLocks noChangeAspect="1"/>
          </p:cNvPicPr>
          <p:nvPr/>
        </p:nvPicPr>
        <p:blipFill>
          <a:blip r:embed="rId3"/>
          <a:stretch>
            <a:fillRect/>
          </a:stretch>
        </p:blipFill>
        <p:spPr>
          <a:xfrm>
            <a:off x="7088581" y="1371600"/>
            <a:ext cx="3132429" cy="3931920"/>
          </a:xfrm>
          <a:prstGeom prst="rect">
            <a:avLst/>
          </a:prstGeom>
        </p:spPr>
      </p:pic>
      <p:sp>
        <p:nvSpPr>
          <p:cNvPr id="22" name="Mark"/>
          <p:cNvSpPr/>
          <p:nvPr/>
        </p:nvSpPr>
        <p:spPr>
          <a:xfrm>
            <a:off x="8595817" y="2053132"/>
            <a:ext cx="1572768" cy="672795"/>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9638233" y="2053132"/>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9638233" y="2053132"/>
            <a:ext cx="530352" cy="219456"/>
          </a:xfrm>
          <a:prstGeom prst="rect">
            <a:avLst/>
          </a:prstGeom>
          <a:noFill/>
        </p:spPr>
        <p:txBody>
          <a:bodyPr wrap="square" lIns="0" rIns="0" tIns="0" bIns="0" anchor="ctr">
            <a:spAutoFit/>
          </a:bodyPr>
          <a:lstStyle/>
          <a:p>
            <a:pPr algn="ctr"/>
            <a:r>
              <a:rPr sz="950" b="1" i="0">
                <a:solidFill>
                  <a:srgbClr val="FFFFFF"/>
                </a:solidFill>
              </a:rPr>
              <a:t>SHOW</a:t>
            </a:r>
          </a:p>
        </p:txBody>
      </p:sp>
      <p:sp>
        <p:nvSpPr>
          <p:cNvPr id="25" name="Mark"/>
          <p:cNvSpPr/>
          <p:nvPr/>
        </p:nvSpPr>
        <p:spPr>
          <a:xfrm>
            <a:off x="8604554" y="2970580"/>
            <a:ext cx="755802" cy="183489"/>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8604554" y="3154070"/>
            <a:ext cx="763524"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8604554" y="3154070"/>
            <a:ext cx="763524" cy="219456"/>
          </a:xfrm>
          <a:prstGeom prst="rect">
            <a:avLst/>
          </a:prstGeom>
          <a:noFill/>
        </p:spPr>
        <p:txBody>
          <a:bodyPr wrap="square" lIns="0" rIns="0" tIns="0" bIns="0" anchor="ctr">
            <a:spAutoFit/>
          </a:bodyPr>
          <a:lstStyle/>
          <a:p>
            <a:pPr algn="ctr"/>
            <a:r>
              <a:rPr sz="950" b="1" i="0">
                <a:solidFill>
                  <a:srgbClr val="FFFFFF"/>
                </a:solidFill>
              </a:rPr>
              <a:t>CAPTURE</a:t>
            </a:r>
          </a:p>
        </p:txBody>
      </p:sp>
      <p:sp>
        <p:nvSpPr>
          <p:cNvPr id="28" name="Mark"/>
          <p:cNvSpPr/>
          <p:nvPr/>
        </p:nvSpPr>
        <p:spPr>
          <a:xfrm>
            <a:off x="9382201" y="2970580"/>
            <a:ext cx="786384" cy="436879"/>
          </a:xfrm>
          <a:prstGeom prst="rect">
            <a:avLst/>
          </a:prstGeom>
          <a:noFill/>
          <a:ln w="2857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9560509" y="3188004"/>
            <a:ext cx="608076" cy="219456"/>
          </a:xfrm>
          <a:prstGeom prst="rect">
            <a:avLst/>
          </a:prstGeom>
          <a:solidFill>
            <a:srgbClr val="B33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9560509" y="3188004"/>
            <a:ext cx="608076" cy="219456"/>
          </a:xfrm>
          <a:prstGeom prst="rect">
            <a:avLst/>
          </a:prstGeom>
          <a:noFill/>
        </p:spPr>
        <p:txBody>
          <a:bodyPr wrap="square" lIns="0" rIns="0" tIns="0" bIns="0" anchor="ctr">
            <a:spAutoFit/>
          </a:bodyPr>
          <a:lstStyle/>
          <a:p>
            <a:pPr algn="ctr"/>
            <a:r>
              <a:rPr sz="950" b="1" i="0">
                <a:solidFill>
                  <a:srgbClr val="FFFFFF"/>
                </a:solidFill>
              </a:rPr>
              <a:t>CHECK</a:t>
            </a:r>
          </a:p>
        </p:txBody>
      </p:sp>
      <p:sp>
        <p:nvSpPr>
          <p:cNvPr id="31" name="Mark"/>
          <p:cNvSpPr/>
          <p:nvPr/>
        </p:nvSpPr>
        <p:spPr>
          <a:xfrm>
            <a:off x="8595817" y="3861815"/>
            <a:ext cx="1572768" cy="192227"/>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ox"/>
          <p:cNvSpPr/>
          <p:nvPr/>
        </p:nvSpPr>
        <p:spPr>
          <a:xfrm>
            <a:off x="9405061" y="3861815"/>
            <a:ext cx="763524"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9405061" y="3861815"/>
            <a:ext cx="763524" cy="219456"/>
          </a:xfrm>
          <a:prstGeom prst="rect">
            <a:avLst/>
          </a:prstGeom>
          <a:noFill/>
        </p:spPr>
        <p:txBody>
          <a:bodyPr wrap="square" lIns="0" rIns="0" tIns="0" bIns="0" anchor="ctr">
            <a:spAutoFit/>
          </a:bodyPr>
          <a:lstStyle/>
          <a:p>
            <a:pPr algn="ctr"/>
            <a:r>
              <a:rPr sz="950" b="1" i="0">
                <a:solidFill>
                  <a:srgbClr val="FFFFFF"/>
                </a:solidFill>
              </a:rPr>
              <a:t>WHO CAN</a:t>
            </a:r>
          </a:p>
        </p:txBody>
      </p:sp>
      <p:sp>
        <p:nvSpPr>
          <p:cNvPr id="34" name="Mark"/>
          <p:cNvSpPr/>
          <p:nvPr/>
        </p:nvSpPr>
        <p:spPr>
          <a:xfrm>
            <a:off x="8595817" y="4150156"/>
            <a:ext cx="1572768" cy="340766"/>
          </a:xfrm>
          <a:prstGeom prst="rect">
            <a:avLst/>
          </a:prstGeom>
          <a:noFill/>
          <a:ln w="28575">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ox"/>
          <p:cNvSpPr/>
          <p:nvPr/>
        </p:nvSpPr>
        <p:spPr>
          <a:xfrm>
            <a:off x="9638233" y="4150156"/>
            <a:ext cx="530352" cy="219456"/>
          </a:xfrm>
          <a:prstGeom prst="rect">
            <a:avLst/>
          </a:prstGeom>
          <a:solidFill>
            <a:srgbClr val="5E6A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9638233" y="4150156"/>
            <a:ext cx="530352" cy="219456"/>
          </a:xfrm>
          <a:prstGeom prst="rect">
            <a:avLst/>
          </a:prstGeom>
          <a:noFill/>
        </p:spPr>
        <p:txBody>
          <a:bodyPr wrap="square" lIns="0" rIns="0" tIns="0" bIns="0" anchor="ctr">
            <a:spAutoFit/>
          </a:bodyPr>
          <a:lstStyle/>
          <a:p>
            <a:pPr algn="ctr"/>
            <a:r>
              <a:rPr sz="950" b="1" i="0">
                <a:solidFill>
                  <a:srgbClr val="FFFFFF"/>
                </a:solidFill>
              </a:rPr>
              <a:t>KEPT</a:t>
            </a:r>
          </a:p>
        </p:txBody>
      </p:sp>
      <p:sp>
        <p:nvSpPr>
          <p:cNvPr id="37"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asking for a confirmation</a:t>
            </a:r>
          </a:p>
        </p:txBody>
      </p:sp>
      <p:sp>
        <p:nvSpPr>
          <p:cNvPr id="38"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Capture leads, and it is small.  </a:t>
            </a:r>
            <a:r>
              <a:rPr sz="1350" b="0" i="0">
                <a:solidFill>
                  <a:srgbClr val="1E262B"/>
                </a:solidFill>
              </a:rPr>
              <a:t>Pattern: Form, opened on the item.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Chase: one press, on the item</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5 OF 10 · 30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12</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Who has it, since when, what was sent.</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One press; the words drafted.</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Nothing changes hands; the count restarts.</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screen of its own; a chat with no trace.</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Remind an approver who has not decided</a:t>
            </a:r>
          </a:p>
          <a:p>
            <a:pPr algn="l">
              <a:spcAft>
                <a:spcPts val="100"/>
              </a:spcAft>
            </a:pPr>
            <a:r>
              <a:rPr sz="1200" b="0" i="0">
                <a:solidFill>
                  <a:srgbClr val="5E6A71"/>
                </a:solidFill>
              </a:rPr>
              <a:t>·  Chase feedback</a:t>
            </a:r>
          </a:p>
          <a:p>
            <a:pPr algn="l">
              <a:spcAft>
                <a:spcPts val="100"/>
              </a:spcAft>
            </a:pPr>
            <a:r>
              <a:rPr sz="1200" b="0" i="0">
                <a:solidFill>
                  <a:srgbClr val="5E6A71"/>
                </a:solidFill>
              </a:rPr>
              <a:t>·  Chase a transfer still on the road</a:t>
            </a:r>
          </a:p>
        </p:txBody>
      </p:sp>
      <p:sp>
        <p:nvSpPr>
          <p:cNvPr id="20" name="Capture frame"/>
          <p:cNvSpPr/>
          <p:nvPr/>
        </p:nvSpPr>
        <p:spPr>
          <a:xfrm>
            <a:off x="6246730" y="1371600"/>
            <a:ext cx="4816131"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remind.png"/>
          <p:cNvPicPr>
            <a:picLocks noChangeAspect="1"/>
          </p:cNvPicPr>
          <p:nvPr/>
        </p:nvPicPr>
        <p:blipFill>
          <a:blip r:embed="rId3"/>
          <a:stretch>
            <a:fillRect/>
          </a:stretch>
        </p:blipFill>
        <p:spPr>
          <a:xfrm>
            <a:off x="6246730" y="1371600"/>
            <a:ext cx="4816131" cy="3931920"/>
          </a:xfrm>
          <a:prstGeom prst="rect">
            <a:avLst/>
          </a:prstGeom>
        </p:spPr>
      </p:pic>
      <p:sp>
        <p:nvSpPr>
          <p:cNvPr id="22" name="Mark"/>
          <p:cNvSpPr/>
          <p:nvPr/>
        </p:nvSpPr>
        <p:spPr>
          <a:xfrm>
            <a:off x="6848746" y="2422777"/>
            <a:ext cx="2408065" cy="1528557"/>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6848746" y="2203321"/>
            <a:ext cx="918971"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6848746" y="2203321"/>
            <a:ext cx="918971" cy="219456"/>
          </a:xfrm>
          <a:prstGeom prst="rect">
            <a:avLst/>
          </a:prstGeom>
          <a:noFill/>
        </p:spPr>
        <p:txBody>
          <a:bodyPr wrap="square" lIns="0" rIns="0" tIns="0" bIns="0" anchor="ctr">
            <a:spAutoFit/>
          </a:bodyPr>
          <a:lstStyle/>
          <a:p>
            <a:pPr algn="ctr"/>
            <a:r>
              <a:rPr sz="950" b="1" i="0">
                <a:solidFill>
                  <a:srgbClr val="FFFFFF"/>
                </a:solidFill>
              </a:rPr>
              <a:t>THE CHASE</a:t>
            </a:r>
          </a:p>
        </p:txBody>
      </p:sp>
      <p:sp>
        <p:nvSpPr>
          <p:cNvPr id="25" name="Mark"/>
          <p:cNvSpPr/>
          <p:nvPr/>
        </p:nvSpPr>
        <p:spPr>
          <a:xfrm>
            <a:off x="6923998" y="2977761"/>
            <a:ext cx="2257561" cy="380963"/>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8418036" y="2977761"/>
            <a:ext cx="763524"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8418036" y="2977761"/>
            <a:ext cx="763524" cy="219456"/>
          </a:xfrm>
          <a:prstGeom prst="rect">
            <a:avLst/>
          </a:prstGeom>
          <a:noFill/>
        </p:spPr>
        <p:txBody>
          <a:bodyPr wrap="square" lIns="0" rIns="0" tIns="0" bIns="0" anchor="ctr">
            <a:spAutoFit/>
          </a:bodyPr>
          <a:lstStyle/>
          <a:p>
            <a:pPr algn="ctr"/>
            <a:r>
              <a:rPr sz="950" b="1" i="0">
                <a:solidFill>
                  <a:srgbClr val="FFFFFF"/>
                </a:solidFill>
              </a:rPr>
              <a:t>DRAFTED</a:t>
            </a:r>
          </a:p>
        </p:txBody>
      </p:sp>
      <p:sp>
        <p:nvSpPr>
          <p:cNvPr id="28" name="Mark"/>
          <p:cNvSpPr/>
          <p:nvPr/>
        </p:nvSpPr>
        <p:spPr>
          <a:xfrm>
            <a:off x="8466665" y="3706765"/>
            <a:ext cx="714894" cy="169317"/>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8651208" y="3876082"/>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8651208" y="3876082"/>
            <a:ext cx="530352" cy="219456"/>
          </a:xfrm>
          <a:prstGeom prst="rect">
            <a:avLst/>
          </a:prstGeom>
          <a:noFill/>
        </p:spPr>
        <p:txBody>
          <a:bodyPr wrap="square" lIns="0" rIns="0" tIns="0" bIns="0" anchor="ctr">
            <a:spAutoFit/>
          </a:bodyPr>
          <a:lstStyle/>
          <a:p>
            <a:pPr algn="ctr"/>
            <a:r>
              <a:rPr sz="950" b="1" i="0">
                <a:solidFill>
                  <a:srgbClr val="FFFFFF"/>
                </a:solidFill>
              </a:rPr>
              <a:t>KEPT</a:t>
            </a:r>
          </a:p>
        </p:txBody>
      </p:sp>
      <p:sp>
        <p:nvSpPr>
          <p:cNvPr id="31"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a reminder, from the queue</a:t>
            </a:r>
          </a:p>
        </p:txBody>
      </p:sp>
      <p:sp>
        <p:nvSpPr>
          <p:cNvPr id="32"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Neither block leads.  </a:t>
            </a:r>
            <a:r>
              <a:rPr sz="1350" b="0" i="0">
                <a:solidFill>
                  <a:srgbClr val="1E262B"/>
                </a:solidFill>
              </a:rPr>
              <a:t>Pattern: One form-action, on the item.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Answer: search, and the answer in one line</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6 OF 10 · 45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13</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one thing asked about, in seconds.</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Nothing; the reply goes to the person.</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Nothing, unless the answer shows a problem.</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report to scroll while someone waits.</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Answer where inbound goods are</a:t>
            </a:r>
          </a:p>
          <a:p>
            <a:pPr algn="l">
              <a:spcAft>
                <a:spcPts val="100"/>
              </a:spcAft>
            </a:pPr>
            <a:r>
              <a:rPr sz="1200" b="0" i="0">
                <a:solidFill>
                  <a:srgbClr val="5E6A71"/>
                </a:solidFill>
              </a:rPr>
              <a:t>·  Answer a pay query</a:t>
            </a:r>
          </a:p>
          <a:p>
            <a:pPr algn="l">
              <a:spcAft>
                <a:spcPts val="100"/>
              </a:spcAft>
            </a:pPr>
            <a:r>
              <a:rPr sz="1200" b="0" i="0">
                <a:solidFill>
                  <a:srgbClr val="5E6A71"/>
                </a:solidFill>
              </a:rPr>
              <a:t>·  Answer whether a customer can take an order</a:t>
            </a:r>
          </a:p>
        </p:txBody>
      </p:sp>
      <p:sp>
        <p:nvSpPr>
          <p:cNvPr id="20" name="Capture frame"/>
          <p:cNvSpPr/>
          <p:nvPr/>
        </p:nvSpPr>
        <p:spPr>
          <a:xfrm>
            <a:off x="5669280" y="1371600"/>
            <a:ext cx="5971032" cy="3265408"/>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earch.png"/>
          <p:cNvPicPr>
            <a:picLocks noChangeAspect="1"/>
          </p:cNvPicPr>
          <p:nvPr/>
        </p:nvPicPr>
        <p:blipFill>
          <a:blip r:embed="rId3"/>
          <a:stretch>
            <a:fillRect/>
          </a:stretch>
        </p:blipFill>
        <p:spPr>
          <a:xfrm>
            <a:off x="5669280" y="1371600"/>
            <a:ext cx="5971032" cy="3265408"/>
          </a:xfrm>
          <a:prstGeom prst="rect">
            <a:avLst/>
          </a:prstGeom>
        </p:spPr>
      </p:pic>
      <p:sp>
        <p:nvSpPr>
          <p:cNvPr id="22" name="Mark"/>
          <p:cNvSpPr/>
          <p:nvPr/>
        </p:nvSpPr>
        <p:spPr>
          <a:xfrm>
            <a:off x="5797563" y="1429910"/>
            <a:ext cx="3399523" cy="256567"/>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9197086" y="1448466"/>
            <a:ext cx="608076"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9197086" y="1448466"/>
            <a:ext cx="608076" cy="219456"/>
          </a:xfrm>
          <a:prstGeom prst="rect">
            <a:avLst/>
          </a:prstGeom>
          <a:noFill/>
        </p:spPr>
        <p:txBody>
          <a:bodyPr wrap="square" lIns="0" rIns="0" tIns="0" bIns="0" anchor="ctr">
            <a:spAutoFit/>
          </a:bodyPr>
          <a:lstStyle/>
          <a:p>
            <a:pPr algn="ctr"/>
            <a:r>
              <a:rPr sz="950" b="1" i="0">
                <a:solidFill>
                  <a:srgbClr val="FFFFFF"/>
                </a:solidFill>
              </a:rPr>
              <a:t>ASKED</a:t>
            </a:r>
          </a:p>
        </p:txBody>
      </p:sp>
      <p:sp>
        <p:nvSpPr>
          <p:cNvPr id="25" name="Mark"/>
          <p:cNvSpPr/>
          <p:nvPr/>
        </p:nvSpPr>
        <p:spPr>
          <a:xfrm>
            <a:off x="5797563" y="1715634"/>
            <a:ext cx="4128408" cy="635588"/>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9925972" y="1923700"/>
            <a:ext cx="996696"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9925972" y="1923700"/>
            <a:ext cx="996696" cy="219456"/>
          </a:xfrm>
          <a:prstGeom prst="rect">
            <a:avLst/>
          </a:prstGeom>
          <a:noFill/>
        </p:spPr>
        <p:txBody>
          <a:bodyPr wrap="square" lIns="0" rIns="0" tIns="0" bIns="0" anchor="ctr">
            <a:spAutoFit/>
          </a:bodyPr>
          <a:lstStyle/>
          <a:p>
            <a:pPr algn="ctr"/>
            <a:r>
              <a:rPr sz="950" b="1" i="0">
                <a:solidFill>
                  <a:srgbClr val="FFFFFF"/>
                </a:solidFill>
              </a:rPr>
              <a:t>THE ANSWER</a:t>
            </a:r>
          </a:p>
        </p:txBody>
      </p:sp>
      <p:sp>
        <p:nvSpPr>
          <p:cNvPr id="28" name="Text"/>
          <p:cNvSpPr txBox="1"/>
          <p:nvPr/>
        </p:nvSpPr>
        <p:spPr>
          <a:xfrm>
            <a:off x="5669280" y="4710160"/>
            <a:ext cx="5971032" cy="228600"/>
          </a:xfrm>
          <a:prstGeom prst="rect">
            <a:avLst/>
          </a:prstGeom>
          <a:noFill/>
        </p:spPr>
        <p:txBody>
          <a:bodyPr wrap="square" lIns="0" rIns="0" tIns="0" bIns="0" anchor="t">
            <a:spAutoFit/>
          </a:bodyPr>
          <a:lstStyle/>
          <a:p>
            <a:pPr algn="ctr"/>
            <a:r>
              <a:rPr sz="1050" b="0" i="0">
                <a:solidFill>
                  <a:srgbClr val="5E6A71"/>
                </a:solidFill>
              </a:rPr>
              <a:t>This seat's app: “where is my bill?”</a:t>
            </a:r>
          </a:p>
        </p:txBody>
      </p:sp>
      <p:sp>
        <p:nvSpPr>
          <p:cNvPr id="29"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then CnC.  </a:t>
            </a:r>
            <a:r>
              <a:rPr sz="1350" b="0" i="0">
                <a:solidFill>
                  <a:srgbClr val="1E262B"/>
                </a:solidFill>
              </a:rPr>
              <a:t>Pattern: Search, and the item's own page.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Assess: the whole list, and a conclusion kept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7 OF 10 · 11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14</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whole list, arranged to show a pattern: grouped, compared, over time.</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The conclusion, and what it rests on; “nothing found” is one.</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Often a Report or an Ask carries the conclusion on.</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Rows to act on one by one: that is another type, many at once.</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Find where differences concentrate</a:t>
            </a:r>
          </a:p>
          <a:p>
            <a:pPr algn="l">
              <a:spcAft>
                <a:spcPts val="100"/>
              </a:spcAft>
            </a:pPr>
            <a:r>
              <a:rPr sz="1200" b="0" i="0">
                <a:solidFill>
                  <a:srgbClr val="5E6A71"/>
                </a:solidFill>
              </a:rPr>
              <a:t>·  Review the discount and price-override pattern</a:t>
            </a:r>
          </a:p>
          <a:p>
            <a:pPr algn="l">
              <a:spcAft>
                <a:spcPts val="100"/>
              </a:spcAft>
            </a:pPr>
            <a:r>
              <a:rPr sz="1200" b="0" i="0">
                <a:solidFill>
                  <a:srgbClr val="5E6A71"/>
                </a:solidFill>
              </a:rPr>
              <a:t>·  Carry out a review from the audit plan</a:t>
            </a:r>
          </a:p>
        </p:txBody>
      </p:sp>
      <p:sp>
        <p:nvSpPr>
          <p:cNvPr id="20" name="Wire"/>
          <p:cNvSpPr/>
          <p:nvPr/>
        </p:nvSpPr>
        <p:spPr>
          <a:xfrm>
            <a:off x="5669280" y="1371600"/>
            <a:ext cx="5971032" cy="361188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x"/>
          <p:cNvSpPr/>
          <p:nvPr/>
        </p:nvSpPr>
        <p:spPr>
          <a:xfrm>
            <a:off x="5669280" y="1371600"/>
            <a:ext cx="5971032"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5779008" y="1371600"/>
            <a:ext cx="5788152" cy="274320"/>
          </a:xfrm>
          <a:prstGeom prst="rect">
            <a:avLst/>
          </a:prstGeom>
          <a:noFill/>
        </p:spPr>
        <p:txBody>
          <a:bodyPr wrap="square" lIns="0" rIns="0" tIns="0" bIns="0" anchor="ctr">
            <a:spAutoFit/>
          </a:bodyPr>
          <a:lstStyle/>
          <a:p>
            <a:pPr algn="l"/>
            <a:r>
              <a:rPr sz="950" b="1" i="0">
                <a:solidFill>
                  <a:srgbClr val="5E6A71"/>
                </a:solidFill>
              </a:rPr>
              <a:t>A WHOLE LIST, JUDGED</a:t>
            </a:r>
          </a:p>
        </p:txBody>
      </p:sp>
      <p:sp>
        <p:nvSpPr>
          <p:cNvPr id="23" name="Box"/>
          <p:cNvSpPr/>
          <p:nvPr/>
        </p:nvSpPr>
        <p:spPr>
          <a:xfrm>
            <a:off x="5908121" y="1779422"/>
            <a:ext cx="2388412" cy="367131"/>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5981273" y="1825142"/>
            <a:ext cx="2260396" cy="293979"/>
          </a:xfrm>
          <a:prstGeom prst="rect">
            <a:avLst/>
          </a:prstGeom>
          <a:noFill/>
        </p:spPr>
        <p:txBody>
          <a:bodyPr wrap="square" lIns="0" rIns="0" tIns="0" bIns="0" anchor="t">
            <a:spAutoFit/>
          </a:bodyPr>
          <a:lstStyle/>
          <a:p>
            <a:pPr algn="l"/>
            <a:r>
              <a:rPr sz="950" b="1" i="0">
                <a:solidFill>
                  <a:srgbClr val="1E262B"/>
                </a:solidFill>
              </a:rPr>
              <a:t>this quarter, by godown</a:t>
            </a:r>
          </a:p>
        </p:txBody>
      </p:sp>
      <p:sp>
        <p:nvSpPr>
          <p:cNvPr id="25" name="Text"/>
          <p:cNvSpPr txBox="1"/>
          <p:nvPr/>
        </p:nvSpPr>
        <p:spPr>
          <a:xfrm>
            <a:off x="8535375" y="1812798"/>
            <a:ext cx="2866095" cy="333756"/>
          </a:xfrm>
          <a:prstGeom prst="rect">
            <a:avLst/>
          </a:prstGeom>
          <a:noFill/>
        </p:spPr>
        <p:txBody>
          <a:bodyPr wrap="square" lIns="0" rIns="0" tIns="0" bIns="0" anchor="t">
            <a:spAutoFit/>
          </a:bodyPr>
          <a:lstStyle/>
          <a:p>
            <a:pPr algn="l"/>
            <a:r>
              <a:rPr sz="900" b="0" i="0">
                <a:solidFill>
                  <a:srgbClr val="5E6A71"/>
                </a:solidFill>
              </a:rPr>
              <a:t>the list, cut to the question</a:t>
            </a:r>
          </a:p>
        </p:txBody>
      </p:sp>
      <p:sp>
        <p:nvSpPr>
          <p:cNvPr id="26" name="Box"/>
          <p:cNvSpPr/>
          <p:nvPr/>
        </p:nvSpPr>
        <p:spPr>
          <a:xfrm>
            <a:off x="5908121" y="2313432"/>
            <a:ext cx="5493349" cy="1401775"/>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5981273" y="2359152"/>
            <a:ext cx="5365333" cy="1328623"/>
          </a:xfrm>
          <a:prstGeom prst="rect">
            <a:avLst/>
          </a:prstGeom>
          <a:noFill/>
        </p:spPr>
        <p:txBody>
          <a:bodyPr wrap="square" lIns="0" rIns="0" tIns="0" bIns="0" anchor="t">
            <a:spAutoFit/>
          </a:bodyPr>
          <a:lstStyle/>
          <a:p>
            <a:pPr algn="l"/>
            <a:r>
              <a:rPr sz="950" b="1" i="0">
                <a:solidFill>
                  <a:srgbClr val="0B4A4A"/>
                </a:solidFill>
              </a:rPr>
              <a:t>SHOW  the whole list, grouped to show where it concentrates:
by godown · by person · month on month</a:t>
            </a:r>
          </a:p>
        </p:txBody>
      </p:sp>
      <p:sp>
        <p:nvSpPr>
          <p:cNvPr id="28" name="Box"/>
          <p:cNvSpPr/>
          <p:nvPr/>
        </p:nvSpPr>
        <p:spPr>
          <a:xfrm>
            <a:off x="5908121" y="3882085"/>
            <a:ext cx="3582619" cy="901141"/>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5981273" y="3927805"/>
            <a:ext cx="3454603" cy="827989"/>
          </a:xfrm>
          <a:prstGeom prst="rect">
            <a:avLst/>
          </a:prstGeom>
          <a:noFill/>
        </p:spPr>
        <p:txBody>
          <a:bodyPr wrap="square" lIns="0" rIns="0" tIns="0" bIns="0" anchor="t">
            <a:spAutoFit/>
          </a:bodyPr>
          <a:lstStyle/>
          <a:p>
            <a:pPr algn="l"/>
            <a:r>
              <a:rPr sz="950" b="1" i="0">
                <a:solidFill>
                  <a:srgbClr val="1E262B"/>
                </a:solidFill>
              </a:rPr>
              <a:t>CAPTURE
the conclusion, with what it rests on</a:t>
            </a:r>
          </a:p>
        </p:txBody>
      </p:sp>
      <p:sp>
        <p:nvSpPr>
          <p:cNvPr id="30" name="Box"/>
          <p:cNvSpPr/>
          <p:nvPr/>
        </p:nvSpPr>
        <p:spPr>
          <a:xfrm>
            <a:off x="9729581" y="3915460"/>
            <a:ext cx="1671888" cy="367131"/>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p:cNvSpPr txBox="1"/>
          <p:nvPr/>
        </p:nvSpPr>
        <p:spPr>
          <a:xfrm>
            <a:off x="9729581" y="3915460"/>
            <a:ext cx="1671888" cy="367131"/>
          </a:xfrm>
          <a:prstGeom prst="rect">
            <a:avLst/>
          </a:prstGeom>
          <a:noFill/>
        </p:spPr>
        <p:txBody>
          <a:bodyPr wrap="square" lIns="0" rIns="0" tIns="0" bIns="0" anchor="ctr">
            <a:spAutoFit/>
          </a:bodyPr>
          <a:lstStyle/>
          <a:p>
            <a:pPr algn="ctr"/>
            <a:r>
              <a:rPr sz="900" b="1" i="0">
                <a:solidFill>
                  <a:srgbClr val="FFFFFF"/>
                </a:solidFill>
              </a:rPr>
              <a:t>keep the conclusion</a:t>
            </a:r>
          </a:p>
        </p:txBody>
      </p:sp>
      <p:sp>
        <p:nvSpPr>
          <p:cNvPr id="32" name="Box"/>
          <p:cNvSpPr/>
          <p:nvPr/>
        </p:nvSpPr>
        <p:spPr>
          <a:xfrm>
            <a:off x="9729581" y="4382719"/>
            <a:ext cx="1671888" cy="367131"/>
          </a:xfrm>
          <a:prstGeom prst="roundRect">
            <a:avLst>
              <a:gd name="adj" fmla="val 30000"/>
            </a:avLst>
          </a:prstGeom>
          <a:solidFill>
            <a:srgbClr val="FFFFFF"/>
          </a:solidFill>
          <a:ln w="158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9729581" y="4382719"/>
            <a:ext cx="1671888" cy="367131"/>
          </a:xfrm>
          <a:prstGeom prst="rect">
            <a:avLst/>
          </a:prstGeom>
          <a:noFill/>
        </p:spPr>
        <p:txBody>
          <a:bodyPr wrap="square" lIns="0" rIns="0" tIns="0" bIns="0" anchor="ctr">
            <a:spAutoFit/>
          </a:bodyPr>
          <a:lstStyle/>
          <a:p>
            <a:pPr algn="ctr"/>
            <a:r>
              <a:rPr sz="900" b="1" i="0">
                <a:solidFill>
                  <a:srgbClr val="0B6463"/>
                </a:solidFill>
              </a:rPr>
              <a:t>nothing found</a:t>
            </a:r>
          </a:p>
        </p:txBody>
      </p:sp>
      <p:sp>
        <p:nvSpPr>
          <p:cNvPr id="34" name="Box"/>
          <p:cNvSpPr/>
          <p:nvPr/>
        </p:nvSpPr>
        <p:spPr>
          <a:xfrm>
            <a:off x="5669280" y="5111496"/>
            <a:ext cx="219456" cy="182880"/>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p:cNvSpPr txBox="1"/>
          <p:nvPr/>
        </p:nvSpPr>
        <p:spPr>
          <a:xfrm>
            <a:off x="5961888" y="5074920"/>
            <a:ext cx="402336" cy="256032"/>
          </a:xfrm>
          <a:prstGeom prst="rect">
            <a:avLst/>
          </a:prstGeom>
          <a:noFill/>
        </p:spPr>
        <p:txBody>
          <a:bodyPr wrap="square" lIns="0" rIns="0" tIns="0" bIns="0" anchor="ctr">
            <a:spAutoFit/>
          </a:bodyPr>
          <a:lstStyle/>
          <a:p>
            <a:pPr algn="l"/>
            <a:r>
              <a:rPr sz="1050" b="0" i="0">
                <a:solidFill>
                  <a:srgbClr val="5E6A71"/>
                </a:solidFill>
              </a:rPr>
              <a:t>Show</a:t>
            </a:r>
          </a:p>
        </p:txBody>
      </p:sp>
      <p:sp>
        <p:nvSpPr>
          <p:cNvPr id="36" name="Box"/>
          <p:cNvSpPr/>
          <p:nvPr/>
        </p:nvSpPr>
        <p:spPr>
          <a:xfrm>
            <a:off x="6419088" y="5111496"/>
            <a:ext cx="219456" cy="182880"/>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
          <p:cNvSpPr txBox="1"/>
          <p:nvPr/>
        </p:nvSpPr>
        <p:spPr>
          <a:xfrm>
            <a:off x="6711696" y="5074920"/>
            <a:ext cx="608076" cy="256032"/>
          </a:xfrm>
          <a:prstGeom prst="rect">
            <a:avLst/>
          </a:prstGeom>
          <a:noFill/>
        </p:spPr>
        <p:txBody>
          <a:bodyPr wrap="square" lIns="0" rIns="0" tIns="0" bIns="0" anchor="ctr">
            <a:spAutoFit/>
          </a:bodyPr>
          <a:lstStyle/>
          <a:p>
            <a:pPr algn="l"/>
            <a:r>
              <a:rPr sz="1050" b="0" i="0">
                <a:solidFill>
                  <a:srgbClr val="5E6A71"/>
                </a:solidFill>
              </a:rPr>
              <a:t>Capture</a:t>
            </a:r>
          </a:p>
        </p:txBody>
      </p:sp>
      <p:sp>
        <p:nvSpPr>
          <p:cNvPr id="38" name="Box"/>
          <p:cNvSpPr/>
          <p:nvPr/>
        </p:nvSpPr>
        <p:spPr>
          <a:xfrm>
            <a:off x="7374636" y="5111496"/>
            <a:ext cx="219456" cy="182880"/>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
          <p:cNvSpPr txBox="1"/>
          <p:nvPr/>
        </p:nvSpPr>
        <p:spPr>
          <a:xfrm>
            <a:off x="7667244" y="5074920"/>
            <a:ext cx="1019556" cy="256032"/>
          </a:xfrm>
          <a:prstGeom prst="rect">
            <a:avLst/>
          </a:prstGeom>
          <a:noFill/>
        </p:spPr>
        <p:txBody>
          <a:bodyPr wrap="square" lIns="0" rIns="0" tIns="0" bIns="0" anchor="ctr">
            <a:spAutoFit/>
          </a:bodyPr>
          <a:lstStyle/>
          <a:p>
            <a:pPr algn="l"/>
            <a:r>
              <a:rPr sz="1050" b="0" i="0">
                <a:solidFill>
                  <a:srgbClr val="5E6A71"/>
                </a:solidFill>
              </a:rPr>
              <a:t>a form-action</a:t>
            </a:r>
          </a:p>
        </p:txBody>
      </p:sp>
      <p:sp>
        <p:nvSpPr>
          <p:cNvPr id="40" name="Box"/>
          <p:cNvSpPr/>
          <p:nvPr/>
        </p:nvSpPr>
        <p:spPr>
          <a:xfrm>
            <a:off x="8741664" y="5111496"/>
            <a:ext cx="219456" cy="182880"/>
          </a:xfrm>
          <a:prstGeom prst="rect">
            <a:avLst/>
          </a:prstGeom>
          <a:solidFill>
            <a:srgbClr val="FDECEA"/>
          </a:solidFill>
          <a:ln w="952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p:cNvSpPr txBox="1"/>
          <p:nvPr/>
        </p:nvSpPr>
        <p:spPr>
          <a:xfrm>
            <a:off x="9034272" y="5074920"/>
            <a:ext cx="608076" cy="256032"/>
          </a:xfrm>
          <a:prstGeom prst="rect">
            <a:avLst/>
          </a:prstGeom>
          <a:noFill/>
        </p:spPr>
        <p:txBody>
          <a:bodyPr wrap="square" lIns="0" rIns="0" tIns="0" bIns="0" anchor="ctr">
            <a:spAutoFit/>
          </a:bodyPr>
          <a:lstStyle/>
          <a:p>
            <a:pPr algn="l"/>
            <a:r>
              <a:rPr sz="1050" b="0" i="0">
                <a:solidFill>
                  <a:srgbClr val="5E6A71"/>
                </a:solidFill>
              </a:rPr>
              <a:t>a check</a:t>
            </a:r>
          </a:p>
        </p:txBody>
      </p:sp>
      <p:sp>
        <p:nvSpPr>
          <p:cNvPr id="42" name="Box"/>
          <p:cNvSpPr/>
          <p:nvPr/>
        </p:nvSpPr>
        <p:spPr>
          <a:xfrm>
            <a:off x="9697212" y="5111496"/>
            <a:ext cx="219456" cy="182880"/>
          </a:xfrm>
          <a:prstGeom prst="rect">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
          <p:cNvSpPr txBox="1"/>
          <p:nvPr/>
        </p:nvSpPr>
        <p:spPr>
          <a:xfrm>
            <a:off x="9989820" y="5074920"/>
            <a:ext cx="333756" cy="256032"/>
          </a:xfrm>
          <a:prstGeom prst="rect">
            <a:avLst/>
          </a:prstGeom>
          <a:noFill/>
        </p:spPr>
        <p:txBody>
          <a:bodyPr wrap="square" lIns="0" rIns="0" tIns="0" bIns="0" anchor="ctr">
            <a:spAutoFit/>
          </a:bodyPr>
          <a:lstStyle/>
          <a:p>
            <a:pPr algn="l"/>
            <a:r>
              <a:rPr sz="1050" b="0" i="0">
                <a:solidFill>
                  <a:srgbClr val="5E6A71"/>
                </a:solidFill>
              </a:rPr>
              <a:t>CnC</a:t>
            </a:r>
          </a:p>
        </p:txBody>
      </p:sp>
      <p:sp>
        <p:nvSpPr>
          <p:cNvPr id="44" name="Box"/>
          <p:cNvSpPr/>
          <p:nvPr/>
        </p:nvSpPr>
        <p:spPr>
          <a:xfrm>
            <a:off x="10378440" y="5111496"/>
            <a:ext cx="219456" cy="182880"/>
          </a:xfrm>
          <a:prstGeom prst="rect">
            <a:avLst/>
          </a:prstGeom>
          <a:solidFill>
            <a:srgbClr val="FFFFFF"/>
          </a:solidFill>
          <a:ln w="9525">
            <a:solidFill>
              <a:srgbClr val="8A5A1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
          <p:cNvSpPr txBox="1"/>
          <p:nvPr/>
        </p:nvSpPr>
        <p:spPr>
          <a:xfrm>
            <a:off x="10671048" y="5074920"/>
            <a:ext cx="1499616" cy="256032"/>
          </a:xfrm>
          <a:prstGeom prst="rect">
            <a:avLst/>
          </a:prstGeom>
          <a:noFill/>
        </p:spPr>
        <p:txBody>
          <a:bodyPr wrap="square" lIns="0" rIns="0" tIns="0" bIns="0" anchor="ctr">
            <a:spAutoFit/>
          </a:bodyPr>
          <a:lstStyle/>
          <a:p>
            <a:pPr algn="l"/>
            <a:r>
              <a:rPr sz="1050" b="0" i="0">
                <a:solidFill>
                  <a:srgbClr val="5E6A71"/>
                </a:solidFill>
              </a:rPr>
              <a:t>not in the model yet</a:t>
            </a:r>
          </a:p>
        </p:txBody>
      </p:sp>
      <p:sp>
        <p:nvSpPr>
          <p:cNvPr id="46"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a:t>
            </a:r>
            <a:r>
              <a:rPr sz="1350" b="0" i="0">
                <a:solidFill>
                  <a:srgbClr val="1E262B"/>
                </a:solidFill>
              </a:rPr>
              <a:t>Pattern: None of the seven: it must keep a conclusion.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Report: a statement drawn up, then sent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8 OF 10 · 29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15</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statement, drawn up already, with what moved.</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A word on each line that moved; then send.</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The reader's: management, an authority.</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blank document; a list that cannot be sent.</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Explain DPO</a:t>
            </a:r>
          </a:p>
          <a:p>
            <a:pPr algn="l">
              <a:spcAft>
                <a:spcPts val="100"/>
              </a:spcAft>
            </a:pPr>
            <a:r>
              <a:rPr sz="1200" b="0" i="0">
                <a:solidFill>
                  <a:srgbClr val="5E6A71"/>
                </a:solidFill>
              </a:rPr>
              <a:t>·  Report workforce measures</a:t>
            </a:r>
          </a:p>
          <a:p>
            <a:pPr algn="l">
              <a:spcAft>
                <a:spcPts val="100"/>
              </a:spcAft>
            </a:pPr>
            <a:r>
              <a:rPr sz="1200" b="0" i="0">
                <a:solidFill>
                  <a:srgbClr val="5E6A71"/>
                </a:solidFill>
              </a:rPr>
              <a:t>·  Prepare the Audit Committee summary</a:t>
            </a:r>
          </a:p>
        </p:txBody>
      </p:sp>
      <p:sp>
        <p:nvSpPr>
          <p:cNvPr id="20" name="Wire"/>
          <p:cNvSpPr/>
          <p:nvPr/>
        </p:nvSpPr>
        <p:spPr>
          <a:xfrm>
            <a:off x="5669280" y="1371600"/>
            <a:ext cx="5971032" cy="361188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x"/>
          <p:cNvSpPr/>
          <p:nvPr/>
        </p:nvSpPr>
        <p:spPr>
          <a:xfrm>
            <a:off x="5669280" y="1371600"/>
            <a:ext cx="5971032"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5779008" y="1371600"/>
            <a:ext cx="5788152" cy="274320"/>
          </a:xfrm>
          <a:prstGeom prst="rect">
            <a:avLst/>
          </a:prstGeom>
          <a:noFill/>
        </p:spPr>
        <p:txBody>
          <a:bodyPr wrap="square" lIns="0" rIns="0" tIns="0" bIns="0" anchor="ctr">
            <a:spAutoFit/>
          </a:bodyPr>
          <a:lstStyle/>
          <a:p>
            <a:pPr algn="l"/>
            <a:r>
              <a:rPr sz="950" b="1" i="0">
                <a:solidFill>
                  <a:srgbClr val="5E6A71"/>
                </a:solidFill>
              </a:rPr>
              <a:t>A STATEMENT, SENT TO ITS READER</a:t>
            </a:r>
          </a:p>
        </p:txBody>
      </p:sp>
      <p:sp>
        <p:nvSpPr>
          <p:cNvPr id="23" name="Box"/>
          <p:cNvSpPr/>
          <p:nvPr/>
        </p:nvSpPr>
        <p:spPr>
          <a:xfrm>
            <a:off x="5908121" y="1812798"/>
            <a:ext cx="3343777" cy="2336292"/>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5981273" y="1858518"/>
            <a:ext cx="3215761" cy="2263140"/>
          </a:xfrm>
          <a:prstGeom prst="rect">
            <a:avLst/>
          </a:prstGeom>
          <a:noFill/>
        </p:spPr>
        <p:txBody>
          <a:bodyPr wrap="square" lIns="0" rIns="0" tIns="0" bIns="0" anchor="t">
            <a:spAutoFit/>
          </a:bodyPr>
          <a:lstStyle/>
          <a:p>
            <a:pPr algn="l"/>
            <a:r>
              <a:rPr sz="950" b="1" i="0">
                <a:solidFill>
                  <a:srgbClr val="0B4A4A"/>
                </a:solidFill>
              </a:rPr>
              <a:t>SHOW
the statement, drawn up already:
this period, last period, what moved</a:t>
            </a:r>
          </a:p>
        </p:txBody>
      </p:sp>
      <p:sp>
        <p:nvSpPr>
          <p:cNvPr id="25" name="Box"/>
          <p:cNvSpPr/>
          <p:nvPr/>
        </p:nvSpPr>
        <p:spPr>
          <a:xfrm>
            <a:off x="6027541" y="3247948"/>
            <a:ext cx="3104936" cy="400507"/>
          </a:xfrm>
          <a:prstGeom prst="rect">
            <a:avLst/>
          </a:prstGeom>
          <a:solidFill>
            <a:srgbClr val="FDECEA"/>
          </a:solidFill>
          <a:ln w="12700">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p:cNvSpPr txBox="1"/>
          <p:nvPr/>
        </p:nvSpPr>
        <p:spPr>
          <a:xfrm>
            <a:off x="6100693" y="3284524"/>
            <a:ext cx="2976920" cy="345643"/>
          </a:xfrm>
          <a:prstGeom prst="rect">
            <a:avLst/>
          </a:prstGeom>
          <a:noFill/>
        </p:spPr>
        <p:txBody>
          <a:bodyPr wrap="square" lIns="0" rIns="0" tIns="0" bIns="0" anchor="t">
            <a:spAutoFit/>
          </a:bodyPr>
          <a:lstStyle/>
          <a:p>
            <a:pPr algn="l"/>
            <a:r>
              <a:rPr sz="900" b="1" i="0">
                <a:solidFill>
                  <a:srgbClr val="B3362B"/>
                </a:solidFill>
              </a:rPr>
              <a:t>a line that moved needs a word</a:t>
            </a:r>
          </a:p>
        </p:txBody>
      </p:sp>
      <p:sp>
        <p:nvSpPr>
          <p:cNvPr id="27" name="Box"/>
          <p:cNvSpPr/>
          <p:nvPr/>
        </p:nvSpPr>
        <p:spPr>
          <a:xfrm>
            <a:off x="9490740" y="1812798"/>
            <a:ext cx="1910730" cy="2336292"/>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p:cNvSpPr txBox="1"/>
          <p:nvPr/>
        </p:nvSpPr>
        <p:spPr>
          <a:xfrm>
            <a:off x="9563892" y="1858518"/>
            <a:ext cx="1782714" cy="2263140"/>
          </a:xfrm>
          <a:prstGeom prst="rect">
            <a:avLst/>
          </a:prstGeom>
          <a:noFill/>
        </p:spPr>
        <p:txBody>
          <a:bodyPr wrap="square" lIns="0" rIns="0" tIns="0" bIns="0" anchor="t">
            <a:spAutoFit/>
          </a:bodyPr>
          <a:lstStyle/>
          <a:p>
            <a:pPr algn="l"/>
            <a:r>
              <a:rPr sz="950" b="1" i="0">
                <a:solidFill>
                  <a:srgbClr val="1E262B"/>
                </a:solidFill>
              </a:rPr>
              <a:t>CAPTURE
the explanation, line by line</a:t>
            </a:r>
          </a:p>
        </p:txBody>
      </p:sp>
      <p:sp>
        <p:nvSpPr>
          <p:cNvPr id="29" name="Box"/>
          <p:cNvSpPr/>
          <p:nvPr/>
        </p:nvSpPr>
        <p:spPr>
          <a:xfrm>
            <a:off x="5908121" y="4349343"/>
            <a:ext cx="2030150" cy="433882"/>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5908121" y="4349343"/>
            <a:ext cx="2030150" cy="433882"/>
          </a:xfrm>
          <a:prstGeom prst="rect">
            <a:avLst/>
          </a:prstGeom>
          <a:noFill/>
        </p:spPr>
        <p:txBody>
          <a:bodyPr wrap="square" lIns="0" rIns="0" tIns="0" bIns="0" anchor="ctr">
            <a:spAutoFit/>
          </a:bodyPr>
          <a:lstStyle/>
          <a:p>
            <a:pPr algn="ctr"/>
            <a:r>
              <a:rPr sz="900" b="1" i="0">
                <a:solidFill>
                  <a:srgbClr val="FFFFFF"/>
                </a:solidFill>
              </a:rPr>
              <a:t>send to management</a:t>
            </a:r>
          </a:p>
        </p:txBody>
      </p:sp>
      <p:sp>
        <p:nvSpPr>
          <p:cNvPr id="31" name="Box"/>
          <p:cNvSpPr/>
          <p:nvPr/>
        </p:nvSpPr>
        <p:spPr>
          <a:xfrm>
            <a:off x="8177113" y="4349343"/>
            <a:ext cx="3224357" cy="433882"/>
          </a:xfrm>
          <a:prstGeom prst="rect">
            <a:avLst/>
          </a:prstGeom>
          <a:solidFill>
            <a:srgbClr val="FFFFFF"/>
          </a:solidFill>
          <a:ln w="12700">
            <a:solidFill>
              <a:srgbClr val="8A5A1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p:cNvSpPr txBox="1"/>
          <p:nvPr/>
        </p:nvSpPr>
        <p:spPr>
          <a:xfrm>
            <a:off x="8250265" y="4349343"/>
            <a:ext cx="3096341" cy="433882"/>
          </a:xfrm>
          <a:prstGeom prst="rect">
            <a:avLst/>
          </a:prstGeom>
          <a:noFill/>
        </p:spPr>
        <p:txBody>
          <a:bodyPr wrap="square" lIns="0" rIns="0" tIns="0" bIns="0" anchor="ctr">
            <a:spAutoFit/>
          </a:bodyPr>
          <a:lstStyle/>
          <a:p>
            <a:pPr algn="l"/>
            <a:r>
              <a:rPr sz="900" b="1" i="0">
                <a:solidFill>
                  <a:srgbClr val="8A5A12"/>
                </a:solidFill>
              </a:rPr>
              <a:t>no pattern says “publish”</a:t>
            </a:r>
          </a:p>
        </p:txBody>
      </p:sp>
      <p:sp>
        <p:nvSpPr>
          <p:cNvPr id="33" name="Box"/>
          <p:cNvSpPr/>
          <p:nvPr/>
        </p:nvSpPr>
        <p:spPr>
          <a:xfrm>
            <a:off x="5669280" y="5111496"/>
            <a:ext cx="219456" cy="182880"/>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5961888" y="5074920"/>
            <a:ext cx="402336" cy="256032"/>
          </a:xfrm>
          <a:prstGeom prst="rect">
            <a:avLst/>
          </a:prstGeom>
          <a:noFill/>
        </p:spPr>
        <p:txBody>
          <a:bodyPr wrap="square" lIns="0" rIns="0" tIns="0" bIns="0" anchor="ctr">
            <a:spAutoFit/>
          </a:bodyPr>
          <a:lstStyle/>
          <a:p>
            <a:pPr algn="l"/>
            <a:r>
              <a:rPr sz="1050" b="0" i="0">
                <a:solidFill>
                  <a:srgbClr val="5E6A71"/>
                </a:solidFill>
              </a:rPr>
              <a:t>Show</a:t>
            </a:r>
          </a:p>
        </p:txBody>
      </p:sp>
      <p:sp>
        <p:nvSpPr>
          <p:cNvPr id="35" name="Box"/>
          <p:cNvSpPr/>
          <p:nvPr/>
        </p:nvSpPr>
        <p:spPr>
          <a:xfrm>
            <a:off x="6419088" y="5111496"/>
            <a:ext cx="219456" cy="182880"/>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6711696" y="5074920"/>
            <a:ext cx="608076" cy="256032"/>
          </a:xfrm>
          <a:prstGeom prst="rect">
            <a:avLst/>
          </a:prstGeom>
          <a:noFill/>
        </p:spPr>
        <p:txBody>
          <a:bodyPr wrap="square" lIns="0" rIns="0" tIns="0" bIns="0" anchor="ctr">
            <a:spAutoFit/>
          </a:bodyPr>
          <a:lstStyle/>
          <a:p>
            <a:pPr algn="l"/>
            <a:r>
              <a:rPr sz="1050" b="0" i="0">
                <a:solidFill>
                  <a:srgbClr val="5E6A71"/>
                </a:solidFill>
              </a:rPr>
              <a:t>Capture</a:t>
            </a:r>
          </a:p>
        </p:txBody>
      </p:sp>
      <p:sp>
        <p:nvSpPr>
          <p:cNvPr id="37" name="Box"/>
          <p:cNvSpPr/>
          <p:nvPr/>
        </p:nvSpPr>
        <p:spPr>
          <a:xfrm>
            <a:off x="7374636" y="5111496"/>
            <a:ext cx="219456" cy="182880"/>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p:cNvSpPr txBox="1"/>
          <p:nvPr/>
        </p:nvSpPr>
        <p:spPr>
          <a:xfrm>
            <a:off x="7667244" y="5074920"/>
            <a:ext cx="1019556" cy="256032"/>
          </a:xfrm>
          <a:prstGeom prst="rect">
            <a:avLst/>
          </a:prstGeom>
          <a:noFill/>
        </p:spPr>
        <p:txBody>
          <a:bodyPr wrap="square" lIns="0" rIns="0" tIns="0" bIns="0" anchor="ctr">
            <a:spAutoFit/>
          </a:bodyPr>
          <a:lstStyle/>
          <a:p>
            <a:pPr algn="l"/>
            <a:r>
              <a:rPr sz="1050" b="0" i="0">
                <a:solidFill>
                  <a:srgbClr val="5E6A71"/>
                </a:solidFill>
              </a:rPr>
              <a:t>a form-action</a:t>
            </a:r>
          </a:p>
        </p:txBody>
      </p:sp>
      <p:sp>
        <p:nvSpPr>
          <p:cNvPr id="39" name="Box"/>
          <p:cNvSpPr/>
          <p:nvPr/>
        </p:nvSpPr>
        <p:spPr>
          <a:xfrm>
            <a:off x="8741664" y="5111496"/>
            <a:ext cx="219456" cy="182880"/>
          </a:xfrm>
          <a:prstGeom prst="rect">
            <a:avLst/>
          </a:prstGeom>
          <a:solidFill>
            <a:srgbClr val="FDECEA"/>
          </a:solidFill>
          <a:ln w="952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p:cNvSpPr txBox="1"/>
          <p:nvPr/>
        </p:nvSpPr>
        <p:spPr>
          <a:xfrm>
            <a:off x="9034272" y="5074920"/>
            <a:ext cx="608076" cy="256032"/>
          </a:xfrm>
          <a:prstGeom prst="rect">
            <a:avLst/>
          </a:prstGeom>
          <a:noFill/>
        </p:spPr>
        <p:txBody>
          <a:bodyPr wrap="square" lIns="0" rIns="0" tIns="0" bIns="0" anchor="ctr">
            <a:spAutoFit/>
          </a:bodyPr>
          <a:lstStyle/>
          <a:p>
            <a:pPr algn="l"/>
            <a:r>
              <a:rPr sz="1050" b="0" i="0">
                <a:solidFill>
                  <a:srgbClr val="5E6A71"/>
                </a:solidFill>
              </a:rPr>
              <a:t>a check</a:t>
            </a:r>
          </a:p>
        </p:txBody>
      </p:sp>
      <p:sp>
        <p:nvSpPr>
          <p:cNvPr id="41" name="Box"/>
          <p:cNvSpPr/>
          <p:nvPr/>
        </p:nvSpPr>
        <p:spPr>
          <a:xfrm>
            <a:off x="9697212" y="5111496"/>
            <a:ext cx="219456" cy="182880"/>
          </a:xfrm>
          <a:prstGeom prst="rect">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9989820" y="5074920"/>
            <a:ext cx="333756" cy="256032"/>
          </a:xfrm>
          <a:prstGeom prst="rect">
            <a:avLst/>
          </a:prstGeom>
          <a:noFill/>
        </p:spPr>
        <p:txBody>
          <a:bodyPr wrap="square" lIns="0" rIns="0" tIns="0" bIns="0" anchor="ctr">
            <a:spAutoFit/>
          </a:bodyPr>
          <a:lstStyle/>
          <a:p>
            <a:pPr algn="l"/>
            <a:r>
              <a:rPr sz="1050" b="0" i="0">
                <a:solidFill>
                  <a:srgbClr val="5E6A71"/>
                </a:solidFill>
              </a:rPr>
              <a:t>CnC</a:t>
            </a:r>
          </a:p>
        </p:txBody>
      </p:sp>
      <p:sp>
        <p:nvSpPr>
          <p:cNvPr id="43" name="Box"/>
          <p:cNvSpPr/>
          <p:nvPr/>
        </p:nvSpPr>
        <p:spPr>
          <a:xfrm>
            <a:off x="10378440" y="5111496"/>
            <a:ext cx="219456" cy="182880"/>
          </a:xfrm>
          <a:prstGeom prst="rect">
            <a:avLst/>
          </a:prstGeom>
          <a:solidFill>
            <a:srgbClr val="FFFFFF"/>
          </a:solidFill>
          <a:ln w="9525">
            <a:solidFill>
              <a:srgbClr val="8A5A1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p:cNvSpPr txBox="1"/>
          <p:nvPr/>
        </p:nvSpPr>
        <p:spPr>
          <a:xfrm>
            <a:off x="10671048" y="5074920"/>
            <a:ext cx="1499616" cy="256032"/>
          </a:xfrm>
          <a:prstGeom prst="rect">
            <a:avLst/>
          </a:prstGeom>
          <a:noFill/>
        </p:spPr>
        <p:txBody>
          <a:bodyPr wrap="square" lIns="0" rIns="0" tIns="0" bIns="0" anchor="ctr">
            <a:spAutoFit/>
          </a:bodyPr>
          <a:lstStyle/>
          <a:p>
            <a:pPr algn="l"/>
            <a:r>
              <a:rPr sz="1050" b="0" i="0">
                <a:solidFill>
                  <a:srgbClr val="5E6A71"/>
                </a:solidFill>
              </a:rPr>
              <a:t>not in the model yet</a:t>
            </a:r>
          </a:p>
        </p:txBody>
      </p:sp>
      <p:sp>
        <p:nvSpPr>
          <p:cNvPr id="45"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the statement is the item.  </a:t>
            </a:r>
            <a:r>
              <a:rPr sz="1350" b="0" i="0">
                <a:solidFill>
                  <a:srgbClr val="1E262B"/>
                </a:solidFill>
              </a:rPr>
              <a:t>Pattern: Nearest is a Review; no pattern fits.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Carry through: the case, with its steps inside</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9 OF 10 · 30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16</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The case: its steps, who has each, what is late.</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Each step's own form-action.</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Most of its life is with other people.</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Flow for one sitting; a list that loses the case.</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Run an exit</a:t>
            </a:r>
          </a:p>
          <a:p>
            <a:pPr algn="l">
              <a:spcAft>
                <a:spcPts val="100"/>
              </a:spcAft>
            </a:pPr>
            <a:r>
              <a:rPr sz="1200" b="0" i="0">
                <a:solidFill>
                  <a:srgbClr val="5E6A71"/>
                </a:solidFill>
              </a:rPr>
              <a:t>·  Investigate and close a case</a:t>
            </a:r>
          </a:p>
          <a:p>
            <a:pPr algn="l">
              <a:spcAft>
                <a:spcPts val="100"/>
              </a:spcAft>
            </a:pPr>
            <a:r>
              <a:rPr sz="1200" b="0" i="0">
                <a:solidFill>
                  <a:srgbClr val="5E6A71"/>
                </a:solidFill>
              </a:rPr>
              <a:t>·  Negotiate purchase rates</a:t>
            </a:r>
          </a:p>
        </p:txBody>
      </p:sp>
      <p:sp>
        <p:nvSpPr>
          <p:cNvPr id="20" name="Capture frame"/>
          <p:cNvSpPr/>
          <p:nvPr/>
        </p:nvSpPr>
        <p:spPr>
          <a:xfrm>
            <a:off x="6246730" y="1371600"/>
            <a:ext cx="4816131" cy="3931920"/>
          </a:xfrm>
          <a:prstGeom prst="rect">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works-order.png"/>
          <p:cNvPicPr>
            <a:picLocks noChangeAspect="1"/>
          </p:cNvPicPr>
          <p:nvPr/>
        </p:nvPicPr>
        <p:blipFill>
          <a:blip r:embed="rId3"/>
          <a:stretch>
            <a:fillRect/>
          </a:stretch>
        </p:blipFill>
        <p:spPr>
          <a:xfrm>
            <a:off x="6246730" y="1371600"/>
            <a:ext cx="4816131" cy="3931920"/>
          </a:xfrm>
          <a:prstGeom prst="rect">
            <a:avLst/>
          </a:prstGeom>
        </p:spPr>
      </p:pic>
      <p:sp>
        <p:nvSpPr>
          <p:cNvPr id="22" name="Mark"/>
          <p:cNvSpPr/>
          <p:nvPr/>
        </p:nvSpPr>
        <p:spPr>
          <a:xfrm>
            <a:off x="8927584" y="1625575"/>
            <a:ext cx="1998882" cy="211646"/>
          </a:xfrm>
          <a:prstGeom prst="rect">
            <a:avLst/>
          </a:prstGeom>
          <a:noFill/>
          <a:ln w="28575">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x"/>
          <p:cNvSpPr/>
          <p:nvPr/>
        </p:nvSpPr>
        <p:spPr>
          <a:xfrm>
            <a:off x="8927584" y="1406119"/>
            <a:ext cx="1074420" cy="219456"/>
          </a:xfrm>
          <a:prstGeom prst="rect">
            <a:avLst/>
          </a:prstGeom>
          <a:solidFill>
            <a:srgbClr val="1E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8927584" y="1406119"/>
            <a:ext cx="1074420" cy="219456"/>
          </a:xfrm>
          <a:prstGeom prst="rect">
            <a:avLst/>
          </a:prstGeom>
          <a:noFill/>
        </p:spPr>
        <p:txBody>
          <a:bodyPr wrap="square" lIns="0" rIns="0" tIns="0" bIns="0" anchor="ctr">
            <a:spAutoFit/>
          </a:bodyPr>
          <a:lstStyle/>
          <a:p>
            <a:pPr algn="ctr"/>
            <a:r>
              <a:rPr sz="950" b="1" i="0">
                <a:solidFill>
                  <a:srgbClr val="FFFFFF"/>
                </a:solidFill>
              </a:rPr>
              <a:t>ON THE CASE</a:t>
            </a:r>
          </a:p>
        </p:txBody>
      </p:sp>
      <p:sp>
        <p:nvSpPr>
          <p:cNvPr id="25" name="Mark"/>
          <p:cNvSpPr/>
          <p:nvPr/>
        </p:nvSpPr>
        <p:spPr>
          <a:xfrm>
            <a:off x="6340795" y="2284031"/>
            <a:ext cx="4628001" cy="1956553"/>
          </a:xfrm>
          <a:prstGeom prst="rect">
            <a:avLst/>
          </a:prstGeom>
          <a:noFill/>
          <a:ln w="28575">
            <a:solidFill>
              <a:srgbClr val="0B64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ox"/>
          <p:cNvSpPr/>
          <p:nvPr/>
        </p:nvSpPr>
        <p:spPr>
          <a:xfrm>
            <a:off x="10438444" y="4021128"/>
            <a:ext cx="530352" cy="219456"/>
          </a:xfrm>
          <a:prstGeom prst="rect">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p:cNvSpPr txBox="1"/>
          <p:nvPr/>
        </p:nvSpPr>
        <p:spPr>
          <a:xfrm>
            <a:off x="10438444" y="4021128"/>
            <a:ext cx="530352" cy="219456"/>
          </a:xfrm>
          <a:prstGeom prst="rect">
            <a:avLst/>
          </a:prstGeom>
          <a:noFill/>
        </p:spPr>
        <p:txBody>
          <a:bodyPr wrap="square" lIns="0" rIns="0" tIns="0" bIns="0" anchor="ctr">
            <a:spAutoFit/>
          </a:bodyPr>
          <a:lstStyle/>
          <a:p>
            <a:pPr algn="ctr"/>
            <a:r>
              <a:rPr sz="950" b="1" i="0">
                <a:solidFill>
                  <a:srgbClr val="FFFFFF"/>
                </a:solidFill>
              </a:rPr>
              <a:t>SHOW</a:t>
            </a:r>
          </a:p>
        </p:txBody>
      </p:sp>
      <p:sp>
        <p:nvSpPr>
          <p:cNvPr id="28" name="Mark"/>
          <p:cNvSpPr/>
          <p:nvPr/>
        </p:nvSpPr>
        <p:spPr>
          <a:xfrm>
            <a:off x="6340795" y="4311133"/>
            <a:ext cx="4628001" cy="982980"/>
          </a:xfrm>
          <a:prstGeom prst="rect">
            <a:avLst/>
          </a:prstGeom>
          <a:noFill/>
          <a:ln w="28575">
            <a:solidFill>
              <a:srgbClr val="8A5A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x"/>
          <p:cNvSpPr/>
          <p:nvPr/>
        </p:nvSpPr>
        <p:spPr>
          <a:xfrm>
            <a:off x="10049824" y="4311133"/>
            <a:ext cx="918971" cy="219456"/>
          </a:xfrm>
          <a:prstGeom prst="rect">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10049824" y="4311133"/>
            <a:ext cx="918971" cy="219456"/>
          </a:xfrm>
          <a:prstGeom prst="rect">
            <a:avLst/>
          </a:prstGeom>
          <a:noFill/>
        </p:spPr>
        <p:txBody>
          <a:bodyPr wrap="square" lIns="0" rIns="0" tIns="0" bIns="0" anchor="ctr">
            <a:spAutoFit/>
          </a:bodyPr>
          <a:lstStyle/>
          <a:p>
            <a:pPr algn="ctr"/>
            <a:r>
              <a:rPr sz="950" b="1" i="0">
                <a:solidFill>
                  <a:srgbClr val="FFFFFF"/>
                </a:solidFill>
              </a:rPr>
              <a:t>ITS STEPS</a:t>
            </a:r>
          </a:p>
        </p:txBody>
      </p:sp>
      <p:sp>
        <p:nvSpPr>
          <p:cNvPr id="31" name="Text"/>
          <p:cNvSpPr txBox="1"/>
          <p:nvPr/>
        </p:nvSpPr>
        <p:spPr>
          <a:xfrm>
            <a:off x="5669280" y="5376672"/>
            <a:ext cx="5971032" cy="228600"/>
          </a:xfrm>
          <a:prstGeom prst="rect">
            <a:avLst/>
          </a:prstGeom>
          <a:noFill/>
        </p:spPr>
        <p:txBody>
          <a:bodyPr wrap="square" lIns="0" rIns="0" tIns="0" bIns="0" anchor="t">
            <a:spAutoFit/>
          </a:bodyPr>
          <a:lstStyle/>
          <a:p>
            <a:pPr algn="ctr"/>
            <a:r>
              <a:rPr sz="1050" b="0" i="0">
                <a:solidFill>
                  <a:srgbClr val="5E6A71"/>
                </a:solidFill>
              </a:rPr>
              <a:t>This seat's app: the Works Order, a case in all but name</a:t>
            </a:r>
          </a:p>
        </p:txBody>
      </p:sp>
      <p:sp>
        <p:nvSpPr>
          <p:cNvPr id="32"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a:t>
            </a:r>
            <a:r>
              <a:rPr sz="1350" b="0" i="0">
                <a:solidFill>
                  <a:srgbClr val="1E262B"/>
                </a:solidFill>
              </a:rPr>
              <a:t>Pattern: The case's own page, with its steps inside.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Run a batch: a gate, one press, then what was held</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TYPES · 10 OF 10 · 17 TASKS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17</a:t>
            </a:r>
          </a:p>
        </p:txBody>
      </p:sp>
      <p:cxnSp>
        <p:nvCxnSpPr>
          <p:cNvPr id="5" name="Connector 4"/>
          <p:cNvCxnSpPr/>
          <p:nvPr/>
        </p:nvCxnSpPr>
        <p:spPr>
          <a:xfrm>
            <a:off x="548640" y="1371600"/>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 name="Text"/>
          <p:cNvSpPr txBox="1"/>
          <p:nvPr/>
        </p:nvSpPr>
        <p:spPr>
          <a:xfrm>
            <a:off x="548640" y="1371600"/>
            <a:ext cx="960120" cy="694944"/>
          </a:xfrm>
          <a:prstGeom prst="rect">
            <a:avLst/>
          </a:prstGeom>
          <a:noFill/>
        </p:spPr>
        <p:txBody>
          <a:bodyPr wrap="square" lIns="0" rIns="0" tIns="0" bIns="0" anchor="ctr">
            <a:spAutoFit/>
          </a:bodyPr>
          <a:lstStyle/>
          <a:p>
            <a:pPr algn="l"/>
            <a:r>
              <a:rPr sz="1000" b="1" i="0">
                <a:solidFill>
                  <a:srgbClr val="5E6A71"/>
                </a:solidFill>
              </a:rPr>
              <a:t>NEEDS</a:t>
            </a:r>
          </a:p>
        </p:txBody>
      </p:sp>
      <p:sp>
        <p:nvSpPr>
          <p:cNvPr id="7" name="Text"/>
          <p:cNvSpPr txBox="1"/>
          <p:nvPr/>
        </p:nvSpPr>
        <p:spPr>
          <a:xfrm>
            <a:off x="1508760" y="1371600"/>
            <a:ext cx="3840480" cy="694944"/>
          </a:xfrm>
          <a:prstGeom prst="rect">
            <a:avLst/>
          </a:prstGeom>
          <a:noFill/>
        </p:spPr>
        <p:txBody>
          <a:bodyPr wrap="square" lIns="0" rIns="0" tIns="0" bIns="0" anchor="ctr">
            <a:spAutoFit/>
          </a:bodyPr>
          <a:lstStyle/>
          <a:p>
            <a:pPr algn="l"/>
            <a:r>
              <a:rPr sz="1300" b="0" i="0">
                <a:solidFill>
                  <a:srgbClr val="1E262B"/>
                </a:solidFill>
              </a:rPr>
              <a:t>Is the set ready? What is missing, from whom.</a:t>
            </a:r>
          </a:p>
        </p:txBody>
      </p:sp>
      <p:cxnSp>
        <p:nvCxnSpPr>
          <p:cNvPr id="8" name="Connector 7"/>
          <p:cNvCxnSpPr/>
          <p:nvPr/>
        </p:nvCxnSpPr>
        <p:spPr>
          <a:xfrm>
            <a:off x="548640" y="2066543"/>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2066543"/>
            <a:ext cx="960120" cy="694944"/>
          </a:xfrm>
          <a:prstGeom prst="rect">
            <a:avLst/>
          </a:prstGeom>
          <a:noFill/>
        </p:spPr>
        <p:txBody>
          <a:bodyPr wrap="square" lIns="0" rIns="0" tIns="0" bIns="0" anchor="ctr">
            <a:spAutoFit/>
          </a:bodyPr>
          <a:lstStyle/>
          <a:p>
            <a:pPr algn="l"/>
            <a:r>
              <a:rPr sz="1000" b="1" i="0">
                <a:solidFill>
                  <a:srgbClr val="5E6A71"/>
                </a:solidFill>
              </a:rPr>
              <a:t>PUTS IN</a:t>
            </a:r>
          </a:p>
        </p:txBody>
      </p:sp>
      <p:sp>
        <p:nvSpPr>
          <p:cNvPr id="10" name="Text"/>
          <p:cNvSpPr txBox="1"/>
          <p:nvPr/>
        </p:nvSpPr>
        <p:spPr>
          <a:xfrm>
            <a:off x="1508760" y="2066543"/>
            <a:ext cx="3840480" cy="694944"/>
          </a:xfrm>
          <a:prstGeom prst="rect">
            <a:avLst/>
          </a:prstGeom>
          <a:noFill/>
        </p:spPr>
        <p:txBody>
          <a:bodyPr wrap="square" lIns="0" rIns="0" tIns="0" bIns="0" anchor="ctr">
            <a:spAutoFit/>
          </a:bodyPr>
          <a:lstStyle/>
          <a:p>
            <a:pPr algn="l"/>
            <a:r>
              <a:rPr sz="1300" b="0" i="0">
                <a:solidFill>
                  <a:srgbClr val="1E262B"/>
                </a:solidFill>
              </a:rPr>
              <a:t>One press, often one-way.</a:t>
            </a:r>
          </a:p>
        </p:txBody>
      </p:sp>
      <p:cxnSp>
        <p:nvCxnSpPr>
          <p:cNvPr id="11" name="Connector 10"/>
          <p:cNvCxnSpPr/>
          <p:nvPr/>
        </p:nvCxnSpPr>
        <p:spPr>
          <a:xfrm>
            <a:off x="548640" y="2761488"/>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2761488"/>
            <a:ext cx="960120" cy="694944"/>
          </a:xfrm>
          <a:prstGeom prst="rect">
            <a:avLst/>
          </a:prstGeom>
          <a:noFill/>
        </p:spPr>
        <p:txBody>
          <a:bodyPr wrap="square" lIns="0" rIns="0" tIns="0" bIns="0" anchor="ctr">
            <a:spAutoFit/>
          </a:bodyPr>
          <a:lstStyle/>
          <a:p>
            <a:pPr algn="l"/>
            <a:r>
              <a:rPr sz="1000" b="1" i="0">
                <a:solidFill>
                  <a:srgbClr val="5E6A71"/>
                </a:solidFill>
              </a:rPr>
              <a:t>THEN</a:t>
            </a:r>
          </a:p>
        </p:txBody>
      </p:sp>
      <p:sp>
        <p:nvSpPr>
          <p:cNvPr id="13" name="Text"/>
          <p:cNvSpPr txBox="1"/>
          <p:nvPr/>
        </p:nvSpPr>
        <p:spPr>
          <a:xfrm>
            <a:off x="1508760" y="2761488"/>
            <a:ext cx="3840480" cy="694944"/>
          </a:xfrm>
          <a:prstGeom prst="rect">
            <a:avLst/>
          </a:prstGeom>
          <a:noFill/>
        </p:spPr>
        <p:txBody>
          <a:bodyPr wrap="square" lIns="0" rIns="0" tIns="0" bIns="0" anchor="ctr">
            <a:spAutoFit/>
          </a:bodyPr>
          <a:lstStyle/>
          <a:p>
            <a:pPr algn="l"/>
            <a:r>
              <a:rPr sz="1300" b="0" i="0">
                <a:solidFill>
                  <a:srgbClr val="1E262B"/>
                </a:solidFill>
              </a:rPr>
              <a:t>What was done, and what was held, with why.</a:t>
            </a:r>
          </a:p>
        </p:txBody>
      </p:sp>
      <p:cxnSp>
        <p:nvCxnSpPr>
          <p:cNvPr id="14" name="Connector 13"/>
          <p:cNvCxnSpPr/>
          <p:nvPr/>
        </p:nvCxnSpPr>
        <p:spPr>
          <a:xfrm>
            <a:off x="548640" y="3456432"/>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3456432"/>
            <a:ext cx="960120" cy="694944"/>
          </a:xfrm>
          <a:prstGeom prst="rect">
            <a:avLst/>
          </a:prstGeom>
          <a:noFill/>
        </p:spPr>
        <p:txBody>
          <a:bodyPr wrap="square" lIns="0" rIns="0" tIns="0" bIns="0" anchor="ctr">
            <a:spAutoFit/>
          </a:bodyPr>
          <a:lstStyle/>
          <a:p>
            <a:pPr algn="l"/>
            <a:r>
              <a:rPr sz="1000" b="1" i="0">
                <a:solidFill>
                  <a:srgbClr val="B3362B"/>
                </a:solidFill>
              </a:rPr>
              <a:t>NOT</a:t>
            </a:r>
          </a:p>
        </p:txBody>
      </p:sp>
      <p:sp>
        <p:nvSpPr>
          <p:cNvPr id="16" name="Text"/>
          <p:cNvSpPr txBox="1"/>
          <p:nvPr/>
        </p:nvSpPr>
        <p:spPr>
          <a:xfrm>
            <a:off x="1508760" y="3456432"/>
            <a:ext cx="3840480" cy="694944"/>
          </a:xfrm>
          <a:prstGeom prst="rect">
            <a:avLst/>
          </a:prstGeom>
          <a:noFill/>
        </p:spPr>
        <p:txBody>
          <a:bodyPr wrap="square" lIns="0" rIns="0" tIns="0" bIns="0" anchor="ctr">
            <a:spAutoFit/>
          </a:bodyPr>
          <a:lstStyle/>
          <a:p>
            <a:pPr algn="l"/>
            <a:r>
              <a:rPr sz="1300" b="0" i="0">
                <a:solidFill>
                  <a:srgbClr val="1E262B"/>
                </a:solidFill>
              </a:rPr>
              <a:t>A list pressed 300 times; a bare button.</a:t>
            </a:r>
          </a:p>
        </p:txBody>
      </p:sp>
      <p:cxnSp>
        <p:nvCxnSpPr>
          <p:cNvPr id="17" name="Connector 16"/>
          <p:cNvCxnSpPr/>
          <p:nvPr/>
        </p:nvCxnSpPr>
        <p:spPr>
          <a:xfrm>
            <a:off x="548640" y="4151376"/>
            <a:ext cx="4800600"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8" name="Label"/>
          <p:cNvSpPr txBox="1"/>
          <p:nvPr/>
        </p:nvSpPr>
        <p:spPr>
          <a:xfrm>
            <a:off x="548640" y="4315968"/>
            <a:ext cx="4572000" cy="201168"/>
          </a:xfrm>
          <a:prstGeom prst="rect">
            <a:avLst/>
          </a:prstGeom>
          <a:noFill/>
        </p:spPr>
        <p:txBody>
          <a:bodyPr wrap="square" lIns="0" rIns="0" tIns="0" bIns="0" anchor="t">
            <a:spAutoFit/>
          </a:bodyPr>
          <a:lstStyle/>
          <a:p>
            <a:pPr algn="l"/>
            <a:r>
              <a:rPr sz="1000" b="1" i="0">
                <a:solidFill>
                  <a:srgbClr val="5E6A71"/>
                </a:solidFill>
              </a:rPr>
              <a:t>FROM THE ROLE FILES</a:t>
            </a:r>
          </a:p>
        </p:txBody>
      </p:sp>
      <p:sp>
        <p:nvSpPr>
          <p:cNvPr id="19" name="Text"/>
          <p:cNvSpPr txBox="1"/>
          <p:nvPr/>
        </p:nvSpPr>
        <p:spPr>
          <a:xfrm>
            <a:off x="548640" y="4572000"/>
            <a:ext cx="4800600" cy="868680"/>
          </a:xfrm>
          <a:prstGeom prst="rect">
            <a:avLst/>
          </a:prstGeom>
          <a:noFill/>
        </p:spPr>
        <p:txBody>
          <a:bodyPr wrap="square" lIns="0" rIns="0" tIns="0" bIns="0" anchor="t">
            <a:spAutoFit/>
          </a:bodyPr>
          <a:lstStyle/>
          <a:p>
            <a:pPr algn="l">
              <a:spcAft>
                <a:spcPts val="100"/>
              </a:spcAft>
            </a:pPr>
            <a:r>
              <a:rPr sz="1200" b="0" i="0">
                <a:solidFill>
                  <a:srgbClr val="5E6A71"/>
                </a:solidFill>
              </a:rPr>
              <a:t>·  Calculate the payroll</a:t>
            </a:r>
          </a:p>
          <a:p>
            <a:pPr algn="l">
              <a:spcAft>
                <a:spcPts val="100"/>
              </a:spcAft>
            </a:pPr>
            <a:r>
              <a:rPr sz="1200" b="0" i="0">
                <a:solidFill>
                  <a:srgbClr val="5E6A71"/>
                </a:solidFill>
              </a:rPr>
              <a:t>·  Freeze payroll inputs</a:t>
            </a:r>
          </a:p>
          <a:p>
            <a:pPr algn="l">
              <a:spcAft>
                <a:spcPts val="100"/>
              </a:spcAft>
            </a:pPr>
            <a:r>
              <a:rPr sz="1200" b="0" i="0">
                <a:solidFill>
                  <a:srgbClr val="5E6A71"/>
                </a:solidFill>
              </a:rPr>
              <a:t>·  Bring in the day’s bank statement</a:t>
            </a:r>
          </a:p>
        </p:txBody>
      </p:sp>
      <p:sp>
        <p:nvSpPr>
          <p:cNvPr id="20" name="Wire"/>
          <p:cNvSpPr/>
          <p:nvPr/>
        </p:nvSpPr>
        <p:spPr>
          <a:xfrm>
            <a:off x="5669280" y="1371600"/>
            <a:ext cx="5971032" cy="3611880"/>
          </a:xfrm>
          <a:prstGeom prst="rect">
            <a:avLst/>
          </a:prstGeom>
          <a:solidFill>
            <a:srgbClr val="FFFFFF"/>
          </a:solidFill>
          <a:ln w="12700">
            <a:solidFill>
              <a:srgbClr val="5E6A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ox"/>
          <p:cNvSpPr/>
          <p:nvPr/>
        </p:nvSpPr>
        <p:spPr>
          <a:xfrm>
            <a:off x="5669280" y="1371600"/>
            <a:ext cx="5971032" cy="27432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5779008" y="1371600"/>
            <a:ext cx="5788152" cy="274320"/>
          </a:xfrm>
          <a:prstGeom prst="rect">
            <a:avLst/>
          </a:prstGeom>
          <a:noFill/>
        </p:spPr>
        <p:txBody>
          <a:bodyPr wrap="square" lIns="0" rIns="0" tIns="0" bIns="0" anchor="ctr">
            <a:spAutoFit/>
          </a:bodyPr>
          <a:lstStyle/>
          <a:p>
            <a:pPr algn="l"/>
            <a:r>
              <a:rPr sz="950" b="1" i="0">
                <a:solidFill>
                  <a:srgbClr val="5E6A71"/>
                </a:solidFill>
              </a:rPr>
              <a:t>ONE PRESS, OVER A WHOLE SET</a:t>
            </a:r>
          </a:p>
        </p:txBody>
      </p:sp>
      <p:sp>
        <p:nvSpPr>
          <p:cNvPr id="23" name="Box"/>
          <p:cNvSpPr/>
          <p:nvPr/>
        </p:nvSpPr>
        <p:spPr>
          <a:xfrm>
            <a:off x="5908121" y="1812798"/>
            <a:ext cx="3343777" cy="1735531"/>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p:cNvSpPr txBox="1"/>
          <p:nvPr/>
        </p:nvSpPr>
        <p:spPr>
          <a:xfrm>
            <a:off x="5981273" y="1858518"/>
            <a:ext cx="3215761" cy="1662379"/>
          </a:xfrm>
          <a:prstGeom prst="rect">
            <a:avLst/>
          </a:prstGeom>
          <a:noFill/>
        </p:spPr>
        <p:txBody>
          <a:bodyPr wrap="square" lIns="0" rIns="0" tIns="0" bIns="0" anchor="t">
            <a:spAutoFit/>
          </a:bodyPr>
          <a:lstStyle/>
          <a:p>
            <a:pPr algn="l"/>
            <a:r>
              <a:rPr sz="950" b="1" i="0">
                <a:solidFill>
                  <a:srgbClr val="0B4A4A"/>
                </a:solidFill>
              </a:rPr>
              <a:t>SHOW  the gate: is the set ready?
✓ attendance in    ✓ claims checked
✗ 3 joiners with no bank account</a:t>
            </a:r>
          </a:p>
        </p:txBody>
      </p:sp>
      <p:sp>
        <p:nvSpPr>
          <p:cNvPr id="25" name="Box"/>
          <p:cNvSpPr/>
          <p:nvPr/>
        </p:nvSpPr>
        <p:spPr>
          <a:xfrm>
            <a:off x="9490740" y="1812798"/>
            <a:ext cx="1910730" cy="1001268"/>
          </a:xfrm>
          <a:prstGeom prst="rect">
            <a:avLst/>
          </a:prstGeom>
          <a:solidFill>
            <a:srgbClr val="FDECEA"/>
          </a:solidFill>
          <a:ln w="12700">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p:cNvSpPr txBox="1"/>
          <p:nvPr/>
        </p:nvSpPr>
        <p:spPr>
          <a:xfrm>
            <a:off x="9563892" y="1849374"/>
            <a:ext cx="1782714" cy="946403"/>
          </a:xfrm>
          <a:prstGeom prst="rect">
            <a:avLst/>
          </a:prstGeom>
          <a:noFill/>
        </p:spPr>
        <p:txBody>
          <a:bodyPr wrap="square" lIns="0" rIns="0" tIns="0" bIns="0" anchor="t">
            <a:spAutoFit/>
          </a:bodyPr>
          <a:lstStyle/>
          <a:p>
            <a:pPr algn="l"/>
            <a:r>
              <a:rPr sz="900" b="1" i="0">
                <a:solidFill>
                  <a:srgbClr val="B3362B"/>
                </a:solidFill>
              </a:rPr>
              <a:t>CHECK  what blocks, and who can clear it</a:t>
            </a:r>
          </a:p>
        </p:txBody>
      </p:sp>
      <p:sp>
        <p:nvSpPr>
          <p:cNvPr id="27" name="Box"/>
          <p:cNvSpPr/>
          <p:nvPr/>
        </p:nvSpPr>
        <p:spPr>
          <a:xfrm>
            <a:off x="9490740" y="3047695"/>
            <a:ext cx="1910730" cy="500634"/>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p:cNvSpPr txBox="1"/>
          <p:nvPr/>
        </p:nvSpPr>
        <p:spPr>
          <a:xfrm>
            <a:off x="9490740" y="3047695"/>
            <a:ext cx="1910730" cy="500634"/>
          </a:xfrm>
          <a:prstGeom prst="rect">
            <a:avLst/>
          </a:prstGeom>
          <a:noFill/>
        </p:spPr>
        <p:txBody>
          <a:bodyPr wrap="square" lIns="0" rIns="0" tIns="0" bIns="0" anchor="ctr">
            <a:spAutoFit/>
          </a:bodyPr>
          <a:lstStyle/>
          <a:p>
            <a:pPr algn="ctr"/>
            <a:r>
              <a:rPr sz="900" b="1" i="0">
                <a:solidFill>
                  <a:srgbClr val="FFFFFF"/>
                </a:solidFill>
              </a:rPr>
              <a:t>calculate, for 312</a:t>
            </a:r>
          </a:p>
        </p:txBody>
      </p:sp>
      <p:sp>
        <p:nvSpPr>
          <p:cNvPr id="29" name="Box"/>
          <p:cNvSpPr/>
          <p:nvPr/>
        </p:nvSpPr>
        <p:spPr>
          <a:xfrm>
            <a:off x="5908121" y="3781958"/>
            <a:ext cx="3343777" cy="934516"/>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5981273" y="3827678"/>
            <a:ext cx="3215761" cy="861364"/>
          </a:xfrm>
          <a:prstGeom prst="rect">
            <a:avLst/>
          </a:prstGeom>
          <a:noFill/>
        </p:spPr>
        <p:txBody>
          <a:bodyPr wrap="square" lIns="0" rIns="0" tIns="0" bIns="0" anchor="t">
            <a:spAutoFit/>
          </a:bodyPr>
          <a:lstStyle/>
          <a:p>
            <a:pPr algn="l"/>
            <a:r>
              <a:rPr sz="950" b="1" i="0">
                <a:solidFill>
                  <a:srgbClr val="0B4A4A"/>
                </a:solidFill>
              </a:rPr>
              <a:t>AFTER  309 done · 3 held, each with why</a:t>
            </a:r>
          </a:p>
        </p:txBody>
      </p:sp>
      <p:sp>
        <p:nvSpPr>
          <p:cNvPr id="31" name="Box"/>
          <p:cNvSpPr/>
          <p:nvPr/>
        </p:nvSpPr>
        <p:spPr>
          <a:xfrm>
            <a:off x="9490740" y="3781958"/>
            <a:ext cx="1910730" cy="934516"/>
          </a:xfrm>
          <a:prstGeom prst="rect">
            <a:avLst/>
          </a:prstGeom>
          <a:solidFill>
            <a:srgbClr val="FFFFFF"/>
          </a:solidFill>
          <a:ln w="12700">
            <a:solidFill>
              <a:srgbClr val="8A5A1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p:cNvSpPr txBox="1"/>
          <p:nvPr/>
        </p:nvSpPr>
        <p:spPr>
          <a:xfrm>
            <a:off x="9563892" y="3781958"/>
            <a:ext cx="1782714" cy="934516"/>
          </a:xfrm>
          <a:prstGeom prst="rect">
            <a:avLst/>
          </a:prstGeom>
          <a:noFill/>
        </p:spPr>
        <p:txBody>
          <a:bodyPr wrap="square" lIns="0" rIns="0" tIns="0" bIns="0" anchor="ctr">
            <a:spAutoFit/>
          </a:bodyPr>
          <a:lstStyle/>
          <a:p>
            <a:pPr algn="l"/>
            <a:r>
              <a:rPr sz="900" b="1" i="0">
                <a:solidFill>
                  <a:srgbClr val="8A5A12"/>
                </a:solidFill>
              </a:rPr>
              <a:t>one form-action on many items: no pattern has it</a:t>
            </a:r>
          </a:p>
        </p:txBody>
      </p:sp>
      <p:sp>
        <p:nvSpPr>
          <p:cNvPr id="33" name="Box"/>
          <p:cNvSpPr/>
          <p:nvPr/>
        </p:nvSpPr>
        <p:spPr>
          <a:xfrm>
            <a:off x="5669280" y="5111496"/>
            <a:ext cx="219456" cy="182880"/>
          </a:xfrm>
          <a:prstGeom prst="rect">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5961888" y="5074920"/>
            <a:ext cx="402336" cy="256032"/>
          </a:xfrm>
          <a:prstGeom prst="rect">
            <a:avLst/>
          </a:prstGeom>
          <a:noFill/>
        </p:spPr>
        <p:txBody>
          <a:bodyPr wrap="square" lIns="0" rIns="0" tIns="0" bIns="0" anchor="ctr">
            <a:spAutoFit/>
          </a:bodyPr>
          <a:lstStyle/>
          <a:p>
            <a:pPr algn="l"/>
            <a:r>
              <a:rPr sz="1050" b="0" i="0">
                <a:solidFill>
                  <a:srgbClr val="5E6A71"/>
                </a:solidFill>
              </a:rPr>
              <a:t>Show</a:t>
            </a:r>
          </a:p>
        </p:txBody>
      </p:sp>
      <p:sp>
        <p:nvSpPr>
          <p:cNvPr id="35" name="Box"/>
          <p:cNvSpPr/>
          <p:nvPr/>
        </p:nvSpPr>
        <p:spPr>
          <a:xfrm>
            <a:off x="6419088" y="5111496"/>
            <a:ext cx="219456" cy="182880"/>
          </a:xfrm>
          <a:prstGeom prst="rect">
            <a:avLst/>
          </a:prstGeom>
          <a:solidFill>
            <a:srgbClr val="FFFFFF"/>
          </a:solidFill>
          <a:ln w="19050">
            <a:solidFill>
              <a:srgbClr val="1E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6711696" y="5074920"/>
            <a:ext cx="608076" cy="256032"/>
          </a:xfrm>
          <a:prstGeom prst="rect">
            <a:avLst/>
          </a:prstGeom>
          <a:noFill/>
        </p:spPr>
        <p:txBody>
          <a:bodyPr wrap="square" lIns="0" rIns="0" tIns="0" bIns="0" anchor="ctr">
            <a:spAutoFit/>
          </a:bodyPr>
          <a:lstStyle/>
          <a:p>
            <a:pPr algn="l"/>
            <a:r>
              <a:rPr sz="1050" b="0" i="0">
                <a:solidFill>
                  <a:srgbClr val="5E6A71"/>
                </a:solidFill>
              </a:rPr>
              <a:t>Capture</a:t>
            </a:r>
          </a:p>
        </p:txBody>
      </p:sp>
      <p:sp>
        <p:nvSpPr>
          <p:cNvPr id="37" name="Box"/>
          <p:cNvSpPr/>
          <p:nvPr/>
        </p:nvSpPr>
        <p:spPr>
          <a:xfrm>
            <a:off x="7374636" y="5111496"/>
            <a:ext cx="219456" cy="182880"/>
          </a:xfrm>
          <a:prstGeom prst="roundRect">
            <a:avLst>
              <a:gd name="adj" fmla="val 3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p:cNvSpPr txBox="1"/>
          <p:nvPr/>
        </p:nvSpPr>
        <p:spPr>
          <a:xfrm>
            <a:off x="7667244" y="5074920"/>
            <a:ext cx="1019556" cy="256032"/>
          </a:xfrm>
          <a:prstGeom prst="rect">
            <a:avLst/>
          </a:prstGeom>
          <a:noFill/>
        </p:spPr>
        <p:txBody>
          <a:bodyPr wrap="square" lIns="0" rIns="0" tIns="0" bIns="0" anchor="ctr">
            <a:spAutoFit/>
          </a:bodyPr>
          <a:lstStyle/>
          <a:p>
            <a:pPr algn="l"/>
            <a:r>
              <a:rPr sz="1050" b="0" i="0">
                <a:solidFill>
                  <a:srgbClr val="5E6A71"/>
                </a:solidFill>
              </a:rPr>
              <a:t>a form-action</a:t>
            </a:r>
          </a:p>
        </p:txBody>
      </p:sp>
      <p:sp>
        <p:nvSpPr>
          <p:cNvPr id="39" name="Box"/>
          <p:cNvSpPr/>
          <p:nvPr/>
        </p:nvSpPr>
        <p:spPr>
          <a:xfrm>
            <a:off x="8741664" y="5111496"/>
            <a:ext cx="219456" cy="182880"/>
          </a:xfrm>
          <a:prstGeom prst="rect">
            <a:avLst/>
          </a:prstGeom>
          <a:solidFill>
            <a:srgbClr val="FDECEA"/>
          </a:solidFill>
          <a:ln w="9525">
            <a:solidFill>
              <a:srgbClr val="B33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
          <p:cNvSpPr txBox="1"/>
          <p:nvPr/>
        </p:nvSpPr>
        <p:spPr>
          <a:xfrm>
            <a:off x="9034272" y="5074920"/>
            <a:ext cx="608076" cy="256032"/>
          </a:xfrm>
          <a:prstGeom prst="rect">
            <a:avLst/>
          </a:prstGeom>
          <a:noFill/>
        </p:spPr>
        <p:txBody>
          <a:bodyPr wrap="square" lIns="0" rIns="0" tIns="0" bIns="0" anchor="ctr">
            <a:spAutoFit/>
          </a:bodyPr>
          <a:lstStyle/>
          <a:p>
            <a:pPr algn="l"/>
            <a:r>
              <a:rPr sz="1050" b="0" i="0">
                <a:solidFill>
                  <a:srgbClr val="5E6A71"/>
                </a:solidFill>
              </a:rPr>
              <a:t>a check</a:t>
            </a:r>
          </a:p>
        </p:txBody>
      </p:sp>
      <p:sp>
        <p:nvSpPr>
          <p:cNvPr id="41" name="Box"/>
          <p:cNvSpPr/>
          <p:nvPr/>
        </p:nvSpPr>
        <p:spPr>
          <a:xfrm>
            <a:off x="9697212" y="5111496"/>
            <a:ext cx="219456" cy="182880"/>
          </a:xfrm>
          <a:prstGeom prst="rect">
            <a:avLst/>
          </a:prstGeom>
          <a:solidFill>
            <a:srgbClr val="F1F5F6"/>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
          <p:cNvSpPr txBox="1"/>
          <p:nvPr/>
        </p:nvSpPr>
        <p:spPr>
          <a:xfrm>
            <a:off x="9989820" y="5074920"/>
            <a:ext cx="333756" cy="256032"/>
          </a:xfrm>
          <a:prstGeom prst="rect">
            <a:avLst/>
          </a:prstGeom>
          <a:noFill/>
        </p:spPr>
        <p:txBody>
          <a:bodyPr wrap="square" lIns="0" rIns="0" tIns="0" bIns="0" anchor="ctr">
            <a:spAutoFit/>
          </a:bodyPr>
          <a:lstStyle/>
          <a:p>
            <a:pPr algn="l"/>
            <a:r>
              <a:rPr sz="1050" b="0" i="0">
                <a:solidFill>
                  <a:srgbClr val="5E6A71"/>
                </a:solidFill>
              </a:rPr>
              <a:t>CnC</a:t>
            </a:r>
          </a:p>
        </p:txBody>
      </p:sp>
      <p:sp>
        <p:nvSpPr>
          <p:cNvPr id="43" name="Box"/>
          <p:cNvSpPr/>
          <p:nvPr/>
        </p:nvSpPr>
        <p:spPr>
          <a:xfrm>
            <a:off x="10378440" y="5111496"/>
            <a:ext cx="219456" cy="182880"/>
          </a:xfrm>
          <a:prstGeom prst="rect">
            <a:avLst/>
          </a:prstGeom>
          <a:solidFill>
            <a:srgbClr val="FFFFFF"/>
          </a:solidFill>
          <a:ln w="9525">
            <a:solidFill>
              <a:srgbClr val="8A5A1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
          <p:cNvSpPr txBox="1"/>
          <p:nvPr/>
        </p:nvSpPr>
        <p:spPr>
          <a:xfrm>
            <a:off x="10671048" y="5074920"/>
            <a:ext cx="1499616" cy="256032"/>
          </a:xfrm>
          <a:prstGeom prst="rect">
            <a:avLst/>
          </a:prstGeom>
          <a:noFill/>
        </p:spPr>
        <p:txBody>
          <a:bodyPr wrap="square" lIns="0" rIns="0" tIns="0" bIns="0" anchor="ctr">
            <a:spAutoFit/>
          </a:bodyPr>
          <a:lstStyle/>
          <a:p>
            <a:pPr algn="l"/>
            <a:r>
              <a:rPr sz="1050" b="0" i="0">
                <a:solidFill>
                  <a:srgbClr val="5E6A71"/>
                </a:solidFill>
              </a:rPr>
              <a:t>not in the model yet</a:t>
            </a:r>
          </a:p>
        </p:txBody>
      </p:sp>
      <p:sp>
        <p:nvSpPr>
          <p:cNvPr id="45" name="Finding"/>
          <p:cNvSpPr/>
          <p:nvPr/>
        </p:nvSpPr>
        <p:spPr>
          <a:xfrm>
            <a:off x="548640" y="566928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p:cNvSpPr txBox="1"/>
          <p:nvPr/>
        </p:nvSpPr>
        <p:spPr>
          <a:xfrm>
            <a:off x="822960" y="5669280"/>
            <a:ext cx="10543032" cy="502920"/>
          </a:xfrm>
          <a:prstGeom prst="rect">
            <a:avLst/>
          </a:prstGeom>
          <a:noFill/>
        </p:spPr>
        <p:txBody>
          <a:bodyPr wrap="square" lIns="0" rIns="0" tIns="0" bIns="0" anchor="ctr">
            <a:spAutoFit/>
          </a:bodyPr>
          <a:lstStyle/>
          <a:p>
            <a:pPr algn="l"/>
            <a:r>
              <a:rPr sz="1350" b="1" i="0">
                <a:solidFill>
                  <a:srgbClr val="1E262B"/>
                </a:solidFill>
              </a:rPr>
              <a:t>Show leads, as a gate.  </a:t>
            </a:r>
            <a:r>
              <a:rPr sz="1350" b="0" i="0">
                <a:solidFill>
                  <a:srgbClr val="1E262B"/>
                </a:solidFill>
              </a:rPr>
              <a:t>Pattern: Nearest is a Review; no pattern fits.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whole map, and what the patterns cannot hold</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FROM THE TYPE TO THE SCREEN</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18</a:t>
            </a:r>
          </a:p>
        </p:txBody>
      </p:sp>
      <p:sp>
        <p:nvSpPr>
          <p:cNvPr id="5" name="Text"/>
          <p:cNvSpPr txBox="1"/>
          <p:nvPr/>
        </p:nvSpPr>
        <p:spPr>
          <a:xfrm>
            <a:off x="548640" y="1371600"/>
            <a:ext cx="1828800" cy="201168"/>
          </a:xfrm>
          <a:prstGeom prst="rect">
            <a:avLst/>
          </a:prstGeom>
          <a:noFill/>
        </p:spPr>
        <p:txBody>
          <a:bodyPr wrap="square" lIns="0" rIns="0" tIns="0" bIns="0" anchor="t">
            <a:spAutoFit/>
          </a:bodyPr>
          <a:lstStyle/>
          <a:p>
            <a:pPr algn="l"/>
            <a:r>
              <a:rPr sz="1000" b="1" i="0">
                <a:solidFill>
                  <a:srgbClr val="5E6A71"/>
                </a:solidFill>
              </a:rPr>
              <a:t>THE TYPE</a:t>
            </a:r>
          </a:p>
        </p:txBody>
      </p:sp>
      <p:sp>
        <p:nvSpPr>
          <p:cNvPr id="6" name="Text"/>
          <p:cNvSpPr txBox="1"/>
          <p:nvPr/>
        </p:nvSpPr>
        <p:spPr>
          <a:xfrm>
            <a:off x="2468880" y="1371600"/>
            <a:ext cx="3291840" cy="201168"/>
          </a:xfrm>
          <a:prstGeom prst="rect">
            <a:avLst/>
          </a:prstGeom>
          <a:noFill/>
        </p:spPr>
        <p:txBody>
          <a:bodyPr wrap="square" lIns="0" rIns="0" tIns="0" bIns="0" anchor="t">
            <a:spAutoFit/>
          </a:bodyPr>
          <a:lstStyle/>
          <a:p>
            <a:pPr algn="l"/>
            <a:r>
              <a:rPr sz="1000" b="1" i="0">
                <a:solidFill>
                  <a:srgbClr val="0B6463"/>
                </a:solidFill>
              </a:rPr>
              <a:t>WHICH BLOCK LEADS</a:t>
            </a:r>
          </a:p>
        </p:txBody>
      </p:sp>
      <p:sp>
        <p:nvSpPr>
          <p:cNvPr id="7" name="Text"/>
          <p:cNvSpPr txBox="1"/>
          <p:nvPr/>
        </p:nvSpPr>
        <p:spPr>
          <a:xfrm>
            <a:off x="5760720" y="1371600"/>
            <a:ext cx="4114800" cy="201168"/>
          </a:xfrm>
          <a:prstGeom prst="rect">
            <a:avLst/>
          </a:prstGeom>
          <a:noFill/>
        </p:spPr>
        <p:txBody>
          <a:bodyPr wrap="square" lIns="0" rIns="0" tIns="0" bIns="0" anchor="t">
            <a:spAutoFit/>
          </a:bodyPr>
          <a:lstStyle/>
          <a:p>
            <a:pPr algn="l"/>
            <a:r>
              <a:rPr sz="1000" b="1" i="0">
                <a:solidFill>
                  <a:srgbClr val="5E6A71"/>
                </a:solidFill>
              </a:rPr>
              <a:t>THE SCREEN</a:t>
            </a:r>
          </a:p>
        </p:txBody>
      </p:sp>
      <p:sp>
        <p:nvSpPr>
          <p:cNvPr id="8" name="Text"/>
          <p:cNvSpPr txBox="1"/>
          <p:nvPr/>
        </p:nvSpPr>
        <p:spPr>
          <a:xfrm>
            <a:off x="9966960" y="1371600"/>
            <a:ext cx="1673352" cy="201168"/>
          </a:xfrm>
          <a:prstGeom prst="rect">
            <a:avLst/>
          </a:prstGeom>
          <a:noFill/>
        </p:spPr>
        <p:txBody>
          <a:bodyPr wrap="square" lIns="0" rIns="0" tIns="0" bIns="0" anchor="t">
            <a:spAutoFit/>
          </a:bodyPr>
          <a:lstStyle/>
          <a:p>
            <a:pPr algn="l"/>
            <a:r>
              <a:rPr sz="1000" b="1" i="0">
                <a:solidFill>
                  <a:srgbClr val="5E6A71"/>
                </a:solidFill>
              </a:rPr>
              <a:t>IN THIS SEAT'S APP</a:t>
            </a:r>
          </a:p>
        </p:txBody>
      </p:sp>
      <p:cxnSp>
        <p:nvCxnSpPr>
          <p:cNvPr id="9" name="Connector 8"/>
          <p:cNvCxnSpPr/>
          <p:nvPr/>
        </p:nvCxnSpPr>
        <p:spPr>
          <a:xfrm>
            <a:off x="548640" y="162763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0" name="Text"/>
          <p:cNvSpPr txBox="1"/>
          <p:nvPr/>
        </p:nvSpPr>
        <p:spPr>
          <a:xfrm>
            <a:off x="548640" y="1627632"/>
            <a:ext cx="1828800" cy="402336"/>
          </a:xfrm>
          <a:prstGeom prst="rect">
            <a:avLst/>
          </a:prstGeom>
          <a:noFill/>
        </p:spPr>
        <p:txBody>
          <a:bodyPr wrap="square" lIns="0" rIns="0" tIns="0" bIns="0" anchor="ctr">
            <a:spAutoFit/>
          </a:bodyPr>
          <a:lstStyle/>
          <a:p>
            <a:pPr algn="l"/>
            <a:r>
              <a:rPr sz="1400" b="1" i="0">
                <a:solidFill>
                  <a:srgbClr val="0B6463"/>
                </a:solidFill>
              </a:rPr>
              <a:t>Decide</a:t>
            </a:r>
          </a:p>
        </p:txBody>
      </p:sp>
      <p:sp>
        <p:nvSpPr>
          <p:cNvPr id="11" name="Text"/>
          <p:cNvSpPr txBox="1"/>
          <p:nvPr/>
        </p:nvSpPr>
        <p:spPr>
          <a:xfrm>
            <a:off x="2468880" y="1627632"/>
            <a:ext cx="3246120" cy="402336"/>
          </a:xfrm>
          <a:prstGeom prst="rect">
            <a:avLst/>
          </a:prstGeom>
          <a:noFill/>
        </p:spPr>
        <p:txBody>
          <a:bodyPr wrap="square" lIns="0" rIns="0" tIns="0" bIns="0" anchor="ctr">
            <a:spAutoFit/>
          </a:bodyPr>
          <a:lstStyle/>
          <a:p>
            <a:pPr algn="l"/>
            <a:r>
              <a:rPr sz="1200" b="1" i="0">
                <a:solidFill>
                  <a:srgbClr val="1E262B"/>
                </a:solidFill>
              </a:rPr>
              <a:t>Show leads</a:t>
            </a:r>
          </a:p>
        </p:txBody>
      </p:sp>
      <p:sp>
        <p:nvSpPr>
          <p:cNvPr id="12" name="Text"/>
          <p:cNvSpPr txBox="1"/>
          <p:nvPr/>
        </p:nvSpPr>
        <p:spPr>
          <a:xfrm>
            <a:off x="5760720" y="1627632"/>
            <a:ext cx="4160520" cy="402336"/>
          </a:xfrm>
          <a:prstGeom prst="rect">
            <a:avLst/>
          </a:prstGeom>
          <a:noFill/>
        </p:spPr>
        <p:txBody>
          <a:bodyPr wrap="square" lIns="0" rIns="0" tIns="0" bIns="0" anchor="ctr">
            <a:spAutoFit/>
          </a:bodyPr>
          <a:lstStyle/>
          <a:p>
            <a:pPr algn="l"/>
            <a:r>
              <a:rPr sz="1200" b="0" i="0">
                <a:solidFill>
                  <a:srgbClr val="1E262B"/>
                </a:solidFill>
              </a:rPr>
              <a:t>Review</a:t>
            </a:r>
          </a:p>
        </p:txBody>
      </p:sp>
      <p:sp>
        <p:nvSpPr>
          <p:cNvPr id="13" name="Text"/>
          <p:cNvSpPr txBox="1"/>
          <p:nvPr/>
        </p:nvSpPr>
        <p:spPr>
          <a:xfrm>
            <a:off x="9966960" y="1627632"/>
            <a:ext cx="1673352" cy="402336"/>
          </a:xfrm>
          <a:prstGeom prst="rect">
            <a:avLst/>
          </a:prstGeom>
          <a:noFill/>
        </p:spPr>
        <p:txBody>
          <a:bodyPr wrap="square" lIns="0" rIns="0" tIns="0" bIns="0" anchor="ctr">
            <a:spAutoFit/>
          </a:bodyPr>
          <a:lstStyle/>
          <a:p>
            <a:pPr algn="l"/>
            <a:r>
              <a:rPr sz="1150" b="0" i="0">
                <a:solidFill>
                  <a:srgbClr val="5E6A71"/>
                </a:solidFill>
              </a:rPr>
              <a:t>the bill</a:t>
            </a:r>
          </a:p>
        </p:txBody>
      </p:sp>
      <p:cxnSp>
        <p:nvCxnSpPr>
          <p:cNvPr id="14" name="Connector 13"/>
          <p:cNvCxnSpPr/>
          <p:nvPr/>
        </p:nvCxnSpPr>
        <p:spPr>
          <a:xfrm>
            <a:off x="548640" y="202996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2029968"/>
            <a:ext cx="1828800" cy="402336"/>
          </a:xfrm>
          <a:prstGeom prst="rect">
            <a:avLst/>
          </a:prstGeom>
          <a:noFill/>
        </p:spPr>
        <p:txBody>
          <a:bodyPr wrap="square" lIns="0" rIns="0" tIns="0" bIns="0" anchor="ctr">
            <a:spAutoFit/>
          </a:bodyPr>
          <a:lstStyle/>
          <a:p>
            <a:pPr algn="l"/>
            <a:r>
              <a:rPr sz="1400" b="1" i="0">
                <a:solidFill>
                  <a:srgbClr val="0B6463"/>
                </a:solidFill>
              </a:rPr>
              <a:t>Make</a:t>
            </a:r>
          </a:p>
        </p:txBody>
      </p:sp>
      <p:sp>
        <p:nvSpPr>
          <p:cNvPr id="16" name="Text"/>
          <p:cNvSpPr txBox="1"/>
          <p:nvPr/>
        </p:nvSpPr>
        <p:spPr>
          <a:xfrm>
            <a:off x="2468880" y="2029968"/>
            <a:ext cx="3246120" cy="402336"/>
          </a:xfrm>
          <a:prstGeom prst="rect">
            <a:avLst/>
          </a:prstGeom>
          <a:noFill/>
        </p:spPr>
        <p:txBody>
          <a:bodyPr wrap="square" lIns="0" rIns="0" tIns="0" bIns="0" anchor="ctr">
            <a:spAutoFit/>
          </a:bodyPr>
          <a:lstStyle/>
          <a:p>
            <a:pPr algn="l"/>
            <a:r>
              <a:rPr sz="1200" b="1" i="0">
                <a:solidFill>
                  <a:srgbClr val="1E262B"/>
                </a:solidFill>
              </a:rPr>
              <a:t>Capture leads</a:t>
            </a:r>
          </a:p>
        </p:txBody>
      </p:sp>
      <p:sp>
        <p:nvSpPr>
          <p:cNvPr id="17" name="Text"/>
          <p:cNvSpPr txBox="1"/>
          <p:nvPr/>
        </p:nvSpPr>
        <p:spPr>
          <a:xfrm>
            <a:off x="5760720" y="2029968"/>
            <a:ext cx="4160520" cy="402336"/>
          </a:xfrm>
          <a:prstGeom prst="rect">
            <a:avLst/>
          </a:prstGeom>
          <a:noFill/>
        </p:spPr>
        <p:txBody>
          <a:bodyPr wrap="square" lIns="0" rIns="0" tIns="0" bIns="0" anchor="ctr">
            <a:spAutoFit/>
          </a:bodyPr>
          <a:lstStyle/>
          <a:p>
            <a:pPr algn="l"/>
            <a:r>
              <a:rPr sz="1200" b="0" i="0">
                <a:solidFill>
                  <a:srgbClr val="1E262B"/>
                </a:solidFill>
              </a:rPr>
              <a:t>Flow, or a Form when small</a:t>
            </a:r>
          </a:p>
        </p:txBody>
      </p:sp>
      <p:sp>
        <p:nvSpPr>
          <p:cNvPr id="18" name="Text"/>
          <p:cNvSpPr txBox="1"/>
          <p:nvPr/>
        </p:nvSpPr>
        <p:spPr>
          <a:xfrm>
            <a:off x="9966960" y="2029968"/>
            <a:ext cx="1673352" cy="402336"/>
          </a:xfrm>
          <a:prstGeom prst="rect">
            <a:avLst/>
          </a:prstGeom>
          <a:noFill/>
        </p:spPr>
        <p:txBody>
          <a:bodyPr wrap="square" lIns="0" rIns="0" tIns="0" bIns="0" anchor="ctr">
            <a:spAutoFit/>
          </a:bodyPr>
          <a:lstStyle/>
          <a:p>
            <a:pPr algn="l"/>
            <a:r>
              <a:rPr sz="1150" b="0" i="0">
                <a:solidFill>
                  <a:srgbClr val="5E6A71"/>
                </a:solidFill>
              </a:rPr>
              <a:t>a new Works Order</a:t>
            </a:r>
          </a:p>
        </p:txBody>
      </p:sp>
      <p:cxnSp>
        <p:nvCxnSpPr>
          <p:cNvPr id="19" name="Connector 18"/>
          <p:cNvCxnSpPr/>
          <p:nvPr/>
        </p:nvCxnSpPr>
        <p:spPr>
          <a:xfrm>
            <a:off x="548640" y="243230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2432304"/>
            <a:ext cx="1828800" cy="402336"/>
          </a:xfrm>
          <a:prstGeom prst="rect">
            <a:avLst/>
          </a:prstGeom>
          <a:noFill/>
        </p:spPr>
        <p:txBody>
          <a:bodyPr wrap="square" lIns="0" rIns="0" tIns="0" bIns="0" anchor="ctr">
            <a:spAutoFit/>
          </a:bodyPr>
          <a:lstStyle/>
          <a:p>
            <a:pPr algn="l"/>
            <a:r>
              <a:rPr sz="1400" b="1" i="0">
                <a:solidFill>
                  <a:srgbClr val="0B6463"/>
                </a:solidFill>
              </a:rPr>
              <a:t>Record</a:t>
            </a:r>
          </a:p>
        </p:txBody>
      </p:sp>
      <p:sp>
        <p:nvSpPr>
          <p:cNvPr id="21" name="Text"/>
          <p:cNvSpPr txBox="1"/>
          <p:nvPr/>
        </p:nvSpPr>
        <p:spPr>
          <a:xfrm>
            <a:off x="2468880" y="2432304"/>
            <a:ext cx="3246120" cy="402336"/>
          </a:xfrm>
          <a:prstGeom prst="rect">
            <a:avLst/>
          </a:prstGeom>
          <a:noFill/>
        </p:spPr>
        <p:txBody>
          <a:bodyPr wrap="square" lIns="0" rIns="0" tIns="0" bIns="0" anchor="ctr">
            <a:spAutoFit/>
          </a:bodyPr>
          <a:lstStyle/>
          <a:p>
            <a:pPr algn="l"/>
            <a:r>
              <a:rPr sz="1200" b="1" i="0">
                <a:solidFill>
                  <a:srgbClr val="1E262B"/>
                </a:solidFill>
              </a:rPr>
              <a:t>Capture leads, filled in already</a:t>
            </a:r>
          </a:p>
        </p:txBody>
      </p:sp>
      <p:sp>
        <p:nvSpPr>
          <p:cNvPr id="22" name="Text"/>
          <p:cNvSpPr txBox="1"/>
          <p:nvPr/>
        </p:nvSpPr>
        <p:spPr>
          <a:xfrm>
            <a:off x="5760720" y="2432304"/>
            <a:ext cx="4160520" cy="402336"/>
          </a:xfrm>
          <a:prstGeom prst="rect">
            <a:avLst/>
          </a:prstGeom>
          <a:noFill/>
        </p:spPr>
        <p:txBody>
          <a:bodyPr wrap="square" lIns="0" rIns="0" tIns="0" bIns="0" anchor="ctr">
            <a:spAutoFit/>
          </a:bodyPr>
          <a:lstStyle/>
          <a:p>
            <a:pPr algn="l"/>
            <a:r>
              <a:rPr sz="1200" b="0" i="0">
                <a:solidFill>
                  <a:srgbClr val="1E262B"/>
                </a:solidFill>
              </a:rPr>
              <a:t>Form, filled in from what was expected</a:t>
            </a:r>
          </a:p>
        </p:txBody>
      </p:sp>
      <p:sp>
        <p:nvSpPr>
          <p:cNvPr id="23" name="Text"/>
          <p:cNvSpPr txBox="1"/>
          <p:nvPr/>
        </p:nvSpPr>
        <p:spPr>
          <a:xfrm>
            <a:off x="9966960" y="2432304"/>
            <a:ext cx="1673352" cy="402336"/>
          </a:xfrm>
          <a:prstGeom prst="rect">
            <a:avLst/>
          </a:prstGeom>
          <a:noFill/>
        </p:spPr>
        <p:txBody>
          <a:bodyPr wrap="square" lIns="0" rIns="0" tIns="0" bIns="0" anchor="ctr">
            <a:spAutoFit/>
          </a:bodyPr>
          <a:lstStyle/>
          <a:p>
            <a:pPr algn="l"/>
            <a:r>
              <a:rPr sz="1150" b="0" i="0">
                <a:solidFill>
                  <a:srgbClr val="5E6A71"/>
                </a:solidFill>
              </a:rPr>
              <a:t>contractor papers</a:t>
            </a:r>
          </a:p>
        </p:txBody>
      </p:sp>
      <p:cxnSp>
        <p:nvCxnSpPr>
          <p:cNvPr id="24" name="Connector 23"/>
          <p:cNvCxnSpPr/>
          <p:nvPr/>
        </p:nvCxnSpPr>
        <p:spPr>
          <a:xfrm>
            <a:off x="548640" y="283464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2834640"/>
            <a:ext cx="1828800" cy="402336"/>
          </a:xfrm>
          <a:prstGeom prst="rect">
            <a:avLst/>
          </a:prstGeom>
          <a:noFill/>
        </p:spPr>
        <p:txBody>
          <a:bodyPr wrap="square" lIns="0" rIns="0" tIns="0" bIns="0" anchor="ctr">
            <a:spAutoFit/>
          </a:bodyPr>
          <a:lstStyle/>
          <a:p>
            <a:pPr algn="l"/>
            <a:r>
              <a:rPr sz="1400" b="1" i="0">
                <a:solidFill>
                  <a:srgbClr val="0B6463"/>
                </a:solidFill>
              </a:rPr>
              <a:t>Ask</a:t>
            </a:r>
          </a:p>
        </p:txBody>
      </p:sp>
      <p:sp>
        <p:nvSpPr>
          <p:cNvPr id="26" name="Text"/>
          <p:cNvSpPr txBox="1"/>
          <p:nvPr/>
        </p:nvSpPr>
        <p:spPr>
          <a:xfrm>
            <a:off x="2468880" y="2834640"/>
            <a:ext cx="3246120" cy="402336"/>
          </a:xfrm>
          <a:prstGeom prst="rect">
            <a:avLst/>
          </a:prstGeom>
          <a:noFill/>
        </p:spPr>
        <p:txBody>
          <a:bodyPr wrap="square" lIns="0" rIns="0" tIns="0" bIns="0" anchor="ctr">
            <a:spAutoFit/>
          </a:bodyPr>
          <a:lstStyle/>
          <a:p>
            <a:pPr algn="l"/>
            <a:r>
              <a:rPr sz="1200" b="1" i="0">
                <a:solidFill>
                  <a:srgbClr val="1E262B"/>
                </a:solidFill>
              </a:rPr>
              <a:t>Capture leads, and it is small</a:t>
            </a:r>
          </a:p>
        </p:txBody>
      </p:sp>
      <p:sp>
        <p:nvSpPr>
          <p:cNvPr id="27" name="Text"/>
          <p:cNvSpPr txBox="1"/>
          <p:nvPr/>
        </p:nvSpPr>
        <p:spPr>
          <a:xfrm>
            <a:off x="5760720" y="2834640"/>
            <a:ext cx="4160520" cy="402336"/>
          </a:xfrm>
          <a:prstGeom prst="rect">
            <a:avLst/>
          </a:prstGeom>
          <a:noFill/>
        </p:spPr>
        <p:txBody>
          <a:bodyPr wrap="square" lIns="0" rIns="0" tIns="0" bIns="0" anchor="ctr">
            <a:spAutoFit/>
          </a:bodyPr>
          <a:lstStyle/>
          <a:p>
            <a:pPr algn="l"/>
            <a:r>
              <a:rPr sz="1200" b="0" i="0">
                <a:solidFill>
                  <a:srgbClr val="1E262B"/>
                </a:solidFill>
              </a:rPr>
              <a:t>Form, opened on the item</a:t>
            </a:r>
          </a:p>
        </p:txBody>
      </p:sp>
      <p:sp>
        <p:nvSpPr>
          <p:cNvPr id="28" name="Text"/>
          <p:cNvSpPr txBox="1"/>
          <p:nvPr/>
        </p:nvSpPr>
        <p:spPr>
          <a:xfrm>
            <a:off x="9966960" y="2834640"/>
            <a:ext cx="1673352" cy="402336"/>
          </a:xfrm>
          <a:prstGeom prst="rect">
            <a:avLst/>
          </a:prstGeom>
          <a:noFill/>
        </p:spPr>
        <p:txBody>
          <a:bodyPr wrap="square" lIns="0" rIns="0" tIns="0" bIns="0" anchor="ctr">
            <a:spAutoFit/>
          </a:bodyPr>
          <a:lstStyle/>
          <a:p>
            <a:pPr algn="l"/>
            <a:r>
              <a:rPr sz="1150" b="0" i="0">
                <a:solidFill>
                  <a:srgbClr val="5E6A71"/>
                </a:solidFill>
              </a:rPr>
              <a:t>a milestone</a:t>
            </a:r>
          </a:p>
        </p:txBody>
      </p:sp>
      <p:cxnSp>
        <p:nvCxnSpPr>
          <p:cNvPr id="29" name="Connector 28"/>
          <p:cNvCxnSpPr/>
          <p:nvPr/>
        </p:nvCxnSpPr>
        <p:spPr>
          <a:xfrm>
            <a:off x="548640" y="323697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0" name="Text"/>
          <p:cNvSpPr txBox="1"/>
          <p:nvPr/>
        </p:nvSpPr>
        <p:spPr>
          <a:xfrm>
            <a:off x="548640" y="3236976"/>
            <a:ext cx="1828800" cy="402336"/>
          </a:xfrm>
          <a:prstGeom prst="rect">
            <a:avLst/>
          </a:prstGeom>
          <a:noFill/>
        </p:spPr>
        <p:txBody>
          <a:bodyPr wrap="square" lIns="0" rIns="0" tIns="0" bIns="0" anchor="ctr">
            <a:spAutoFit/>
          </a:bodyPr>
          <a:lstStyle/>
          <a:p>
            <a:pPr algn="l"/>
            <a:r>
              <a:rPr sz="1400" b="1" i="0">
                <a:solidFill>
                  <a:srgbClr val="0B6463"/>
                </a:solidFill>
              </a:rPr>
              <a:t>Chase</a:t>
            </a:r>
          </a:p>
        </p:txBody>
      </p:sp>
      <p:sp>
        <p:nvSpPr>
          <p:cNvPr id="31" name="Text"/>
          <p:cNvSpPr txBox="1"/>
          <p:nvPr/>
        </p:nvSpPr>
        <p:spPr>
          <a:xfrm>
            <a:off x="2468880" y="3236976"/>
            <a:ext cx="3246120" cy="402336"/>
          </a:xfrm>
          <a:prstGeom prst="rect">
            <a:avLst/>
          </a:prstGeom>
          <a:noFill/>
        </p:spPr>
        <p:txBody>
          <a:bodyPr wrap="square" lIns="0" rIns="0" tIns="0" bIns="0" anchor="ctr">
            <a:spAutoFit/>
          </a:bodyPr>
          <a:lstStyle/>
          <a:p>
            <a:pPr algn="l"/>
            <a:r>
              <a:rPr sz="1200" b="1" i="0">
                <a:solidFill>
                  <a:srgbClr val="1E262B"/>
                </a:solidFill>
              </a:rPr>
              <a:t>Neither block leads</a:t>
            </a:r>
          </a:p>
        </p:txBody>
      </p:sp>
      <p:sp>
        <p:nvSpPr>
          <p:cNvPr id="32" name="Text"/>
          <p:cNvSpPr txBox="1"/>
          <p:nvPr/>
        </p:nvSpPr>
        <p:spPr>
          <a:xfrm>
            <a:off x="5760720" y="3236976"/>
            <a:ext cx="4160520" cy="402336"/>
          </a:xfrm>
          <a:prstGeom prst="rect">
            <a:avLst/>
          </a:prstGeom>
          <a:noFill/>
        </p:spPr>
        <p:txBody>
          <a:bodyPr wrap="square" lIns="0" rIns="0" tIns="0" bIns="0" anchor="ctr">
            <a:spAutoFit/>
          </a:bodyPr>
          <a:lstStyle/>
          <a:p>
            <a:pPr algn="l"/>
            <a:r>
              <a:rPr sz="1200" b="0" i="0">
                <a:solidFill>
                  <a:srgbClr val="1E262B"/>
                </a:solidFill>
              </a:rPr>
              <a:t>One form-action, on the item</a:t>
            </a:r>
          </a:p>
        </p:txBody>
      </p:sp>
      <p:sp>
        <p:nvSpPr>
          <p:cNvPr id="33" name="Text"/>
          <p:cNvSpPr txBox="1"/>
          <p:nvPr/>
        </p:nvSpPr>
        <p:spPr>
          <a:xfrm>
            <a:off x="9966960" y="3236976"/>
            <a:ext cx="1673352" cy="402336"/>
          </a:xfrm>
          <a:prstGeom prst="rect">
            <a:avLst/>
          </a:prstGeom>
          <a:noFill/>
        </p:spPr>
        <p:txBody>
          <a:bodyPr wrap="square" lIns="0" rIns="0" tIns="0" bIns="0" anchor="ctr">
            <a:spAutoFit/>
          </a:bodyPr>
          <a:lstStyle/>
          <a:p>
            <a:pPr algn="l"/>
            <a:r>
              <a:rPr sz="1150" b="0" i="0">
                <a:solidFill>
                  <a:srgbClr val="5E6A71"/>
                </a:solidFill>
              </a:rPr>
              <a:t>the reminder</a:t>
            </a:r>
          </a:p>
        </p:txBody>
      </p:sp>
      <p:cxnSp>
        <p:nvCxnSpPr>
          <p:cNvPr id="34" name="Connector 33"/>
          <p:cNvCxnSpPr/>
          <p:nvPr/>
        </p:nvCxnSpPr>
        <p:spPr>
          <a:xfrm>
            <a:off x="548640" y="363931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5" name="Text"/>
          <p:cNvSpPr txBox="1"/>
          <p:nvPr/>
        </p:nvSpPr>
        <p:spPr>
          <a:xfrm>
            <a:off x="548640" y="3639312"/>
            <a:ext cx="1828800" cy="402336"/>
          </a:xfrm>
          <a:prstGeom prst="rect">
            <a:avLst/>
          </a:prstGeom>
          <a:noFill/>
        </p:spPr>
        <p:txBody>
          <a:bodyPr wrap="square" lIns="0" rIns="0" tIns="0" bIns="0" anchor="ctr">
            <a:spAutoFit/>
          </a:bodyPr>
          <a:lstStyle/>
          <a:p>
            <a:pPr algn="l"/>
            <a:r>
              <a:rPr sz="1400" b="1" i="0">
                <a:solidFill>
                  <a:srgbClr val="0B6463"/>
                </a:solidFill>
              </a:rPr>
              <a:t>Answer</a:t>
            </a:r>
          </a:p>
        </p:txBody>
      </p:sp>
      <p:sp>
        <p:nvSpPr>
          <p:cNvPr id="36" name="Text"/>
          <p:cNvSpPr txBox="1"/>
          <p:nvPr/>
        </p:nvSpPr>
        <p:spPr>
          <a:xfrm>
            <a:off x="2468880" y="3639312"/>
            <a:ext cx="3246120" cy="402336"/>
          </a:xfrm>
          <a:prstGeom prst="rect">
            <a:avLst/>
          </a:prstGeom>
          <a:noFill/>
        </p:spPr>
        <p:txBody>
          <a:bodyPr wrap="square" lIns="0" rIns="0" tIns="0" bIns="0" anchor="ctr">
            <a:spAutoFit/>
          </a:bodyPr>
          <a:lstStyle/>
          <a:p>
            <a:pPr algn="l"/>
            <a:r>
              <a:rPr sz="1200" b="1" i="0">
                <a:solidFill>
                  <a:srgbClr val="1E262B"/>
                </a:solidFill>
              </a:rPr>
              <a:t>Show leads, then CnC</a:t>
            </a:r>
          </a:p>
        </p:txBody>
      </p:sp>
      <p:sp>
        <p:nvSpPr>
          <p:cNvPr id="37" name="Text"/>
          <p:cNvSpPr txBox="1"/>
          <p:nvPr/>
        </p:nvSpPr>
        <p:spPr>
          <a:xfrm>
            <a:off x="5760720" y="3639312"/>
            <a:ext cx="4160520" cy="402336"/>
          </a:xfrm>
          <a:prstGeom prst="rect">
            <a:avLst/>
          </a:prstGeom>
          <a:noFill/>
        </p:spPr>
        <p:txBody>
          <a:bodyPr wrap="square" lIns="0" rIns="0" tIns="0" bIns="0" anchor="ctr">
            <a:spAutoFit/>
          </a:bodyPr>
          <a:lstStyle/>
          <a:p>
            <a:pPr algn="l"/>
            <a:r>
              <a:rPr sz="1200" b="0" i="0">
                <a:solidFill>
                  <a:srgbClr val="1E262B"/>
                </a:solidFill>
              </a:rPr>
              <a:t>Search, and the item's own page</a:t>
            </a:r>
          </a:p>
        </p:txBody>
      </p:sp>
      <p:sp>
        <p:nvSpPr>
          <p:cNvPr id="38" name="Text"/>
          <p:cNvSpPr txBox="1"/>
          <p:nvPr/>
        </p:nvSpPr>
        <p:spPr>
          <a:xfrm>
            <a:off x="9966960" y="3639312"/>
            <a:ext cx="1673352" cy="402336"/>
          </a:xfrm>
          <a:prstGeom prst="rect">
            <a:avLst/>
          </a:prstGeom>
          <a:noFill/>
        </p:spPr>
        <p:txBody>
          <a:bodyPr wrap="square" lIns="0" rIns="0" tIns="0" bIns="0" anchor="ctr">
            <a:spAutoFit/>
          </a:bodyPr>
          <a:lstStyle/>
          <a:p>
            <a:pPr algn="l"/>
            <a:r>
              <a:rPr sz="1150" b="0" i="0">
                <a:solidFill>
                  <a:srgbClr val="5E6A71"/>
                </a:solidFill>
              </a:rPr>
              <a:t>search</a:t>
            </a:r>
          </a:p>
        </p:txBody>
      </p:sp>
      <p:cxnSp>
        <p:nvCxnSpPr>
          <p:cNvPr id="39" name="Connector 38"/>
          <p:cNvCxnSpPr/>
          <p:nvPr/>
        </p:nvCxnSpPr>
        <p:spPr>
          <a:xfrm>
            <a:off x="548640" y="404164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0" name="Box"/>
          <p:cNvSpPr/>
          <p:nvPr/>
        </p:nvSpPr>
        <p:spPr>
          <a:xfrm>
            <a:off x="548640" y="4041648"/>
            <a:ext cx="11091672" cy="402336"/>
          </a:xfrm>
          <a:prstGeom prst="rect">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
          <p:cNvSpPr txBox="1"/>
          <p:nvPr/>
        </p:nvSpPr>
        <p:spPr>
          <a:xfrm>
            <a:off x="640080" y="4041648"/>
            <a:ext cx="1828800" cy="402336"/>
          </a:xfrm>
          <a:prstGeom prst="rect">
            <a:avLst/>
          </a:prstGeom>
          <a:noFill/>
        </p:spPr>
        <p:txBody>
          <a:bodyPr wrap="square" lIns="0" rIns="0" tIns="0" bIns="0" anchor="ctr">
            <a:spAutoFit/>
          </a:bodyPr>
          <a:lstStyle/>
          <a:p>
            <a:pPr algn="l"/>
            <a:r>
              <a:rPr sz="1400" b="1" i="0">
                <a:solidFill>
                  <a:srgbClr val="0B6463"/>
                </a:solidFill>
              </a:rPr>
              <a:t>Assess</a:t>
            </a:r>
          </a:p>
        </p:txBody>
      </p:sp>
      <p:sp>
        <p:nvSpPr>
          <p:cNvPr id="42" name="Text"/>
          <p:cNvSpPr txBox="1"/>
          <p:nvPr/>
        </p:nvSpPr>
        <p:spPr>
          <a:xfrm>
            <a:off x="2468880" y="4041648"/>
            <a:ext cx="3246120" cy="402336"/>
          </a:xfrm>
          <a:prstGeom prst="rect">
            <a:avLst/>
          </a:prstGeom>
          <a:noFill/>
        </p:spPr>
        <p:txBody>
          <a:bodyPr wrap="square" lIns="0" rIns="0" tIns="0" bIns="0" anchor="ctr">
            <a:spAutoFit/>
          </a:bodyPr>
          <a:lstStyle/>
          <a:p>
            <a:pPr algn="l"/>
            <a:r>
              <a:rPr sz="1200" b="1" i="0">
                <a:solidFill>
                  <a:srgbClr val="1E262B"/>
                </a:solidFill>
              </a:rPr>
              <a:t>Show leads</a:t>
            </a:r>
          </a:p>
        </p:txBody>
      </p:sp>
      <p:sp>
        <p:nvSpPr>
          <p:cNvPr id="43" name="Text"/>
          <p:cNvSpPr txBox="1"/>
          <p:nvPr/>
        </p:nvSpPr>
        <p:spPr>
          <a:xfrm>
            <a:off x="5760720" y="4041648"/>
            <a:ext cx="4160520" cy="402336"/>
          </a:xfrm>
          <a:prstGeom prst="rect">
            <a:avLst/>
          </a:prstGeom>
          <a:noFill/>
        </p:spPr>
        <p:txBody>
          <a:bodyPr wrap="square" lIns="0" rIns="0" tIns="0" bIns="0" anchor="ctr">
            <a:spAutoFit/>
          </a:bodyPr>
          <a:lstStyle/>
          <a:p>
            <a:pPr algn="l"/>
            <a:r>
              <a:rPr sz="1200" b="0" i="0">
                <a:solidFill>
                  <a:srgbClr val="1E262B"/>
                </a:solidFill>
              </a:rPr>
              <a:t>None of the seven: it must keep a conclusion</a:t>
            </a:r>
          </a:p>
        </p:txBody>
      </p:sp>
      <p:sp>
        <p:nvSpPr>
          <p:cNvPr id="44" name="Text"/>
          <p:cNvSpPr txBox="1"/>
          <p:nvPr/>
        </p:nvSpPr>
        <p:spPr>
          <a:xfrm>
            <a:off x="9966960" y="4041648"/>
            <a:ext cx="1673352" cy="402336"/>
          </a:xfrm>
          <a:prstGeom prst="rect">
            <a:avLst/>
          </a:prstGeom>
          <a:noFill/>
        </p:spPr>
        <p:txBody>
          <a:bodyPr wrap="square" lIns="0" rIns="0" tIns="0" bIns="0" anchor="ctr">
            <a:spAutoFit/>
          </a:bodyPr>
          <a:lstStyle/>
          <a:p>
            <a:pPr algn="l"/>
            <a:r>
              <a:rPr sz="1150" b="0" i="0">
                <a:solidFill>
                  <a:srgbClr val="B3362B"/>
                </a:solidFill>
              </a:rPr>
              <a:t>none</a:t>
            </a:r>
          </a:p>
        </p:txBody>
      </p:sp>
      <p:cxnSp>
        <p:nvCxnSpPr>
          <p:cNvPr id="45" name="Connector 44"/>
          <p:cNvCxnSpPr/>
          <p:nvPr/>
        </p:nvCxnSpPr>
        <p:spPr>
          <a:xfrm>
            <a:off x="548640" y="444398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6" name="Box"/>
          <p:cNvSpPr/>
          <p:nvPr/>
        </p:nvSpPr>
        <p:spPr>
          <a:xfrm>
            <a:off x="548640" y="4443984"/>
            <a:ext cx="11091672" cy="402336"/>
          </a:xfrm>
          <a:prstGeom prst="rect">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
          <p:cNvSpPr txBox="1"/>
          <p:nvPr/>
        </p:nvSpPr>
        <p:spPr>
          <a:xfrm>
            <a:off x="640080" y="4443984"/>
            <a:ext cx="1828800" cy="402336"/>
          </a:xfrm>
          <a:prstGeom prst="rect">
            <a:avLst/>
          </a:prstGeom>
          <a:noFill/>
        </p:spPr>
        <p:txBody>
          <a:bodyPr wrap="square" lIns="0" rIns="0" tIns="0" bIns="0" anchor="ctr">
            <a:spAutoFit/>
          </a:bodyPr>
          <a:lstStyle/>
          <a:p>
            <a:pPr algn="l"/>
            <a:r>
              <a:rPr sz="1400" b="1" i="0">
                <a:solidFill>
                  <a:srgbClr val="0B6463"/>
                </a:solidFill>
              </a:rPr>
              <a:t>Report</a:t>
            </a:r>
          </a:p>
        </p:txBody>
      </p:sp>
      <p:sp>
        <p:nvSpPr>
          <p:cNvPr id="48" name="Text"/>
          <p:cNvSpPr txBox="1"/>
          <p:nvPr/>
        </p:nvSpPr>
        <p:spPr>
          <a:xfrm>
            <a:off x="2468880" y="4443984"/>
            <a:ext cx="3246120" cy="402336"/>
          </a:xfrm>
          <a:prstGeom prst="rect">
            <a:avLst/>
          </a:prstGeom>
          <a:noFill/>
        </p:spPr>
        <p:txBody>
          <a:bodyPr wrap="square" lIns="0" rIns="0" tIns="0" bIns="0" anchor="ctr">
            <a:spAutoFit/>
          </a:bodyPr>
          <a:lstStyle/>
          <a:p>
            <a:pPr algn="l"/>
            <a:r>
              <a:rPr sz="1200" b="1" i="0">
                <a:solidFill>
                  <a:srgbClr val="1E262B"/>
                </a:solidFill>
              </a:rPr>
              <a:t>Show leads: the statement is the item</a:t>
            </a:r>
          </a:p>
        </p:txBody>
      </p:sp>
      <p:sp>
        <p:nvSpPr>
          <p:cNvPr id="49" name="Text"/>
          <p:cNvSpPr txBox="1"/>
          <p:nvPr/>
        </p:nvSpPr>
        <p:spPr>
          <a:xfrm>
            <a:off x="5760720" y="4443984"/>
            <a:ext cx="4160520" cy="402336"/>
          </a:xfrm>
          <a:prstGeom prst="rect">
            <a:avLst/>
          </a:prstGeom>
          <a:noFill/>
        </p:spPr>
        <p:txBody>
          <a:bodyPr wrap="square" lIns="0" rIns="0" tIns="0" bIns="0" anchor="ctr">
            <a:spAutoFit/>
          </a:bodyPr>
          <a:lstStyle/>
          <a:p>
            <a:pPr algn="l"/>
            <a:r>
              <a:rPr sz="1200" b="0" i="0">
                <a:solidFill>
                  <a:srgbClr val="1E262B"/>
                </a:solidFill>
              </a:rPr>
              <a:t>Nearest is a Review; no pattern fits</a:t>
            </a:r>
          </a:p>
        </p:txBody>
      </p:sp>
      <p:sp>
        <p:nvSpPr>
          <p:cNvPr id="50" name="Text"/>
          <p:cNvSpPr txBox="1"/>
          <p:nvPr/>
        </p:nvSpPr>
        <p:spPr>
          <a:xfrm>
            <a:off x="9966960" y="4443984"/>
            <a:ext cx="1673352" cy="402336"/>
          </a:xfrm>
          <a:prstGeom prst="rect">
            <a:avLst/>
          </a:prstGeom>
          <a:noFill/>
        </p:spPr>
        <p:txBody>
          <a:bodyPr wrap="square" lIns="0" rIns="0" tIns="0" bIns="0" anchor="ctr">
            <a:spAutoFit/>
          </a:bodyPr>
          <a:lstStyle/>
          <a:p>
            <a:pPr algn="l"/>
            <a:r>
              <a:rPr sz="1150" b="0" i="0">
                <a:solidFill>
                  <a:srgbClr val="B3362B"/>
                </a:solidFill>
              </a:rPr>
              <a:t>none</a:t>
            </a:r>
          </a:p>
        </p:txBody>
      </p:sp>
      <p:cxnSp>
        <p:nvCxnSpPr>
          <p:cNvPr id="51" name="Connector 50"/>
          <p:cNvCxnSpPr/>
          <p:nvPr/>
        </p:nvCxnSpPr>
        <p:spPr>
          <a:xfrm>
            <a:off x="548640" y="48463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52" name="Text"/>
          <p:cNvSpPr txBox="1"/>
          <p:nvPr/>
        </p:nvSpPr>
        <p:spPr>
          <a:xfrm>
            <a:off x="548640" y="4846320"/>
            <a:ext cx="1828800" cy="402336"/>
          </a:xfrm>
          <a:prstGeom prst="rect">
            <a:avLst/>
          </a:prstGeom>
          <a:noFill/>
        </p:spPr>
        <p:txBody>
          <a:bodyPr wrap="square" lIns="0" rIns="0" tIns="0" bIns="0" anchor="ctr">
            <a:spAutoFit/>
          </a:bodyPr>
          <a:lstStyle/>
          <a:p>
            <a:pPr algn="l"/>
            <a:r>
              <a:rPr sz="1400" b="1" i="0">
                <a:solidFill>
                  <a:srgbClr val="0B6463"/>
                </a:solidFill>
              </a:rPr>
              <a:t>Carry through</a:t>
            </a:r>
          </a:p>
        </p:txBody>
      </p:sp>
      <p:sp>
        <p:nvSpPr>
          <p:cNvPr id="53" name="Text"/>
          <p:cNvSpPr txBox="1"/>
          <p:nvPr/>
        </p:nvSpPr>
        <p:spPr>
          <a:xfrm>
            <a:off x="2468880" y="4846320"/>
            <a:ext cx="3246120" cy="402336"/>
          </a:xfrm>
          <a:prstGeom prst="rect">
            <a:avLst/>
          </a:prstGeom>
          <a:noFill/>
        </p:spPr>
        <p:txBody>
          <a:bodyPr wrap="square" lIns="0" rIns="0" tIns="0" bIns="0" anchor="ctr">
            <a:spAutoFit/>
          </a:bodyPr>
          <a:lstStyle/>
          <a:p>
            <a:pPr algn="l"/>
            <a:r>
              <a:rPr sz="1200" b="1" i="0">
                <a:solidFill>
                  <a:srgbClr val="1E262B"/>
                </a:solidFill>
              </a:rPr>
              <a:t>Show leads</a:t>
            </a:r>
          </a:p>
        </p:txBody>
      </p:sp>
      <p:sp>
        <p:nvSpPr>
          <p:cNvPr id="54" name="Text"/>
          <p:cNvSpPr txBox="1"/>
          <p:nvPr/>
        </p:nvSpPr>
        <p:spPr>
          <a:xfrm>
            <a:off x="5760720" y="4846320"/>
            <a:ext cx="4160520" cy="402336"/>
          </a:xfrm>
          <a:prstGeom prst="rect">
            <a:avLst/>
          </a:prstGeom>
          <a:noFill/>
        </p:spPr>
        <p:txBody>
          <a:bodyPr wrap="square" lIns="0" rIns="0" tIns="0" bIns="0" anchor="ctr">
            <a:spAutoFit/>
          </a:bodyPr>
          <a:lstStyle/>
          <a:p>
            <a:pPr algn="l"/>
            <a:r>
              <a:rPr sz="1200" b="0" i="0">
                <a:solidFill>
                  <a:srgbClr val="1E262B"/>
                </a:solidFill>
              </a:rPr>
              <a:t>The case's own page, with its steps inside</a:t>
            </a:r>
          </a:p>
        </p:txBody>
      </p:sp>
      <p:sp>
        <p:nvSpPr>
          <p:cNvPr id="55" name="Text"/>
          <p:cNvSpPr txBox="1"/>
          <p:nvPr/>
        </p:nvSpPr>
        <p:spPr>
          <a:xfrm>
            <a:off x="9966960" y="4846320"/>
            <a:ext cx="1673352" cy="402336"/>
          </a:xfrm>
          <a:prstGeom prst="rect">
            <a:avLst/>
          </a:prstGeom>
          <a:noFill/>
        </p:spPr>
        <p:txBody>
          <a:bodyPr wrap="square" lIns="0" rIns="0" tIns="0" bIns="0" anchor="ctr">
            <a:spAutoFit/>
          </a:bodyPr>
          <a:lstStyle/>
          <a:p>
            <a:pPr algn="l"/>
            <a:r>
              <a:rPr sz="1150" b="0" i="0">
                <a:solidFill>
                  <a:srgbClr val="5E6A71"/>
                </a:solidFill>
              </a:rPr>
              <a:t>the Works Order</a:t>
            </a:r>
          </a:p>
        </p:txBody>
      </p:sp>
      <p:cxnSp>
        <p:nvCxnSpPr>
          <p:cNvPr id="56" name="Connector 55"/>
          <p:cNvCxnSpPr/>
          <p:nvPr/>
        </p:nvCxnSpPr>
        <p:spPr>
          <a:xfrm>
            <a:off x="548640" y="524865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57" name="Box"/>
          <p:cNvSpPr/>
          <p:nvPr/>
        </p:nvSpPr>
        <p:spPr>
          <a:xfrm>
            <a:off x="548640" y="5248656"/>
            <a:ext cx="11091672" cy="402336"/>
          </a:xfrm>
          <a:prstGeom prst="rect">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
          <p:cNvSpPr txBox="1"/>
          <p:nvPr/>
        </p:nvSpPr>
        <p:spPr>
          <a:xfrm>
            <a:off x="640080" y="5248656"/>
            <a:ext cx="1828800" cy="402336"/>
          </a:xfrm>
          <a:prstGeom prst="rect">
            <a:avLst/>
          </a:prstGeom>
          <a:noFill/>
        </p:spPr>
        <p:txBody>
          <a:bodyPr wrap="square" lIns="0" rIns="0" tIns="0" bIns="0" anchor="ctr">
            <a:spAutoFit/>
          </a:bodyPr>
          <a:lstStyle/>
          <a:p>
            <a:pPr algn="l"/>
            <a:r>
              <a:rPr sz="1400" b="1" i="0">
                <a:solidFill>
                  <a:srgbClr val="0B6463"/>
                </a:solidFill>
              </a:rPr>
              <a:t>Run a batch</a:t>
            </a:r>
          </a:p>
        </p:txBody>
      </p:sp>
      <p:sp>
        <p:nvSpPr>
          <p:cNvPr id="59" name="Text"/>
          <p:cNvSpPr txBox="1"/>
          <p:nvPr/>
        </p:nvSpPr>
        <p:spPr>
          <a:xfrm>
            <a:off x="2468880" y="5248656"/>
            <a:ext cx="3246120" cy="402336"/>
          </a:xfrm>
          <a:prstGeom prst="rect">
            <a:avLst/>
          </a:prstGeom>
          <a:noFill/>
        </p:spPr>
        <p:txBody>
          <a:bodyPr wrap="square" lIns="0" rIns="0" tIns="0" bIns="0" anchor="ctr">
            <a:spAutoFit/>
          </a:bodyPr>
          <a:lstStyle/>
          <a:p>
            <a:pPr algn="l"/>
            <a:r>
              <a:rPr sz="1200" b="1" i="0">
                <a:solidFill>
                  <a:srgbClr val="1E262B"/>
                </a:solidFill>
              </a:rPr>
              <a:t>Show leads, as a gate</a:t>
            </a:r>
          </a:p>
        </p:txBody>
      </p:sp>
      <p:sp>
        <p:nvSpPr>
          <p:cNvPr id="60" name="Text"/>
          <p:cNvSpPr txBox="1"/>
          <p:nvPr/>
        </p:nvSpPr>
        <p:spPr>
          <a:xfrm>
            <a:off x="5760720" y="5248656"/>
            <a:ext cx="4160520" cy="402336"/>
          </a:xfrm>
          <a:prstGeom prst="rect">
            <a:avLst/>
          </a:prstGeom>
          <a:noFill/>
        </p:spPr>
        <p:txBody>
          <a:bodyPr wrap="square" lIns="0" rIns="0" tIns="0" bIns="0" anchor="ctr">
            <a:spAutoFit/>
          </a:bodyPr>
          <a:lstStyle/>
          <a:p>
            <a:pPr algn="l"/>
            <a:r>
              <a:rPr sz="1200" b="0" i="0">
                <a:solidFill>
                  <a:srgbClr val="1E262B"/>
                </a:solidFill>
              </a:rPr>
              <a:t>Nearest is a Review; no pattern fits</a:t>
            </a:r>
          </a:p>
        </p:txBody>
      </p:sp>
      <p:sp>
        <p:nvSpPr>
          <p:cNvPr id="61" name="Text"/>
          <p:cNvSpPr txBox="1"/>
          <p:nvPr/>
        </p:nvSpPr>
        <p:spPr>
          <a:xfrm>
            <a:off x="9966960" y="5248656"/>
            <a:ext cx="1673352" cy="402336"/>
          </a:xfrm>
          <a:prstGeom prst="rect">
            <a:avLst/>
          </a:prstGeom>
          <a:noFill/>
        </p:spPr>
        <p:txBody>
          <a:bodyPr wrap="square" lIns="0" rIns="0" tIns="0" bIns="0" anchor="ctr">
            <a:spAutoFit/>
          </a:bodyPr>
          <a:lstStyle/>
          <a:p>
            <a:pPr algn="l"/>
            <a:r>
              <a:rPr sz="1150" b="0" i="0">
                <a:solidFill>
                  <a:srgbClr val="B3362B"/>
                </a:solidFill>
              </a:rPr>
              <a:t>none</a:t>
            </a:r>
          </a:p>
        </p:txBody>
      </p:sp>
      <p:cxnSp>
        <p:nvCxnSpPr>
          <p:cNvPr id="62" name="Connector 61"/>
          <p:cNvCxnSpPr/>
          <p:nvPr/>
        </p:nvCxnSpPr>
        <p:spPr>
          <a:xfrm>
            <a:off x="548640" y="565099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63" name="Finding"/>
          <p:cNvSpPr/>
          <p:nvPr/>
        </p:nvSpPr>
        <p:spPr>
          <a:xfrm>
            <a:off x="548640" y="5733288"/>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
          <p:cNvSpPr txBox="1"/>
          <p:nvPr/>
        </p:nvSpPr>
        <p:spPr>
          <a:xfrm>
            <a:off x="822960" y="5733288"/>
            <a:ext cx="10543032" cy="530352"/>
          </a:xfrm>
          <a:prstGeom prst="rect">
            <a:avLst/>
          </a:prstGeom>
          <a:noFill/>
        </p:spPr>
        <p:txBody>
          <a:bodyPr wrap="square" lIns="0" rIns="0" tIns="0" bIns="0" anchor="ctr">
            <a:spAutoFit/>
          </a:bodyPr>
          <a:lstStyle/>
          <a:p>
            <a:pPr algn="l"/>
            <a:r>
              <a:rPr sz="1350" b="1" i="0">
                <a:solidFill>
                  <a:srgbClr val="1E262B"/>
                </a:solidFill>
              </a:rPr>
              <a:t>As this seat reasons it, six types take a pattern.  </a:t>
            </a:r>
            <a:r>
              <a:rPr sz="1350" b="0" i="0">
                <a:solidFill>
                  <a:srgbClr val="1E262B"/>
                </a:solidFill>
              </a:rPr>
              <a:t>Chase takes none, by design. Assess, Report and Run a batch need one.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 possibility: the role app may follow the task mix</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WHAT FOLLOWS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19</a:t>
            </a:r>
          </a:p>
        </p:txBody>
      </p:sp>
      <p:sp>
        <p:nvSpPr>
          <p:cNvPr id="5" name="Text"/>
          <p:cNvSpPr txBox="1"/>
          <p:nvPr/>
        </p:nvSpPr>
        <p:spPr>
          <a:xfrm>
            <a:off x="548640" y="1371600"/>
            <a:ext cx="2743200" cy="201168"/>
          </a:xfrm>
          <a:prstGeom prst="rect">
            <a:avLst/>
          </a:prstGeom>
          <a:noFill/>
        </p:spPr>
        <p:txBody>
          <a:bodyPr wrap="square" lIns="0" rIns="0" tIns="0" bIns="0" anchor="t">
            <a:spAutoFit/>
          </a:bodyPr>
          <a:lstStyle/>
          <a:p>
            <a:pPr algn="l"/>
            <a:r>
              <a:rPr sz="1000" b="1" i="0">
                <a:solidFill>
                  <a:srgbClr val="5E6A71"/>
                </a:solidFill>
              </a:rPr>
              <a:t>HEAVY IN</a:t>
            </a:r>
          </a:p>
        </p:txBody>
      </p:sp>
      <p:sp>
        <p:nvSpPr>
          <p:cNvPr id="6" name="Text"/>
          <p:cNvSpPr txBox="1"/>
          <p:nvPr/>
        </p:nvSpPr>
        <p:spPr>
          <a:xfrm>
            <a:off x="3383280" y="1371600"/>
            <a:ext cx="4572000" cy="201168"/>
          </a:xfrm>
          <a:prstGeom prst="rect">
            <a:avLst/>
          </a:prstGeom>
          <a:noFill/>
        </p:spPr>
        <p:txBody>
          <a:bodyPr wrap="square" lIns="0" rIns="0" tIns="0" bIns="0" anchor="t">
            <a:spAutoFit/>
          </a:bodyPr>
          <a:lstStyle/>
          <a:p>
            <a:pPr algn="l"/>
            <a:r>
              <a:rPr sz="1000" b="1" i="0">
                <a:solidFill>
                  <a:srgbClr val="0B6463"/>
                </a:solidFill>
              </a:rPr>
              <a:t>THE OPENING PAGE COULD BE</a:t>
            </a:r>
          </a:p>
        </p:txBody>
      </p:sp>
      <p:sp>
        <p:nvSpPr>
          <p:cNvPr id="7" name="Text"/>
          <p:cNvSpPr txBox="1"/>
          <p:nvPr/>
        </p:nvSpPr>
        <p:spPr>
          <a:xfrm>
            <a:off x="8046720" y="1371600"/>
            <a:ext cx="3566160" cy="201168"/>
          </a:xfrm>
          <a:prstGeom prst="rect">
            <a:avLst/>
          </a:prstGeom>
          <a:noFill/>
        </p:spPr>
        <p:txBody>
          <a:bodyPr wrap="square" lIns="0" rIns="0" tIns="0" bIns="0" anchor="t">
            <a:spAutoFit/>
          </a:bodyPr>
          <a:lstStyle/>
          <a:p>
            <a:pPr algn="l"/>
            <a:r>
              <a:rPr sz="1000" b="1" i="0">
                <a:solidFill>
                  <a:srgbClr val="5E6A71"/>
                </a:solidFill>
              </a:rPr>
              <a:t>FOR EXAMPLE</a:t>
            </a:r>
          </a:p>
        </p:txBody>
      </p:sp>
      <p:cxnSp>
        <p:nvCxnSpPr>
          <p:cNvPr id="8" name="Connector 7"/>
          <p:cNvCxnSpPr/>
          <p:nvPr/>
        </p:nvCxnSpPr>
        <p:spPr>
          <a:xfrm>
            <a:off x="548640" y="162763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1627632"/>
            <a:ext cx="2743200" cy="475488"/>
          </a:xfrm>
          <a:prstGeom prst="rect">
            <a:avLst/>
          </a:prstGeom>
          <a:noFill/>
        </p:spPr>
        <p:txBody>
          <a:bodyPr wrap="square" lIns="0" rIns="0" tIns="0" bIns="0" anchor="ctr">
            <a:spAutoFit/>
          </a:bodyPr>
          <a:lstStyle/>
          <a:p>
            <a:pPr algn="l"/>
            <a:r>
              <a:rPr sz="1400" b="1" i="0">
                <a:solidFill>
                  <a:srgbClr val="0B6463"/>
                </a:solidFill>
              </a:rPr>
              <a:t>Decide</a:t>
            </a:r>
          </a:p>
        </p:txBody>
      </p:sp>
      <p:sp>
        <p:nvSpPr>
          <p:cNvPr id="10" name="Text"/>
          <p:cNvSpPr txBox="1"/>
          <p:nvPr/>
        </p:nvSpPr>
        <p:spPr>
          <a:xfrm>
            <a:off x="3383280" y="1627632"/>
            <a:ext cx="4572000" cy="475488"/>
          </a:xfrm>
          <a:prstGeom prst="rect">
            <a:avLst/>
          </a:prstGeom>
          <a:noFill/>
        </p:spPr>
        <p:txBody>
          <a:bodyPr wrap="square" lIns="0" rIns="0" tIns="0" bIns="0" anchor="ctr">
            <a:spAutoFit/>
          </a:bodyPr>
          <a:lstStyle/>
          <a:p>
            <a:pPr algn="l"/>
            <a:r>
              <a:rPr sz="1300" b="1" i="0">
                <a:solidFill>
                  <a:srgbClr val="1E262B"/>
                </a:solidFill>
              </a:rPr>
              <a:t>An inbox of what is to be decided</a:t>
            </a:r>
          </a:p>
        </p:txBody>
      </p:sp>
      <p:sp>
        <p:nvSpPr>
          <p:cNvPr id="11" name="Text"/>
          <p:cNvSpPr txBox="1"/>
          <p:nvPr/>
        </p:nvSpPr>
        <p:spPr>
          <a:xfrm>
            <a:off x="8046720" y="1627632"/>
            <a:ext cx="3566160" cy="475488"/>
          </a:xfrm>
          <a:prstGeom prst="rect">
            <a:avLst/>
          </a:prstGeom>
          <a:noFill/>
        </p:spPr>
        <p:txBody>
          <a:bodyPr wrap="square" lIns="0" rIns="0" tIns="0" bIns="0" anchor="ctr">
            <a:spAutoFit/>
          </a:bodyPr>
          <a:lstStyle/>
          <a:p>
            <a:pPr algn="l"/>
            <a:r>
              <a:rPr sz="1150" b="0" i="0">
                <a:solidFill>
                  <a:srgbClr val="5E6A71"/>
                </a:solidFill>
              </a:rPr>
              <a:t>Credit Controller</a:t>
            </a:r>
          </a:p>
        </p:txBody>
      </p:sp>
      <p:cxnSp>
        <p:nvCxnSpPr>
          <p:cNvPr id="12" name="Connector 11"/>
          <p:cNvCxnSpPr/>
          <p:nvPr/>
        </p:nvCxnSpPr>
        <p:spPr>
          <a:xfrm>
            <a:off x="548640" y="21031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3" name="Text"/>
          <p:cNvSpPr txBox="1"/>
          <p:nvPr/>
        </p:nvSpPr>
        <p:spPr>
          <a:xfrm>
            <a:off x="548640" y="2103120"/>
            <a:ext cx="2743200" cy="475488"/>
          </a:xfrm>
          <a:prstGeom prst="rect">
            <a:avLst/>
          </a:prstGeom>
          <a:noFill/>
        </p:spPr>
        <p:txBody>
          <a:bodyPr wrap="square" lIns="0" rIns="0" tIns="0" bIns="0" anchor="ctr">
            <a:spAutoFit/>
          </a:bodyPr>
          <a:lstStyle/>
          <a:p>
            <a:pPr algn="l"/>
            <a:r>
              <a:rPr sz="1400" b="1" i="0">
                <a:solidFill>
                  <a:srgbClr val="0B6463"/>
                </a:solidFill>
              </a:rPr>
              <a:t>Record</a:t>
            </a:r>
          </a:p>
        </p:txBody>
      </p:sp>
      <p:sp>
        <p:nvSpPr>
          <p:cNvPr id="14" name="Text"/>
          <p:cNvSpPr txBox="1"/>
          <p:nvPr/>
        </p:nvSpPr>
        <p:spPr>
          <a:xfrm>
            <a:off x="3383280" y="2103120"/>
            <a:ext cx="4572000" cy="475488"/>
          </a:xfrm>
          <a:prstGeom prst="rect">
            <a:avLst/>
          </a:prstGeom>
          <a:noFill/>
        </p:spPr>
        <p:txBody>
          <a:bodyPr wrap="square" lIns="0" rIns="0" tIns="0" bIns="0" anchor="ctr">
            <a:spAutoFit/>
          </a:bodyPr>
          <a:lstStyle/>
          <a:p>
            <a:pPr algn="l"/>
            <a:r>
              <a:rPr sz="1300" b="1" i="0">
                <a:solidFill>
                  <a:srgbClr val="1E262B"/>
                </a:solidFill>
              </a:rPr>
              <a:t>Today's expected events, entry one step away</a:t>
            </a:r>
          </a:p>
        </p:txBody>
      </p:sp>
      <p:sp>
        <p:nvSpPr>
          <p:cNvPr id="15" name="Text"/>
          <p:cNvSpPr txBox="1"/>
          <p:nvPr/>
        </p:nvSpPr>
        <p:spPr>
          <a:xfrm>
            <a:off x="8046720" y="2103120"/>
            <a:ext cx="3566160" cy="475488"/>
          </a:xfrm>
          <a:prstGeom prst="rect">
            <a:avLst/>
          </a:prstGeom>
          <a:noFill/>
        </p:spPr>
        <p:txBody>
          <a:bodyPr wrap="square" lIns="0" rIns="0" tIns="0" bIns="0" anchor="ctr">
            <a:spAutoFit/>
          </a:bodyPr>
          <a:lstStyle/>
          <a:p>
            <a:pPr algn="l"/>
            <a:r>
              <a:rPr sz="1150" b="0" i="0">
                <a:solidFill>
                  <a:srgbClr val="5E6A71"/>
                </a:solidFill>
              </a:rPr>
              <a:t>Stores Officer, Inbound</a:t>
            </a:r>
          </a:p>
        </p:txBody>
      </p:sp>
      <p:cxnSp>
        <p:nvCxnSpPr>
          <p:cNvPr id="16" name="Connector 15"/>
          <p:cNvCxnSpPr/>
          <p:nvPr/>
        </p:nvCxnSpPr>
        <p:spPr>
          <a:xfrm>
            <a:off x="548640" y="257860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7" name="Text"/>
          <p:cNvSpPr txBox="1"/>
          <p:nvPr/>
        </p:nvSpPr>
        <p:spPr>
          <a:xfrm>
            <a:off x="548640" y="2578608"/>
            <a:ext cx="2743200" cy="475488"/>
          </a:xfrm>
          <a:prstGeom prst="rect">
            <a:avLst/>
          </a:prstGeom>
          <a:noFill/>
        </p:spPr>
        <p:txBody>
          <a:bodyPr wrap="square" lIns="0" rIns="0" tIns="0" bIns="0" anchor="ctr">
            <a:spAutoFit/>
          </a:bodyPr>
          <a:lstStyle/>
          <a:p>
            <a:pPr algn="l"/>
            <a:r>
              <a:rPr sz="1400" b="1" i="0">
                <a:solidFill>
                  <a:srgbClr val="0B6463"/>
                </a:solidFill>
              </a:rPr>
              <a:t>Make and Ask</a:t>
            </a:r>
          </a:p>
        </p:txBody>
      </p:sp>
      <p:sp>
        <p:nvSpPr>
          <p:cNvPr id="18" name="Text"/>
          <p:cNvSpPr txBox="1"/>
          <p:nvPr/>
        </p:nvSpPr>
        <p:spPr>
          <a:xfrm>
            <a:off x="3383280" y="2578608"/>
            <a:ext cx="4572000" cy="475488"/>
          </a:xfrm>
          <a:prstGeom prst="rect">
            <a:avLst/>
          </a:prstGeom>
          <a:noFill/>
        </p:spPr>
        <p:txBody>
          <a:bodyPr wrap="square" lIns="0" rIns="0" tIns="0" bIns="0" anchor="ctr">
            <a:spAutoFit/>
          </a:bodyPr>
          <a:lstStyle/>
          <a:p>
            <a:pPr algn="l"/>
            <a:r>
              <a:rPr sz="1300" b="1" i="0">
                <a:solidFill>
                  <a:srgbClr val="1E262B"/>
                </a:solidFill>
              </a:rPr>
              <a:t>My items in flight, by whose move it is</a:t>
            </a:r>
          </a:p>
        </p:txBody>
      </p:sp>
      <p:sp>
        <p:nvSpPr>
          <p:cNvPr id="19" name="Text"/>
          <p:cNvSpPr txBox="1"/>
          <p:nvPr/>
        </p:nvSpPr>
        <p:spPr>
          <a:xfrm>
            <a:off x="8046720" y="2578608"/>
            <a:ext cx="3566160" cy="475488"/>
          </a:xfrm>
          <a:prstGeom prst="rect">
            <a:avLst/>
          </a:prstGeom>
          <a:noFill/>
        </p:spPr>
        <p:txBody>
          <a:bodyPr wrap="square" lIns="0" rIns="0" tIns="0" bIns="0" anchor="ctr">
            <a:spAutoFit/>
          </a:bodyPr>
          <a:lstStyle/>
          <a:p>
            <a:pPr algn="l"/>
            <a:r>
              <a:rPr sz="1150" b="0" i="0">
                <a:solidFill>
                  <a:srgbClr val="5E6A71"/>
                </a:solidFill>
              </a:rPr>
              <a:t>Sales Executive</a:t>
            </a:r>
          </a:p>
        </p:txBody>
      </p:sp>
      <p:cxnSp>
        <p:nvCxnSpPr>
          <p:cNvPr id="20" name="Connector 19"/>
          <p:cNvCxnSpPr/>
          <p:nvPr/>
        </p:nvCxnSpPr>
        <p:spPr>
          <a:xfrm>
            <a:off x="548640" y="305409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1" name="Text"/>
          <p:cNvSpPr txBox="1"/>
          <p:nvPr/>
        </p:nvSpPr>
        <p:spPr>
          <a:xfrm>
            <a:off x="548640" y="3054096"/>
            <a:ext cx="2743200" cy="475488"/>
          </a:xfrm>
          <a:prstGeom prst="rect">
            <a:avLst/>
          </a:prstGeom>
          <a:noFill/>
        </p:spPr>
        <p:txBody>
          <a:bodyPr wrap="square" lIns="0" rIns="0" tIns="0" bIns="0" anchor="ctr">
            <a:spAutoFit/>
          </a:bodyPr>
          <a:lstStyle/>
          <a:p>
            <a:pPr algn="l"/>
            <a:r>
              <a:rPr sz="1400" b="1" i="0">
                <a:solidFill>
                  <a:srgbClr val="0B6463"/>
                </a:solidFill>
              </a:rPr>
              <a:t>Chase and Answer</a:t>
            </a:r>
          </a:p>
        </p:txBody>
      </p:sp>
      <p:sp>
        <p:nvSpPr>
          <p:cNvPr id="22" name="Text"/>
          <p:cNvSpPr txBox="1"/>
          <p:nvPr/>
        </p:nvSpPr>
        <p:spPr>
          <a:xfrm>
            <a:off x="3383280" y="3054096"/>
            <a:ext cx="4572000" cy="475488"/>
          </a:xfrm>
          <a:prstGeom prst="rect">
            <a:avLst/>
          </a:prstGeom>
          <a:noFill/>
        </p:spPr>
        <p:txBody>
          <a:bodyPr wrap="square" lIns="0" rIns="0" tIns="0" bIns="0" anchor="ctr">
            <a:spAutoFit/>
          </a:bodyPr>
          <a:lstStyle/>
          <a:p>
            <a:pPr algn="l"/>
            <a:r>
              <a:rPr sz="1300" b="1" i="0">
                <a:solidFill>
                  <a:srgbClr val="1E262B"/>
                </a:solidFill>
              </a:rPr>
              <a:t>Who has what, for how long; search in front</a:t>
            </a:r>
          </a:p>
        </p:txBody>
      </p:sp>
      <p:sp>
        <p:nvSpPr>
          <p:cNvPr id="23" name="Text"/>
          <p:cNvSpPr txBox="1"/>
          <p:nvPr/>
        </p:nvSpPr>
        <p:spPr>
          <a:xfrm>
            <a:off x="8046720" y="3054096"/>
            <a:ext cx="3566160" cy="475488"/>
          </a:xfrm>
          <a:prstGeom prst="rect">
            <a:avLst/>
          </a:prstGeom>
          <a:noFill/>
        </p:spPr>
        <p:txBody>
          <a:bodyPr wrap="square" lIns="0" rIns="0" tIns="0" bIns="0" anchor="ctr">
            <a:spAutoFit/>
          </a:bodyPr>
          <a:lstStyle/>
          <a:p>
            <a:pPr algn="l"/>
            <a:r>
              <a:rPr sz="1150" b="0" i="0">
                <a:solidFill>
                  <a:srgbClr val="5E6A71"/>
                </a:solidFill>
              </a:rPr>
              <a:t>Treasury Head, a tried seat</a:t>
            </a:r>
          </a:p>
        </p:txBody>
      </p:sp>
      <p:cxnSp>
        <p:nvCxnSpPr>
          <p:cNvPr id="24" name="Connector 23"/>
          <p:cNvCxnSpPr/>
          <p:nvPr/>
        </p:nvCxnSpPr>
        <p:spPr>
          <a:xfrm>
            <a:off x="548640" y="352958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3529584"/>
            <a:ext cx="2743200" cy="475488"/>
          </a:xfrm>
          <a:prstGeom prst="rect">
            <a:avLst/>
          </a:prstGeom>
          <a:noFill/>
        </p:spPr>
        <p:txBody>
          <a:bodyPr wrap="square" lIns="0" rIns="0" tIns="0" bIns="0" anchor="ctr">
            <a:spAutoFit/>
          </a:bodyPr>
          <a:lstStyle/>
          <a:p>
            <a:pPr algn="l"/>
            <a:r>
              <a:rPr sz="1400" b="1" i="0">
                <a:solidFill>
                  <a:srgbClr val="0B6463"/>
                </a:solidFill>
              </a:rPr>
              <a:t>Assess and Report</a:t>
            </a:r>
          </a:p>
        </p:txBody>
      </p:sp>
      <p:sp>
        <p:nvSpPr>
          <p:cNvPr id="26" name="Text"/>
          <p:cNvSpPr txBox="1"/>
          <p:nvPr/>
        </p:nvSpPr>
        <p:spPr>
          <a:xfrm>
            <a:off x="3383280" y="3529584"/>
            <a:ext cx="4572000" cy="475488"/>
          </a:xfrm>
          <a:prstGeom prst="rect">
            <a:avLst/>
          </a:prstGeom>
          <a:noFill/>
        </p:spPr>
        <p:txBody>
          <a:bodyPr wrap="square" lIns="0" rIns="0" tIns="0" bIns="0" anchor="ctr">
            <a:spAutoFit/>
          </a:bodyPr>
          <a:lstStyle/>
          <a:p>
            <a:pPr algn="l"/>
            <a:r>
              <a:rPr sz="1300" b="1" i="0">
                <a:solidFill>
                  <a:srgbClr val="1E262B"/>
                </a:solidFill>
              </a:rPr>
              <a:t>What is due this week and month</a:t>
            </a:r>
          </a:p>
        </p:txBody>
      </p:sp>
      <p:sp>
        <p:nvSpPr>
          <p:cNvPr id="27" name="Text"/>
          <p:cNvSpPr txBox="1"/>
          <p:nvPr/>
        </p:nvSpPr>
        <p:spPr>
          <a:xfrm>
            <a:off x="8046720" y="3529584"/>
            <a:ext cx="3566160" cy="475488"/>
          </a:xfrm>
          <a:prstGeom prst="rect">
            <a:avLst/>
          </a:prstGeom>
          <a:noFill/>
        </p:spPr>
        <p:txBody>
          <a:bodyPr wrap="square" lIns="0" rIns="0" tIns="0" bIns="0" anchor="ctr">
            <a:spAutoFit/>
          </a:bodyPr>
          <a:lstStyle/>
          <a:p>
            <a:pPr algn="l"/>
            <a:r>
              <a:rPr sz="1150" b="0" i="0">
                <a:solidFill>
                  <a:srgbClr val="5E6A71"/>
                </a:solidFill>
              </a:rPr>
              <a:t>Procurement Manager</a:t>
            </a:r>
          </a:p>
        </p:txBody>
      </p:sp>
      <p:cxnSp>
        <p:nvCxnSpPr>
          <p:cNvPr id="28" name="Connector 27"/>
          <p:cNvCxnSpPr/>
          <p:nvPr/>
        </p:nvCxnSpPr>
        <p:spPr>
          <a:xfrm>
            <a:off x="548640" y="400507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548640" y="4005072"/>
            <a:ext cx="2743200" cy="475488"/>
          </a:xfrm>
          <a:prstGeom prst="rect">
            <a:avLst/>
          </a:prstGeom>
          <a:noFill/>
        </p:spPr>
        <p:txBody>
          <a:bodyPr wrap="square" lIns="0" rIns="0" tIns="0" bIns="0" anchor="ctr">
            <a:spAutoFit/>
          </a:bodyPr>
          <a:lstStyle/>
          <a:p>
            <a:pPr algn="l"/>
            <a:r>
              <a:rPr sz="1400" b="1" i="0">
                <a:solidFill>
                  <a:srgbClr val="0B6463"/>
                </a:solidFill>
              </a:rPr>
              <a:t>Carry through</a:t>
            </a:r>
          </a:p>
        </p:txBody>
      </p:sp>
      <p:sp>
        <p:nvSpPr>
          <p:cNvPr id="30" name="Text"/>
          <p:cNvSpPr txBox="1"/>
          <p:nvPr/>
        </p:nvSpPr>
        <p:spPr>
          <a:xfrm>
            <a:off x="3383280" y="4005072"/>
            <a:ext cx="4572000" cy="475488"/>
          </a:xfrm>
          <a:prstGeom prst="rect">
            <a:avLst/>
          </a:prstGeom>
          <a:noFill/>
        </p:spPr>
        <p:txBody>
          <a:bodyPr wrap="square" lIns="0" rIns="0" tIns="0" bIns="0" anchor="ctr">
            <a:spAutoFit/>
          </a:bodyPr>
          <a:lstStyle/>
          <a:p>
            <a:pPr algn="l"/>
            <a:r>
              <a:rPr sz="1300" b="1" i="0">
                <a:solidFill>
                  <a:srgbClr val="1E262B"/>
                </a:solidFill>
              </a:rPr>
              <a:t>A board of open cases and their steps</a:t>
            </a:r>
          </a:p>
        </p:txBody>
      </p:sp>
      <p:sp>
        <p:nvSpPr>
          <p:cNvPr id="31" name="Text"/>
          <p:cNvSpPr txBox="1"/>
          <p:nvPr/>
        </p:nvSpPr>
        <p:spPr>
          <a:xfrm>
            <a:off x="8046720" y="4005072"/>
            <a:ext cx="3566160" cy="475488"/>
          </a:xfrm>
          <a:prstGeom prst="rect">
            <a:avLst/>
          </a:prstGeom>
          <a:noFill/>
        </p:spPr>
        <p:txBody>
          <a:bodyPr wrap="square" lIns="0" rIns="0" tIns="0" bIns="0" anchor="ctr">
            <a:spAutoFit/>
          </a:bodyPr>
          <a:lstStyle/>
          <a:p>
            <a:pPr algn="l"/>
            <a:r>
              <a:rPr sz="1150" b="0" i="0">
                <a:solidFill>
                  <a:srgbClr val="5E6A71"/>
                </a:solidFill>
              </a:rPr>
              <a:t>Learning and Performance Manager</a:t>
            </a:r>
          </a:p>
        </p:txBody>
      </p:sp>
      <p:cxnSp>
        <p:nvCxnSpPr>
          <p:cNvPr id="32" name="Connector 31"/>
          <p:cNvCxnSpPr/>
          <p:nvPr/>
        </p:nvCxnSpPr>
        <p:spPr>
          <a:xfrm>
            <a:off x="548640" y="448056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3" name="Text"/>
          <p:cNvSpPr txBox="1"/>
          <p:nvPr/>
        </p:nvSpPr>
        <p:spPr>
          <a:xfrm>
            <a:off x="548640" y="4480560"/>
            <a:ext cx="2743200" cy="475488"/>
          </a:xfrm>
          <a:prstGeom prst="rect">
            <a:avLst/>
          </a:prstGeom>
          <a:noFill/>
        </p:spPr>
        <p:txBody>
          <a:bodyPr wrap="square" lIns="0" rIns="0" tIns="0" bIns="0" anchor="ctr">
            <a:spAutoFit/>
          </a:bodyPr>
          <a:lstStyle/>
          <a:p>
            <a:pPr algn="l"/>
            <a:r>
              <a:rPr sz="1400" b="1" i="0">
                <a:solidFill>
                  <a:srgbClr val="0B6463"/>
                </a:solidFill>
              </a:rPr>
              <a:t>Run a batch</a:t>
            </a:r>
          </a:p>
        </p:txBody>
      </p:sp>
      <p:sp>
        <p:nvSpPr>
          <p:cNvPr id="34" name="Text"/>
          <p:cNvSpPr txBox="1"/>
          <p:nvPr/>
        </p:nvSpPr>
        <p:spPr>
          <a:xfrm>
            <a:off x="3383280" y="4480560"/>
            <a:ext cx="4572000" cy="475488"/>
          </a:xfrm>
          <a:prstGeom prst="rect">
            <a:avLst/>
          </a:prstGeom>
          <a:noFill/>
        </p:spPr>
        <p:txBody>
          <a:bodyPr wrap="square" lIns="0" rIns="0" tIns="0" bIns="0" anchor="ctr">
            <a:spAutoFit/>
          </a:bodyPr>
          <a:lstStyle/>
          <a:p>
            <a:pPr algn="l"/>
            <a:r>
              <a:rPr sz="1300" b="1" i="0">
                <a:solidFill>
                  <a:srgbClr val="1E262B"/>
                </a:solidFill>
              </a:rPr>
              <a:t>The cycle itself, step by step, with gates</a:t>
            </a:r>
          </a:p>
        </p:txBody>
      </p:sp>
      <p:sp>
        <p:nvSpPr>
          <p:cNvPr id="35" name="Text"/>
          <p:cNvSpPr txBox="1"/>
          <p:nvPr/>
        </p:nvSpPr>
        <p:spPr>
          <a:xfrm>
            <a:off x="8046720" y="4480560"/>
            <a:ext cx="3566160" cy="475488"/>
          </a:xfrm>
          <a:prstGeom prst="rect">
            <a:avLst/>
          </a:prstGeom>
          <a:noFill/>
        </p:spPr>
        <p:txBody>
          <a:bodyPr wrap="square" lIns="0" rIns="0" tIns="0" bIns="0" anchor="ctr">
            <a:spAutoFit/>
          </a:bodyPr>
          <a:lstStyle/>
          <a:p>
            <a:pPr algn="l"/>
            <a:r>
              <a:rPr sz="1150" b="0" i="0">
                <a:solidFill>
                  <a:srgbClr val="5E6A71"/>
                </a:solidFill>
              </a:rPr>
              <a:t>Payroll Operations Specialist</a:t>
            </a:r>
          </a:p>
        </p:txBody>
      </p:sp>
      <p:cxnSp>
        <p:nvCxnSpPr>
          <p:cNvPr id="36" name="Connector 35"/>
          <p:cNvCxnSpPr/>
          <p:nvPr/>
        </p:nvCxnSpPr>
        <p:spPr>
          <a:xfrm>
            <a:off x="548640" y="495604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7" name="Caution"/>
          <p:cNvSpPr/>
          <p:nvPr/>
        </p:nvSpPr>
        <p:spPr>
          <a:xfrm>
            <a:off x="548640" y="5166360"/>
            <a:ext cx="11091672" cy="68580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p:cNvSpPr txBox="1"/>
          <p:nvPr/>
        </p:nvSpPr>
        <p:spPr>
          <a:xfrm>
            <a:off x="822960" y="5166360"/>
            <a:ext cx="10543032" cy="685800"/>
          </a:xfrm>
          <a:prstGeom prst="rect">
            <a:avLst/>
          </a:prstGeom>
          <a:noFill/>
        </p:spPr>
        <p:txBody>
          <a:bodyPr wrap="square" lIns="0" rIns="0" tIns="0" bIns="0" anchor="ctr">
            <a:spAutoFit/>
          </a:bodyPr>
          <a:lstStyle/>
          <a:p>
            <a:pPr algn="l"/>
            <a:r>
              <a:rPr sz="1350" b="1" i="0">
                <a:solidFill>
                  <a:srgbClr val="1E262B"/>
                </a:solidFill>
              </a:rPr>
              <a:t>A thought, not a finding.  </a:t>
            </a:r>
            <a:r>
              <a:rPr sz="1350" b="0" i="0">
                <a:solidFill>
                  <a:srgbClr val="1E262B"/>
                </a:solidFill>
              </a:rPr>
              <a:t>Counts are not hours, and most roles are mixed.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is asked of the team</a:t>
            </a:r>
          </a:p>
        </p:txBody>
      </p:sp>
      <p:sp>
        <p:nvSpPr>
          <p:cNvPr id="3" name="Number"/>
          <p:cNvSpPr/>
          <p:nvPr/>
        </p:nvSpPr>
        <p:spPr>
          <a:xfrm>
            <a:off x="640080" y="196596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p:cNvSpPr txBox="1"/>
          <p:nvPr/>
        </p:nvSpPr>
        <p:spPr>
          <a:xfrm>
            <a:off x="640080" y="1965960"/>
            <a:ext cx="384048" cy="384048"/>
          </a:xfrm>
          <a:prstGeom prst="rect">
            <a:avLst/>
          </a:prstGeom>
          <a:noFill/>
        </p:spPr>
        <p:txBody>
          <a:bodyPr wrap="square" lIns="0" rIns="0" tIns="0" bIns="0" anchor="ctr">
            <a:spAutoFit/>
          </a:bodyPr>
          <a:lstStyle/>
          <a:p>
            <a:pPr algn="ctr"/>
            <a:r>
              <a:rPr sz="1400" b="1" i="0">
                <a:solidFill>
                  <a:srgbClr val="FFFFFF"/>
                </a:solidFill>
              </a:rPr>
              <a:t>1</a:t>
            </a:r>
          </a:p>
        </p:txBody>
      </p:sp>
      <p:sp>
        <p:nvSpPr>
          <p:cNvPr id="5" name="Text"/>
          <p:cNvSpPr txBox="1"/>
          <p:nvPr/>
        </p:nvSpPr>
        <p:spPr>
          <a:xfrm>
            <a:off x="1188719" y="1920240"/>
            <a:ext cx="4754880" cy="384048"/>
          </a:xfrm>
          <a:prstGeom prst="rect">
            <a:avLst/>
          </a:prstGeom>
          <a:noFill/>
        </p:spPr>
        <p:txBody>
          <a:bodyPr wrap="square" lIns="0" rIns="0" tIns="0" bIns="0" anchor="ctr">
            <a:spAutoFit/>
          </a:bodyPr>
          <a:lstStyle/>
          <a:p>
            <a:pPr algn="l"/>
            <a:r>
              <a:rPr sz="1700" b="1" i="0">
                <a:solidFill>
                  <a:srgbClr val="FFFFFF"/>
                </a:solidFill>
              </a:rPr>
              <a:t>Check the types against your own role</a:t>
            </a:r>
          </a:p>
        </p:txBody>
      </p:sp>
      <p:sp>
        <p:nvSpPr>
          <p:cNvPr id="6" name="Text"/>
          <p:cNvSpPr txBox="1"/>
          <p:nvPr/>
        </p:nvSpPr>
        <p:spPr>
          <a:xfrm>
            <a:off x="1188719" y="2377440"/>
            <a:ext cx="4754880" cy="731520"/>
          </a:xfrm>
          <a:prstGeom prst="rect">
            <a:avLst/>
          </a:prstGeom>
          <a:noFill/>
        </p:spPr>
        <p:txBody>
          <a:bodyPr wrap="square" lIns="0" rIns="0" tIns="0" bIns="0" anchor="t">
            <a:spAutoFit/>
          </a:bodyPr>
          <a:lstStyle/>
          <a:p>
            <a:pPr algn="l"/>
            <a:r>
              <a:rPr sz="1400" b="0" i="0">
                <a:solidFill>
                  <a:srgbClr val="DCF1F0"/>
                </a:solidFill>
              </a:rPr>
              <a:t>Each owner knows what their rows mean.</a:t>
            </a:r>
          </a:p>
        </p:txBody>
      </p:sp>
      <p:sp>
        <p:nvSpPr>
          <p:cNvPr id="7" name="Number"/>
          <p:cNvSpPr/>
          <p:nvPr/>
        </p:nvSpPr>
        <p:spPr>
          <a:xfrm>
            <a:off x="6217920" y="196596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6217920" y="1965960"/>
            <a:ext cx="384048" cy="384048"/>
          </a:xfrm>
          <a:prstGeom prst="rect">
            <a:avLst/>
          </a:prstGeom>
          <a:noFill/>
        </p:spPr>
        <p:txBody>
          <a:bodyPr wrap="square" lIns="0" rIns="0" tIns="0" bIns="0" anchor="ctr">
            <a:spAutoFit/>
          </a:bodyPr>
          <a:lstStyle/>
          <a:p>
            <a:pPr algn="ctr"/>
            <a:r>
              <a:rPr sz="1400" b="1" i="0">
                <a:solidFill>
                  <a:srgbClr val="FFFFFF"/>
                </a:solidFill>
              </a:rPr>
              <a:t>2</a:t>
            </a:r>
          </a:p>
        </p:txBody>
      </p:sp>
      <p:sp>
        <p:nvSpPr>
          <p:cNvPr id="9" name="Text"/>
          <p:cNvSpPr txBox="1"/>
          <p:nvPr/>
        </p:nvSpPr>
        <p:spPr>
          <a:xfrm>
            <a:off x="6766559" y="1920240"/>
            <a:ext cx="4754880" cy="384048"/>
          </a:xfrm>
          <a:prstGeom prst="rect">
            <a:avLst/>
          </a:prstGeom>
          <a:noFill/>
        </p:spPr>
        <p:txBody>
          <a:bodyPr wrap="square" lIns="0" rIns="0" tIns="0" bIns="0" anchor="ctr">
            <a:spAutoFit/>
          </a:bodyPr>
          <a:lstStyle/>
          <a:p>
            <a:pPr algn="l"/>
            <a:r>
              <a:rPr sz="1700" b="1" i="0">
                <a:solidFill>
                  <a:srgbClr val="FFFFFF"/>
                </a:solidFill>
              </a:rPr>
              <a:t>Say whether the type belongs in the role file</a:t>
            </a:r>
          </a:p>
        </p:txBody>
      </p:sp>
      <p:sp>
        <p:nvSpPr>
          <p:cNvPr id="10" name="Text"/>
          <p:cNvSpPr txBox="1"/>
          <p:nvPr/>
        </p:nvSpPr>
        <p:spPr>
          <a:xfrm>
            <a:off x="6766559" y="2377440"/>
            <a:ext cx="4754880" cy="731520"/>
          </a:xfrm>
          <a:prstGeom prst="rect">
            <a:avLst/>
          </a:prstGeom>
          <a:noFill/>
        </p:spPr>
        <p:txBody>
          <a:bodyPr wrap="square" lIns="0" rIns="0" tIns="0" bIns="0" anchor="t">
            <a:spAutoFit/>
          </a:bodyPr>
          <a:lstStyle/>
          <a:p>
            <a:pPr algn="l"/>
            <a:r>
              <a:rPr sz="1400" b="0" i="0">
                <a:solidFill>
                  <a:srgbClr val="DCF1F0"/>
                </a:solidFill>
              </a:rPr>
              <a:t>One column, and anyone can derive the kind of screen.</a:t>
            </a:r>
          </a:p>
        </p:txBody>
      </p:sp>
      <p:sp>
        <p:nvSpPr>
          <p:cNvPr id="11" name="Number"/>
          <p:cNvSpPr/>
          <p:nvPr/>
        </p:nvSpPr>
        <p:spPr>
          <a:xfrm>
            <a:off x="640080" y="342900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640080" y="3429000"/>
            <a:ext cx="384048" cy="384048"/>
          </a:xfrm>
          <a:prstGeom prst="rect">
            <a:avLst/>
          </a:prstGeom>
          <a:noFill/>
        </p:spPr>
        <p:txBody>
          <a:bodyPr wrap="square" lIns="0" rIns="0" tIns="0" bIns="0" anchor="ctr">
            <a:spAutoFit/>
          </a:bodyPr>
          <a:lstStyle/>
          <a:p>
            <a:pPr algn="ctr"/>
            <a:r>
              <a:rPr sz="1400" b="1" i="0">
                <a:solidFill>
                  <a:srgbClr val="FFFFFF"/>
                </a:solidFill>
              </a:rPr>
              <a:t>3</a:t>
            </a:r>
          </a:p>
        </p:txBody>
      </p:sp>
      <p:sp>
        <p:nvSpPr>
          <p:cNvPr id="13" name="Text"/>
          <p:cNvSpPr txBox="1"/>
          <p:nvPr/>
        </p:nvSpPr>
        <p:spPr>
          <a:xfrm>
            <a:off x="1188719" y="3383280"/>
            <a:ext cx="4754880" cy="384048"/>
          </a:xfrm>
          <a:prstGeom prst="rect">
            <a:avLst/>
          </a:prstGeom>
          <a:noFill/>
        </p:spPr>
        <p:txBody>
          <a:bodyPr wrap="square" lIns="0" rIns="0" tIns="0" bIns="0" anchor="ctr">
            <a:spAutoFit/>
          </a:bodyPr>
          <a:lstStyle/>
          <a:p>
            <a:pPr algn="l"/>
            <a:r>
              <a:rPr sz="1700" b="1" i="0">
                <a:solidFill>
                  <a:srgbClr val="FFFFFF"/>
                </a:solidFill>
              </a:rPr>
              <a:t>Re-cut the tasks that take two types</a:t>
            </a:r>
          </a:p>
        </p:txBody>
      </p:sp>
      <p:sp>
        <p:nvSpPr>
          <p:cNvPr id="14" name="Text"/>
          <p:cNvSpPr txBox="1"/>
          <p:nvPr/>
        </p:nvSpPr>
        <p:spPr>
          <a:xfrm>
            <a:off x="1188719" y="3840480"/>
            <a:ext cx="4754880" cy="731520"/>
          </a:xfrm>
          <a:prstGeom prst="rect">
            <a:avLst/>
          </a:prstGeom>
          <a:noFill/>
        </p:spPr>
        <p:txBody>
          <a:bodyPr wrap="square" lIns="0" rIns="0" tIns="0" bIns="0" anchor="t">
            <a:spAutoFit/>
          </a:bodyPr>
          <a:lstStyle/>
          <a:p>
            <a:pPr algn="l"/>
            <a:r>
              <a:rPr sz="1400" b="0" i="0">
                <a:solidFill>
                  <a:srgbClr val="DCF1F0"/>
                </a:solidFill>
              </a:rPr>
              <a:t>81 rows; most are two tasks.</a:t>
            </a:r>
          </a:p>
        </p:txBody>
      </p:sp>
      <p:sp>
        <p:nvSpPr>
          <p:cNvPr id="15" name="Number"/>
          <p:cNvSpPr/>
          <p:nvPr/>
        </p:nvSpPr>
        <p:spPr>
          <a:xfrm>
            <a:off x="6217920" y="3429000"/>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p:cNvSpPr txBox="1"/>
          <p:nvPr/>
        </p:nvSpPr>
        <p:spPr>
          <a:xfrm>
            <a:off x="6217920" y="3429000"/>
            <a:ext cx="384048" cy="384048"/>
          </a:xfrm>
          <a:prstGeom prst="rect">
            <a:avLst/>
          </a:prstGeom>
          <a:noFill/>
        </p:spPr>
        <p:txBody>
          <a:bodyPr wrap="square" lIns="0" rIns="0" tIns="0" bIns="0" anchor="ctr">
            <a:spAutoFit/>
          </a:bodyPr>
          <a:lstStyle/>
          <a:p>
            <a:pPr algn="ctr"/>
            <a:r>
              <a:rPr sz="1400" b="1" i="0">
                <a:solidFill>
                  <a:srgbClr val="FFFFFF"/>
                </a:solidFill>
              </a:rPr>
              <a:t>4</a:t>
            </a:r>
          </a:p>
        </p:txBody>
      </p:sp>
      <p:sp>
        <p:nvSpPr>
          <p:cNvPr id="17" name="Text"/>
          <p:cNvSpPr txBox="1"/>
          <p:nvPr/>
        </p:nvSpPr>
        <p:spPr>
          <a:xfrm>
            <a:off x="6766559" y="3383280"/>
            <a:ext cx="4754880" cy="384048"/>
          </a:xfrm>
          <a:prstGeom prst="rect">
            <a:avLst/>
          </a:prstGeom>
          <a:noFill/>
        </p:spPr>
        <p:txBody>
          <a:bodyPr wrap="square" lIns="0" rIns="0" tIns="0" bIns="0" anchor="ctr">
            <a:spAutoFit/>
          </a:bodyPr>
          <a:lstStyle/>
          <a:p>
            <a:pPr algn="l"/>
            <a:r>
              <a:rPr sz="1700" b="1" i="0">
                <a:solidFill>
                  <a:srgbClr val="FFFFFF"/>
                </a:solidFill>
              </a:rPr>
              <a:t>Decide the three missing patterns</a:t>
            </a:r>
          </a:p>
        </p:txBody>
      </p:sp>
      <p:sp>
        <p:nvSpPr>
          <p:cNvPr id="18" name="Text"/>
          <p:cNvSpPr txBox="1"/>
          <p:nvPr/>
        </p:nvSpPr>
        <p:spPr>
          <a:xfrm>
            <a:off x="6766559" y="3840480"/>
            <a:ext cx="4754880" cy="731520"/>
          </a:xfrm>
          <a:prstGeom prst="rect">
            <a:avLst/>
          </a:prstGeom>
          <a:noFill/>
        </p:spPr>
        <p:txBody>
          <a:bodyPr wrap="square" lIns="0" rIns="0" tIns="0" bIns="0" anchor="t">
            <a:spAutoFit/>
          </a:bodyPr>
          <a:lstStyle/>
          <a:p>
            <a:pPr algn="l"/>
            <a:r>
              <a:rPr sz="1400" b="0" i="0">
                <a:solidFill>
                  <a:srgbClr val="DCF1F0"/>
                </a:solidFill>
              </a:rPr>
              <a:t>A conclusion kept; a statement sent; one press over many.</a:t>
            </a:r>
          </a:p>
        </p:txBody>
      </p:sp>
      <p:sp>
        <p:nvSpPr>
          <p:cNvPr id="19" name="Text"/>
          <p:cNvSpPr txBox="1"/>
          <p:nvPr/>
        </p:nvSpPr>
        <p:spPr>
          <a:xfrm>
            <a:off x="640080" y="5120640"/>
            <a:ext cx="10789920" cy="457200"/>
          </a:xfrm>
          <a:prstGeom prst="rect">
            <a:avLst/>
          </a:prstGeom>
          <a:noFill/>
        </p:spPr>
        <p:txBody>
          <a:bodyPr wrap="square" lIns="0" rIns="0" tIns="0" bIns="0" anchor="t">
            <a:spAutoFit/>
          </a:bodyPr>
          <a:lstStyle/>
          <a:p>
            <a:pPr algn="l"/>
            <a:r>
              <a:rPr sz="1300" b="1" i="0">
                <a:solidFill>
                  <a:srgbClr val="FFFFFF"/>
                </a:solidFill>
              </a:rPr>
              <a:t>Limits.  </a:t>
            </a:r>
            <a:r>
              <a:rPr sz="1300" b="0" i="0">
                <a:solidFill>
                  <a:srgbClr val="DCF1F0"/>
                </a:solidFill>
              </a:rPr>
              <a:t>One reader, and no owner asked · role files of 13 October · this seat's screens only, on a stand-in engine · argument, not test: no occupier has seen a screen.</a:t>
            </a:r>
          </a:p>
        </p:txBody>
      </p:sp>
      <p:sp>
        <p:nvSpPr>
          <p:cNvPr id="20" name="Text"/>
          <p:cNvSpPr txBox="1"/>
          <p:nvPr/>
        </p:nvSpPr>
        <p:spPr>
          <a:xfrm>
            <a:off x="640080" y="5897880"/>
            <a:ext cx="10789920" cy="274320"/>
          </a:xfrm>
          <a:prstGeom prst="rect">
            <a:avLst/>
          </a:prstGeom>
          <a:noFill/>
        </p:spPr>
        <p:txBody>
          <a:bodyPr wrap="square" lIns="0" rIns="0" tIns="0" bIns="0" anchor="t">
            <a:spAutoFit/>
          </a:bodyPr>
          <a:lstStyle/>
          <a:p>
            <a:pPr algn="l"/>
            <a:r>
              <a:rPr sz="1200" b="0" i="0">
                <a:solidFill>
                  <a:srgbClr val="7CC4C1"/>
                </a:solidFill>
              </a:rPr>
              <a:t>One seat's proposal, and one reader's classification. The team has not settled the Task-UX.</a:t>
            </a:r>
          </a:p>
        </p:txBody>
      </p:sp>
    </p:spTree>
  </p:cSld>
  <p:clrMapOvr>
    <a:masterClrMapping/>
  </p:clrMapOvr>
</p:sld>
</file>

<file path=ppt/theme/theme1.xml><?xml version="1.0" encoding="utf-8"?>
<a:theme xmlns:a="http://schemas.openxmlformats.org/drawingml/2006/main" name="Role App Model">
  <a:themeElements>
    <a:clrScheme name="Role App Model">
      <a:dk1>
        <a:srgbClr val="1E262B"/>
      </a:dk1>
      <a:lt1>
        <a:srgbClr val="FFFFFF"/>
      </a:lt1>
      <a:dk2>
        <a:srgbClr val="0B4A4A"/>
      </a:dk2>
      <a:lt2>
        <a:srgbClr val="F1F5F6"/>
      </a:lt2>
      <a:accent1>
        <a:srgbClr val="0B6463"/>
      </a:accent1>
      <a:accent2>
        <a:srgbClr val="B3362B"/>
      </a:accent2>
      <a:accent3>
        <a:srgbClr val="8A5A12"/>
      </a:accent3>
      <a:accent4>
        <a:srgbClr val="5E6A71"/>
      </a:accent4>
      <a:accent5>
        <a:srgbClr val="DCF1F0"/>
      </a:accent5>
      <a:accent6>
        <a:srgbClr val="7CC4C1"/>
      </a:accent6>
      <a:hlink>
        <a:srgbClr val="0B6463"/>
      </a:hlink>
      <a:folHlink>
        <a:srgbClr val="5E6A71"/>
      </a:folHlink>
    </a:clrScheme>
    <a:fontScheme name="Role App Mode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role to its screens</dc:title>
  <dc:subject>The Reference Role App Model, tried on the Contracts and Services Procurement Officer</dc:subject>
  <dc:creator>Maniteja Tallapally</dc:creator>
  <cp:lastModifiedBy>Maniteja Tallapally</cp:lastModifiedBy>
  <cp:revision>1</cp:revision>
  <dcterms:created xsi:type="dcterms:W3CDTF">2026-10-07T06:55:22Z</dcterms:created>
  <dcterms:modified xsi:type="dcterms:W3CDTF">2026-10-07T06:55:22Z</dcterms:modified>
</cp:coreProperties>
</file>