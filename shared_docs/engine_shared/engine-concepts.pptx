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6"/>
    <p:sldId id="275" r:id="rId5"/>
    <p:sldId id="276" r:id="rId4"/>
    <p:sldId id="277" r:id="rId3"/>
    <p:sldId id="278" r:id="rId2"/>
    <p:sldId id="279" r:id="rId30"/>
    <p:sldId id="280" r:id="rId31"/>
    <p:sldId id="281" r:id="rId32"/>
    <p:sldId id="282" r:id="rId33"/>
    <p:sldId id="283" r:id="rId34"/>
    <p:sldId id="284" r:id="rId35"/>
    <p:sldId id="285" r:id="rId36"/>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43004dd-9373-c355-110e-8f5627172a5b}">
          <p14:sldIdLst>
            <p14:sldId id="256"/>
            <p14:sldId id="257"/>
            <p14:sldId id="258"/>
            <p14:sldId id="259"/>
          </p14:sldIdLst>
        </p14:section>
        <p14:section name="The cards generate" id="{6e6badae-3ec6-f0e9-f79a-40c12e26b464}">
          <p14:sldIdLst>
            <p14:sldId id="260"/>
            <p14:sldId id="261"/>
            <p14:sldId id="262"/>
            <p14:sldId id="263"/>
            <p14:sldId id="264"/>
            <p14:sldId id="265"/>
            <p14:sldId id="266"/>
            <p14:sldId id="267"/>
          </p14:sldIdLst>
        </p14:section>
        <p14:section name="The occupier cuts" id="{a61fdb5e-87a7-0a2b-9ae7-40a377072ce9}">
          <p14:sldIdLst>
            <p14:sldId id="268"/>
            <p14:sldId id="269"/>
            <p14:sldId id="270"/>
            <p14:sldId id="271"/>
            <p14:sldId id="272"/>
            <p14:sldId id="273"/>
          </p14:sldIdLst>
        </p14:section>
        <p14:section name="What follows" id="{80cd6314-5b0c-7be1-57b1-1857f159df9b}">
          <p14:sldIdLst>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3.xml"/><Relationship Id="rId3" Type="http://schemas.openxmlformats.org/officeDocument/2006/relationships/slide" Target="slides/slide22.xml"/><Relationship Id="rId4" Type="http://schemas.openxmlformats.org/officeDocument/2006/relationships/slide" Target="slides/slide21.xml"/><Relationship Id="rId5" Type="http://schemas.openxmlformats.org/officeDocument/2006/relationships/slide" Target="slides/slide20.xml"/><Relationship Id="rId6" Type="http://schemas.openxmlformats.org/officeDocument/2006/relationships/slide" Target="slides/slide19.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agree on words. Thirteen role apps are about to be built on one engine, and each of us will design actions, events and queries for our own seat. If we mean different things by those words, the engine will not converge. This deck walks through the concepts Foundry has agreed as its draft starting point, one at a time, in the order they depend on each other. Every concept is shown once on my seat's service spine: a Works Order, its completion confirmation, and the service-bill match. Then we look at what the POC backend does for each word, and where Foundry and the POC differ. The Render backend itself is presented tomorrow; this deck is only the way of thinking.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facts set the scene. Now: the POC does not use the Foundry app engine. It runs on the shared Render backend: one database, one FastAPI service, and an event mechanism. Later: the same ideas should move to the Aikyat engine with very little translation. Today: that only works if the words are the same across every seat, and if each word means one thing. So this deck is about the words, not about the machinery.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Honesty about status first. The Foundry records are approved reference architecture for Foundry. They are not something this team has adopted as law for the POC. The POC engineering baseline is ours: it says how the shared engine is built. The role app model is a proposal from one seat, and its last stage already speaks the engine's words. Where Foundry and the POC differ, this deck shows both sides and does not settle the difference. That is for the team.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rule in this deck is this one statement applied to one concept. Say it slowly. Every fact has one owner: the context. A fact changes only through an action: no side doors, no direct writes, no screen that edits a row. Everything else listens or reads: a reaction listens to an event and calls an action of its own; a query reads and changes nothing. If a design breaks one of these three clauses, it is wrong before we look at the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examples come from my seat, reduced on 26 October to its service spine. Three tasks from the role file on main. Raise a Works Order: a department asks for a service; the order is submitted; the Procurement Manager approves it commercially. Obtain the completion confirmation: a milestone falls due; the system sends the request; the department head confirms in full, in part, or declines. Match a service invoice: the Accounts Executive captures the invoice; this seat matches it or raises a variance; Accounts posts or decides. Three contexts take part: Procurement, Finance, and the Foundation's Parties and Contacts for the contractor. Every concept in this deck appears once in this thread. The action and event names I will use are illustrative; the role file does not name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picture every later slide points back to. Two contexts, each owning its facts. Inside a context, an entity: a fact with a life of states. An action is the only arrow into an entity. When an action completes, it may publish an event: a fact that happened. A reaction in another context listens to that event and calls an action of its own, passing that action's gates. A query reads the facts of one or more contexts, by declared identifiers, and serves the screen. Everything runs under one principal: a person through their position, or a named automation. Hold this picture; the next slides fill in each word.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business context is the unit of ownership. In the POC it is a capability package. The point of the word is the ownership: one owner per fact, and all writes through that owner. In our thread Procurement owns the Works Order and the confirmation; Finance owns the invoice; the contractor lives in Parties and Contacts, which the Foundation provides to everyone. The rule that matters daily: no capability touches another capability's tables. If Procurement needs an invoice to change, it calls Finance's action, or publishes an event Finance reacts to.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entity is the subject of a task: the Works Order, the confirmation, the invoice. It has an identity, a lifecycle of named states, and a history. Two rules carry the weight. A state never changes as a side effect: there is always a named action behind the move. And the labels are stable: the word on the screen is the word in the engine. Notice that the approval instance is itself an entity. That is how Foundry avoids a workflow engine; we will see it on the approval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action is a named change with an owner. Raise a Works Order ends in one action, RaiseWorksOrder, owned by Procurement. It takes declared inputs, has one effect, and publishes one event. In the role app model, the ending of a task is exactly this: an action. The 'allows' call that fills the buttons on a task page is the engine listing the actions this person may take on this subject today. The names here are mine; the role file does not name actions. What is not illustrative is the shape: one owner, declared inputs, declared effect, declared event.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Gates are the checks an action runs before it has any effect. Foundry's list: preconditions, required inputs, validation, authorization, confirmation sized to the risk, approval linkage, and audit. Two things matter for us. First, the gates are declared with the action, so they can be read, tested and shown on the screen as the reason a button is disabled. Second, they are the same for every caller. A reaction calling RaiseWorksOrder passes the same gates as the officer pressing Submit. That is what 'no side doors' means.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rule that makes everything downstream safe. Every invocation carries an identity. The owning context commits the effect and a receipt together. If the same invocation arrives again, from a double click, a network retry, or the dispatcher redelivering an event, the context returns the recorded outcome and does not execute again. The POC baseline says reactions must be safe to retry; invocation identity and receipts are the mechanism that gives us that for free. It is one of the gaps I will ask us to decide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rules, nothing more. An action changes only its own context's facts. It may read declared facts from other contexts. A read is only a look: if the other context must decide, reserve, guarantee or change something, you call that context's action or approval. And normal authorization applies to the read. Our match is the example: it reads the Works Order, the confirmation and the captured invoice, and records the match or the variance in Procurement. It does not post the invoice. Finance's action does that, when the Accounts Executive runs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event is a published fact in the past tense. WorksOrderSubmitted, ServiceCompletionConfirmed, ServiceInvoiceCaptured. Three rules: the publisher does not know the consumers; consuming grants no authority, so the listener still passes its own gates; and delivery may repeat, so the consumer must tolerate a duplicate. The POC baseline agrees: events are named, versioned facts whose definition does not depend on the delivery mechanism. In the role app model, the edges of the state map are events: the ending of one seat's task is the start of another's.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reaction turns an event into an action, automatically, under a named automation principal. When a milestone falls due, send the confirmation request to the department head. Three guarantees come from the machinery, not from each handler: one logical call per occurrence, safe retry, visible failure. The contrast matters for our role apps. The match is not a reaction, even though an event starts it, because matching is a judgement. It becomes a task in the officer's queue. The rule of thumb: if the system can do it without judgement, it is a reaction; if a person must decide, it is a task that an event starts.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approval is three things: a gate on an action, an authority that decides, and a clock. The Works Order is the example: the Procurement Manager approves every one commercially, and the order has no effect until that decision concludes. Foundry builds this from parts we already have: the approval instance is an entity with its own states; the deadline is a timer; escalation is a reaction. There is no separate workflow engine, and the POC baseline rules one out too. Note the ownership of 26 October: the Accounting boundary team owns the one approval mechanism. The Accounts Manager's queue and the Procurement Manager's queue are the same construct.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timer is how time enters the model. A milestone falls due; a deadline passes; a contract nears its end. Each is a declared occurrence that the platform publishes as an event, and a reaction decides what to do. In the POC the scheduler entrypoint plays this part. The company's limits, how long before a reminder, how long before an escalation, are parameters with an owning seat. In the role app model, these are the cues and alerts on the task home.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query is a declared read. The officer's queue is the example: the subjects in a state this seat holds, grouped by whose move it is, across Procurement and Finance. Three rules. It changes nothing. It is authorized like everything else, because reading is not harmless. And it declares how fresh its answer is. Foundry adds a fourth that saves us work: one query per business question, and the screen binds its own columns and order to it. We do not write a new query for every page. In the role app model, the task home, the report block, the cue and the drill are all queries.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is acting? Foundry allows exactly two answers. A person, whose authority comes from the position they occupy, read from HR at the moment of the call. Or a named automation principal, with a grant that lists the events it may hear and the actions it may call, and nothing more. Our reminder sender is one: procurement-reminders. This replaces the anonymous 'System' we are used to seeing in audit trails. Two consequences for role apps: the screen grants nothing, it only shows what the position already may do; and when the occupant of a seat changes, the new occupant inherits the work, because the work belongs to the position.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does a context remember? Foundry's default is the ordinary one: a register of current state, plus a trail of every change linked to the action that made it. The important part is the commit. One transaction writes the state change, the receipt, the trail entry, and the event as a row to be delivered. This is exactly what the POC baseline says: commit business state and the event in one transaction into the outbox. Because the event is committed with the state, it can never be lost, and because the receipt is committed with the effect, a retry can never double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whole thread at once. Raise a Works Order: the officer's action publishes WorksOrderSubmitted. The Procurement Manager's approval concludes; the order is released. A milestone falls due: a timer publishes MilestoneDue; a reaction sends the confirmation request as the automation principal. The department head confirms: their action publishes ServiceCompletionConfirmed. The Accounts Executive captures the invoice in Finance: ServiceInvoiceCaptured starts the officer's match task. The officer matches: ServiceInvoiceMatched goes to the Accounts Executive to post; a variance goes to the Accounts Manager to decide. Every box is one of the words from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six steps as a table, so you can see each word used once per row. This is the shape I will ask each seat to produce for one of their own tasks: the context, the action, its gates, the event, who acts, and what listens. The listener column is where the role apps meet the engine: an event either starts a person's task, or fires a reaction. Nothing else listens.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machinery, from the POC engineering baseline. A context is a capability package that owns its models, actions, queries, events and reactions. An action is an endpoint in that capability: it checks authority and rules, then commits the state and the event in one transaction. The event is a row in a PostgreSQL outbox. A worker, the Embedded Event Dispatcher, reads the outbox, finds the registered reactions, calls each one independently, records completion, retries temporary failures and isolates the rest. A query is a read endpoint. Timers are the scheduler. The role app talks to all of it through OpenAPI and a generated TypeScript client. On main today, the outbox, dispatcher and registry are still placeholders; the Render backend is presented tomorrow, and that presentation says what is built.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baseline is explicit about what it leaves out: no message broker, no general workflow platform, no event sourcing, no CQRS. One modular monolith, one PostgreSQL, one migration head. This is not a compromise against Foundry's thinking. Foundry's own records say the same: no central orchestration engine, approvals and reactions as small handlers over platform guarantees, and a plain register with a trail as the default way to remember. The concepts carry the design. The machinery stays thin.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translation table in two halves. First the facts: context, entity, action, event, history. Read each row left to right: what Foundry means, what the POC builds, what the role app calls it. The right column is the role app model's stage 6, which already speaks these words. The point of the table is that nothing in the role app needs a new concept to land on the engine.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half: reaction, approval, timer, query, authority. Two rows deserve a word. Authority in the POC is a package name and nothing more yet; what the role app needs from it is simple: what may this seat see and press. And the approval row: the ownership of 26 October gives the one approval mechanism to the Accounting boundary team; this row is what they are building.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6 of the role app model names five words the engine must provide and a sixth it works out. Four map straight onto Foundry's. Query is query. Action is action, with 'allows' as the engine's list of permitted moves. Event is event: the edges of the state map. A notice is a reaction whose action reaches a person without moving work; Foundry's SDK calls that a notification request. A parameter is a named number the business sets, with an owner; in Foundry's words, fast-moving thresholds are data the gates read. And the holder is never stored: it is worked out from the state and the position, and a query returns it. One rule to take away: the screen holds no business rule. It asks the engine what is allowed and why the rest is not.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nothing else, remember these seven. They are where Foundry and the POC baseline say the same thing in different words. Each one is checkable in a pull request.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differences, shown and not settled. Delivery: Foundry commits a publication intent and hands it to platform custody, at least once, with one broker path in version one; the POC baseline uses an embedded PostgreSQL outbox and dispatcher and says explicitly: no broker. The lead's note mentions an event broker; tomorrow's presentation tells us which it is. Code: Foundry generates the domain core from a specification; the POC hand-writes FastAPI on Foundry-like principles. Queries: Foundry runs them in a certified query runtime across contexts; the POC publishes read endpoints per capability. Receipts: Foundry's invocation identity and receipt are not in the baseline. Authority: Foundry's positions and automation principals; the POC has a package name. The concept is the same in every row. What differs is how much machinery stands under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open questions. The first two belong to tomorrow's presentation and the engine team. The third and fourth are the gaps from the previous slide, and I think we can decide them now, because they cost little and save a lot. The fifth is a modelling question the role apps will hit in their first week. The sixth is already assigned by the ownership of 26 October; it needs a design, not a decision.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asks. Use the words, because convergence of the engine starts with the vocabulary. Write one task in these words, because an example from your own role will test your understanding faster than any slide, and tomorrow's presentation of the Render backend will land better on real examples. Decide the two gaps, because invocation identity and named automation principals are cheap now and expensive later. And keep the thread to the role app, because stage 6 of the role app model already binds to these words; we do not need a new vocabulary between the screen and the engine.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4A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669280" cy="201168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640080" y="3977640"/>
            <a:ext cx="5394960" cy="1188720"/>
          </a:xfrm>
          <a:prstGeom prst="rect">
            <a:avLst/>
          </a:prstGeom>
          <a:noFill/>
          <a:ln/>
        </p:spPr>
        <p:txBody>
          <a:bodyPr wrap="square" rtlCol="0"/>
          <a:lstStyle>
            <a:lvl1pPr algn="l" indent="0" marL="0">
              <a:buNone/>
              <a:defRPr lang="en-US" sz="1800" dirty="0">
                <a:solidFill>
                  <a:schemeClr val="accent5"/>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4A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971800"/>
            <a:ext cx="1051560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4023360"/>
            <a:ext cx="10515600" cy="73152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82296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txBox="1"/>
          <p:nvPr/>
        </p:nvSpPr>
        <p:spPr>
          <a:xfrm>
            <a:off x="548640" y="6382512"/>
            <a:ext cx="8686800" cy="256032"/>
          </a:xfrm>
          <a:prstGeom prst="rect">
            <a:avLst/>
          </a:prstGeom>
          <a:noFill/>
          <a:ln/>
        </p:spPr>
        <p:txBody>
          <a:bodyPr wrap="square" lIns="0" tIns="0" rIns="0" bIns="0" rtlCol="0" anchor="ctr"/>
          <a:lstStyle/>
          <a:p>
            <a:pPr indent="0" marL="0">
              <a:buNone/>
            </a:pPr>
            <a:r>
              <a:rPr lang="en-US" sz="1000" dirty="0">
                <a:solidFill>
                  <a:schemeClr val="accent4"/>
                </a:solidFill>
              </a:rPr>
              <a:t>Thinking about the backend  ·  Foundry's concepts, the POC's machinery, one seat's examples  ·  names of actions and events are illustrative</a:t>
            </a:r>
            <a:endParaRPr lang="en-US" sz="1000" dirty="0"/>
          </a:p>
        </p:txBody>
      </p:sp>
      <p:sp>
        <p:nvSpPr>
          <p:cNvPr id="25" name="Slide Number Placeholder 0"/>
          <p:cNvSpPr>
            <a:spLocks noGrp="1"/>
          </p:cNvSpPr>
          <p:nvPr>
            <p:ph type="sldNum" sz="quarter" idx="4294967295"/>
          </p:nvPr>
        </p:nvSpPr>
        <p:spPr>
          <a:xfrm>
            <a:off x="11094415" y="638251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0B4A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972800" cy="9144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Thinking about the backend</a:t>
            </a:r>
          </a:p>
        </p:txBody>
      </p:sp>
      <p:sp>
        <p:nvSpPr>
          <p:cNvPr id="3" name="Text Placeholder 2"/>
          <p:cNvSpPr>
            <a:spLocks noGrp="1"/>
          </p:cNvSpPr>
          <p:nvPr>
            <p:ph type="body" idx="101"/>
          </p:nvPr>
        </p:nvSpPr>
        <p:spPr/>
        <p:txBody>
          <a:bodyPr/>
          <a:lstStyle/>
          <a:p>
            <a:r>
              <a:t>One way to think about it. The engine concepts agreed as the draft starting point: events, actions, queries, reactions and the words around them, each shown once on one seat's work.</a:t>
            </a:r>
          </a:p>
        </p:txBody>
      </p:sp>
      <p:sp>
        <p:nvSpPr>
          <p:cNvPr id="4" name="Text"/>
          <p:cNvSpPr txBox="1"/>
          <p:nvPr/>
        </p:nvSpPr>
        <p:spPr>
          <a:xfrm>
            <a:off x="640080" y="1097280"/>
            <a:ext cx="5486400" cy="228600"/>
          </a:xfrm>
          <a:prstGeom prst="rect">
            <a:avLst/>
          </a:prstGeom>
          <a:noFill/>
        </p:spPr>
        <p:txBody>
          <a:bodyPr wrap="square" lIns="0" rIns="0" tIns="0" bIns="0" anchor="t">
            <a:spAutoFit/>
          </a:bodyPr>
          <a:lstStyle/>
          <a:p>
            <a:pPr algn="l"/>
            <a:r>
              <a:rPr sz="1000" b="1" i="0">
                <a:solidFill>
                  <a:srgbClr val="7CC4C1"/>
                </a:solidFill>
              </a:rPr>
              <a:t>FOR THE WHOLE TEAM  ·  BEFORE ENGINE IMPLEMENTATION</a:t>
            </a:r>
          </a:p>
        </p:txBody>
      </p:sp>
      <p:sp>
        <p:nvSpPr>
          <p:cNvPr id="5" name="Text"/>
          <p:cNvSpPr txBox="1"/>
          <p:nvPr/>
        </p:nvSpPr>
        <p:spPr>
          <a:xfrm>
            <a:off x="640080" y="5897880"/>
            <a:ext cx="5760720" cy="274320"/>
          </a:xfrm>
          <a:prstGeom prst="rect">
            <a:avLst/>
          </a:prstGeom>
          <a:noFill/>
        </p:spPr>
        <p:txBody>
          <a:bodyPr wrap="square" lIns="0" rIns="0" tIns="0" bIns="0" anchor="t">
            <a:spAutoFit/>
          </a:bodyPr>
          <a:lstStyle/>
          <a:p>
            <a:pPr algn="l"/>
            <a:r>
              <a:rPr sz="1300" b="0" i="0">
                <a:solidFill>
                  <a:srgbClr val="DCF1F0"/>
                </a:solidFill>
              </a:rPr>
              <a:t>Contracts &amp; Services Procurement Officer seat  ·  26 October 2026</a:t>
            </a:r>
          </a:p>
        </p:txBody>
      </p:sp>
      <p:sp>
        <p:nvSpPr>
          <p:cNvPr id="6" name="Order frame"/>
          <p:cNvSpPr/>
          <p:nvPr/>
        </p:nvSpPr>
        <p:spPr>
          <a:xfrm>
            <a:off x="6720840" y="1325880"/>
            <a:ext cx="491947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6995160" y="1481328"/>
            <a:ext cx="4480560" cy="228600"/>
          </a:xfrm>
          <a:prstGeom prst="rect">
            <a:avLst/>
          </a:prstGeom>
          <a:noFill/>
        </p:spPr>
        <p:txBody>
          <a:bodyPr wrap="square" lIns="0" rIns="0" tIns="0" bIns="0" anchor="t">
            <a:spAutoFit/>
          </a:bodyPr>
          <a:lstStyle/>
          <a:p>
            <a:pPr algn="l"/>
            <a:r>
              <a:rPr sz="950" b="1" i="0">
                <a:solidFill>
                  <a:srgbClr val="5E6A71"/>
                </a:solidFill>
              </a:rPr>
              <a:t>THE WORDS, IN THE ORDER THEY COME</a:t>
            </a:r>
          </a:p>
        </p:txBody>
      </p:sp>
      <p:sp>
        <p:nvSpPr>
          <p:cNvPr id="8" name="Number"/>
          <p:cNvSpPr/>
          <p:nvPr/>
        </p:nvSpPr>
        <p:spPr>
          <a:xfrm>
            <a:off x="6995160" y="1856231"/>
            <a:ext cx="292608" cy="29260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umber"/>
          <p:cNvSpPr txBox="1"/>
          <p:nvPr/>
        </p:nvSpPr>
        <p:spPr>
          <a:xfrm>
            <a:off x="6995160" y="1856231"/>
            <a:ext cx="292608" cy="292608"/>
          </a:xfrm>
          <a:prstGeom prst="rect">
            <a:avLst/>
          </a:prstGeom>
          <a:noFill/>
        </p:spPr>
        <p:txBody>
          <a:bodyPr wrap="square" lIns="0" rIns="0" tIns="0" bIns="0" anchor="ctr">
            <a:spAutoFit/>
          </a:bodyPr>
          <a:lstStyle/>
          <a:p>
            <a:pPr algn="ctr"/>
            <a:r>
              <a:rPr sz="1050" b="1" i="0">
                <a:solidFill>
                  <a:srgbClr val="FFFFFF"/>
                </a:solidFill>
              </a:rPr>
              <a:t>1</a:t>
            </a:r>
          </a:p>
        </p:txBody>
      </p:sp>
      <p:sp>
        <p:nvSpPr>
          <p:cNvPr id="10" name="Text"/>
          <p:cNvSpPr txBox="1"/>
          <p:nvPr/>
        </p:nvSpPr>
        <p:spPr>
          <a:xfrm>
            <a:off x="7424927" y="1810512"/>
            <a:ext cx="4023360" cy="384048"/>
          </a:xfrm>
          <a:prstGeom prst="rect">
            <a:avLst/>
          </a:prstGeom>
          <a:noFill/>
        </p:spPr>
        <p:txBody>
          <a:bodyPr wrap="square" lIns="0" rIns="0" tIns="0" bIns="0" anchor="ctr">
            <a:spAutoFit/>
          </a:bodyPr>
          <a:lstStyle/>
          <a:p>
            <a:pPr algn="l"/>
            <a:r>
              <a:rPr sz="1300" b="1" i="0">
                <a:solidFill>
                  <a:srgbClr val="0B4A4A"/>
                </a:solidFill>
              </a:rPr>
              <a:t>Context</a:t>
            </a:r>
          </a:p>
        </p:txBody>
      </p:sp>
      <p:sp>
        <p:nvSpPr>
          <p:cNvPr id="11" name="Number"/>
          <p:cNvSpPr/>
          <p:nvPr/>
        </p:nvSpPr>
        <p:spPr>
          <a:xfrm>
            <a:off x="6995160" y="2258568"/>
            <a:ext cx="292608" cy="29260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
          <p:cNvSpPr txBox="1"/>
          <p:nvPr/>
        </p:nvSpPr>
        <p:spPr>
          <a:xfrm>
            <a:off x="6995160" y="2258568"/>
            <a:ext cx="292608" cy="292608"/>
          </a:xfrm>
          <a:prstGeom prst="rect">
            <a:avLst/>
          </a:prstGeom>
          <a:noFill/>
        </p:spPr>
        <p:txBody>
          <a:bodyPr wrap="square" lIns="0" rIns="0" tIns="0" bIns="0" anchor="ctr">
            <a:spAutoFit/>
          </a:bodyPr>
          <a:lstStyle/>
          <a:p>
            <a:pPr algn="ctr"/>
            <a:r>
              <a:rPr sz="1050" b="1" i="0">
                <a:solidFill>
                  <a:srgbClr val="FFFFFF"/>
                </a:solidFill>
              </a:rPr>
              <a:t>2</a:t>
            </a:r>
          </a:p>
        </p:txBody>
      </p:sp>
      <p:sp>
        <p:nvSpPr>
          <p:cNvPr id="13" name="Text"/>
          <p:cNvSpPr txBox="1"/>
          <p:nvPr/>
        </p:nvSpPr>
        <p:spPr>
          <a:xfrm>
            <a:off x="7424927" y="2212848"/>
            <a:ext cx="4023360" cy="384048"/>
          </a:xfrm>
          <a:prstGeom prst="rect">
            <a:avLst/>
          </a:prstGeom>
          <a:noFill/>
        </p:spPr>
        <p:txBody>
          <a:bodyPr wrap="square" lIns="0" rIns="0" tIns="0" bIns="0" anchor="ctr">
            <a:spAutoFit/>
          </a:bodyPr>
          <a:lstStyle/>
          <a:p>
            <a:pPr algn="l"/>
            <a:r>
              <a:rPr sz="1300" b="1" i="0">
                <a:solidFill>
                  <a:srgbClr val="0B4A4A"/>
                </a:solidFill>
              </a:rPr>
              <a:t>Entity</a:t>
            </a:r>
          </a:p>
        </p:txBody>
      </p:sp>
      <p:sp>
        <p:nvSpPr>
          <p:cNvPr id="14" name="Number"/>
          <p:cNvSpPr/>
          <p:nvPr/>
        </p:nvSpPr>
        <p:spPr>
          <a:xfrm>
            <a:off x="6995160" y="2660903"/>
            <a:ext cx="292608" cy="29260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ber"/>
          <p:cNvSpPr txBox="1"/>
          <p:nvPr/>
        </p:nvSpPr>
        <p:spPr>
          <a:xfrm>
            <a:off x="6995160" y="2660903"/>
            <a:ext cx="292608" cy="292608"/>
          </a:xfrm>
          <a:prstGeom prst="rect">
            <a:avLst/>
          </a:prstGeom>
          <a:noFill/>
        </p:spPr>
        <p:txBody>
          <a:bodyPr wrap="square" lIns="0" rIns="0" tIns="0" bIns="0" anchor="ctr">
            <a:spAutoFit/>
          </a:bodyPr>
          <a:lstStyle/>
          <a:p>
            <a:pPr algn="ctr"/>
            <a:r>
              <a:rPr sz="1050" b="1" i="0">
                <a:solidFill>
                  <a:srgbClr val="FFFFFF"/>
                </a:solidFill>
              </a:rPr>
              <a:t>3</a:t>
            </a:r>
          </a:p>
        </p:txBody>
      </p:sp>
      <p:sp>
        <p:nvSpPr>
          <p:cNvPr id="16" name="Text"/>
          <p:cNvSpPr txBox="1"/>
          <p:nvPr/>
        </p:nvSpPr>
        <p:spPr>
          <a:xfrm>
            <a:off x="7424927" y="2615184"/>
            <a:ext cx="4023360" cy="384048"/>
          </a:xfrm>
          <a:prstGeom prst="rect">
            <a:avLst/>
          </a:prstGeom>
          <a:noFill/>
        </p:spPr>
        <p:txBody>
          <a:bodyPr wrap="square" lIns="0" rIns="0" tIns="0" bIns="0" anchor="ctr">
            <a:spAutoFit/>
          </a:bodyPr>
          <a:lstStyle/>
          <a:p>
            <a:pPr algn="l"/>
            <a:r>
              <a:rPr sz="1300" b="1" i="0">
                <a:solidFill>
                  <a:srgbClr val="0B4A4A"/>
                </a:solidFill>
              </a:rPr>
              <a:t>Action</a:t>
            </a:r>
          </a:p>
        </p:txBody>
      </p:sp>
      <p:sp>
        <p:nvSpPr>
          <p:cNvPr id="17" name="Number"/>
          <p:cNvSpPr/>
          <p:nvPr/>
        </p:nvSpPr>
        <p:spPr>
          <a:xfrm>
            <a:off x="6995160" y="3063239"/>
            <a:ext cx="292608" cy="29260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
          <p:cNvSpPr txBox="1"/>
          <p:nvPr/>
        </p:nvSpPr>
        <p:spPr>
          <a:xfrm>
            <a:off x="6995160" y="3063239"/>
            <a:ext cx="292608" cy="292608"/>
          </a:xfrm>
          <a:prstGeom prst="rect">
            <a:avLst/>
          </a:prstGeom>
          <a:noFill/>
        </p:spPr>
        <p:txBody>
          <a:bodyPr wrap="square" lIns="0" rIns="0" tIns="0" bIns="0" anchor="ctr">
            <a:spAutoFit/>
          </a:bodyPr>
          <a:lstStyle/>
          <a:p>
            <a:pPr algn="ctr"/>
            <a:r>
              <a:rPr sz="1050" b="1" i="0">
                <a:solidFill>
                  <a:srgbClr val="FFFFFF"/>
                </a:solidFill>
              </a:rPr>
              <a:t>4</a:t>
            </a:r>
          </a:p>
        </p:txBody>
      </p:sp>
      <p:sp>
        <p:nvSpPr>
          <p:cNvPr id="19" name="Text"/>
          <p:cNvSpPr txBox="1"/>
          <p:nvPr/>
        </p:nvSpPr>
        <p:spPr>
          <a:xfrm>
            <a:off x="7424927" y="3017520"/>
            <a:ext cx="4023360" cy="384048"/>
          </a:xfrm>
          <a:prstGeom prst="rect">
            <a:avLst/>
          </a:prstGeom>
          <a:noFill/>
        </p:spPr>
        <p:txBody>
          <a:bodyPr wrap="square" lIns="0" rIns="0" tIns="0" bIns="0" anchor="ctr">
            <a:spAutoFit/>
          </a:bodyPr>
          <a:lstStyle/>
          <a:p>
            <a:pPr algn="l"/>
            <a:r>
              <a:rPr sz="1300" b="1" i="0">
                <a:solidFill>
                  <a:srgbClr val="0B4A4A"/>
                </a:solidFill>
              </a:rPr>
              <a:t>Event</a:t>
            </a:r>
          </a:p>
        </p:txBody>
      </p:sp>
      <p:sp>
        <p:nvSpPr>
          <p:cNvPr id="20" name="Number"/>
          <p:cNvSpPr/>
          <p:nvPr/>
        </p:nvSpPr>
        <p:spPr>
          <a:xfrm>
            <a:off x="6995160" y="3465576"/>
            <a:ext cx="292608" cy="29260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ber"/>
          <p:cNvSpPr txBox="1"/>
          <p:nvPr/>
        </p:nvSpPr>
        <p:spPr>
          <a:xfrm>
            <a:off x="6995160" y="3465576"/>
            <a:ext cx="292608" cy="292608"/>
          </a:xfrm>
          <a:prstGeom prst="rect">
            <a:avLst/>
          </a:prstGeom>
          <a:noFill/>
        </p:spPr>
        <p:txBody>
          <a:bodyPr wrap="square" lIns="0" rIns="0" tIns="0" bIns="0" anchor="ctr">
            <a:spAutoFit/>
          </a:bodyPr>
          <a:lstStyle/>
          <a:p>
            <a:pPr algn="ctr"/>
            <a:r>
              <a:rPr sz="1050" b="1" i="0">
                <a:solidFill>
                  <a:srgbClr val="FFFFFF"/>
                </a:solidFill>
              </a:rPr>
              <a:t>5</a:t>
            </a:r>
          </a:p>
        </p:txBody>
      </p:sp>
      <p:sp>
        <p:nvSpPr>
          <p:cNvPr id="22" name="Text"/>
          <p:cNvSpPr txBox="1"/>
          <p:nvPr/>
        </p:nvSpPr>
        <p:spPr>
          <a:xfrm>
            <a:off x="7424927" y="3419856"/>
            <a:ext cx="4023360" cy="384048"/>
          </a:xfrm>
          <a:prstGeom prst="rect">
            <a:avLst/>
          </a:prstGeom>
          <a:noFill/>
        </p:spPr>
        <p:txBody>
          <a:bodyPr wrap="square" lIns="0" rIns="0" tIns="0" bIns="0" anchor="ctr">
            <a:spAutoFit/>
          </a:bodyPr>
          <a:lstStyle/>
          <a:p>
            <a:pPr algn="l"/>
            <a:r>
              <a:rPr sz="1300" b="1" i="0">
                <a:solidFill>
                  <a:srgbClr val="0B4A4A"/>
                </a:solidFill>
              </a:rPr>
              <a:t>Reaction</a:t>
            </a:r>
          </a:p>
        </p:txBody>
      </p:sp>
      <p:sp>
        <p:nvSpPr>
          <p:cNvPr id="23" name="Number"/>
          <p:cNvSpPr/>
          <p:nvPr/>
        </p:nvSpPr>
        <p:spPr>
          <a:xfrm>
            <a:off x="6995160" y="3867911"/>
            <a:ext cx="292608" cy="29260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umber"/>
          <p:cNvSpPr txBox="1"/>
          <p:nvPr/>
        </p:nvSpPr>
        <p:spPr>
          <a:xfrm>
            <a:off x="6995160" y="3867911"/>
            <a:ext cx="292608" cy="292608"/>
          </a:xfrm>
          <a:prstGeom prst="rect">
            <a:avLst/>
          </a:prstGeom>
          <a:noFill/>
        </p:spPr>
        <p:txBody>
          <a:bodyPr wrap="square" lIns="0" rIns="0" tIns="0" bIns="0" anchor="ctr">
            <a:spAutoFit/>
          </a:bodyPr>
          <a:lstStyle/>
          <a:p>
            <a:pPr algn="ctr"/>
            <a:r>
              <a:rPr sz="1050" b="1" i="0">
                <a:solidFill>
                  <a:srgbClr val="FFFFFF"/>
                </a:solidFill>
              </a:rPr>
              <a:t>6</a:t>
            </a:r>
          </a:p>
        </p:txBody>
      </p:sp>
      <p:sp>
        <p:nvSpPr>
          <p:cNvPr id="25" name="Text"/>
          <p:cNvSpPr txBox="1"/>
          <p:nvPr/>
        </p:nvSpPr>
        <p:spPr>
          <a:xfrm>
            <a:off x="7424927" y="3822191"/>
            <a:ext cx="4023360" cy="384048"/>
          </a:xfrm>
          <a:prstGeom prst="rect">
            <a:avLst/>
          </a:prstGeom>
          <a:noFill/>
        </p:spPr>
        <p:txBody>
          <a:bodyPr wrap="square" lIns="0" rIns="0" tIns="0" bIns="0" anchor="ctr">
            <a:spAutoFit/>
          </a:bodyPr>
          <a:lstStyle/>
          <a:p>
            <a:pPr algn="l"/>
            <a:r>
              <a:rPr sz="1300" b="1" i="0">
                <a:solidFill>
                  <a:srgbClr val="0B4A4A"/>
                </a:solidFill>
              </a:rPr>
              <a:t>Approval and timer</a:t>
            </a:r>
          </a:p>
        </p:txBody>
      </p:sp>
      <p:sp>
        <p:nvSpPr>
          <p:cNvPr id="26" name="Number"/>
          <p:cNvSpPr/>
          <p:nvPr/>
        </p:nvSpPr>
        <p:spPr>
          <a:xfrm>
            <a:off x="6995160" y="4270248"/>
            <a:ext cx="292608" cy="29260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umber"/>
          <p:cNvSpPr txBox="1"/>
          <p:nvPr/>
        </p:nvSpPr>
        <p:spPr>
          <a:xfrm>
            <a:off x="6995160" y="4270248"/>
            <a:ext cx="292608" cy="292608"/>
          </a:xfrm>
          <a:prstGeom prst="rect">
            <a:avLst/>
          </a:prstGeom>
          <a:noFill/>
        </p:spPr>
        <p:txBody>
          <a:bodyPr wrap="square" lIns="0" rIns="0" tIns="0" bIns="0" anchor="ctr">
            <a:spAutoFit/>
          </a:bodyPr>
          <a:lstStyle/>
          <a:p>
            <a:pPr algn="ctr"/>
            <a:r>
              <a:rPr sz="1050" b="1" i="0">
                <a:solidFill>
                  <a:srgbClr val="FFFFFF"/>
                </a:solidFill>
              </a:rPr>
              <a:t>7</a:t>
            </a:r>
          </a:p>
        </p:txBody>
      </p:sp>
      <p:sp>
        <p:nvSpPr>
          <p:cNvPr id="28" name="Text"/>
          <p:cNvSpPr txBox="1"/>
          <p:nvPr/>
        </p:nvSpPr>
        <p:spPr>
          <a:xfrm>
            <a:off x="7424927" y="4224528"/>
            <a:ext cx="4023360" cy="384048"/>
          </a:xfrm>
          <a:prstGeom prst="rect">
            <a:avLst/>
          </a:prstGeom>
          <a:noFill/>
        </p:spPr>
        <p:txBody>
          <a:bodyPr wrap="square" lIns="0" rIns="0" tIns="0" bIns="0" anchor="ctr">
            <a:spAutoFit/>
          </a:bodyPr>
          <a:lstStyle/>
          <a:p>
            <a:pPr algn="l"/>
            <a:r>
              <a:rPr sz="1300" b="1" i="0">
                <a:solidFill>
                  <a:srgbClr val="0B4A4A"/>
                </a:solidFill>
              </a:rPr>
              <a:t>Query</a:t>
            </a:r>
          </a:p>
        </p:txBody>
      </p:sp>
      <p:sp>
        <p:nvSpPr>
          <p:cNvPr id="29" name="Number"/>
          <p:cNvSpPr/>
          <p:nvPr/>
        </p:nvSpPr>
        <p:spPr>
          <a:xfrm>
            <a:off x="6995160" y="4672584"/>
            <a:ext cx="292608" cy="29260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Number"/>
          <p:cNvSpPr txBox="1"/>
          <p:nvPr/>
        </p:nvSpPr>
        <p:spPr>
          <a:xfrm>
            <a:off x="6995160" y="4672584"/>
            <a:ext cx="292608" cy="292608"/>
          </a:xfrm>
          <a:prstGeom prst="rect">
            <a:avLst/>
          </a:prstGeom>
          <a:noFill/>
        </p:spPr>
        <p:txBody>
          <a:bodyPr wrap="square" lIns="0" rIns="0" tIns="0" bIns="0" anchor="ctr">
            <a:spAutoFit/>
          </a:bodyPr>
          <a:lstStyle/>
          <a:p>
            <a:pPr algn="ctr"/>
            <a:r>
              <a:rPr sz="1050" b="1" i="0">
                <a:solidFill>
                  <a:srgbClr val="FFFFFF"/>
                </a:solidFill>
              </a:rPr>
              <a:t>8</a:t>
            </a:r>
          </a:p>
        </p:txBody>
      </p:sp>
      <p:sp>
        <p:nvSpPr>
          <p:cNvPr id="31" name="Text"/>
          <p:cNvSpPr txBox="1"/>
          <p:nvPr/>
        </p:nvSpPr>
        <p:spPr>
          <a:xfrm>
            <a:off x="7424927" y="4626864"/>
            <a:ext cx="4023360" cy="384048"/>
          </a:xfrm>
          <a:prstGeom prst="rect">
            <a:avLst/>
          </a:prstGeom>
          <a:noFill/>
        </p:spPr>
        <p:txBody>
          <a:bodyPr wrap="square" lIns="0" rIns="0" tIns="0" bIns="0" anchor="ctr">
            <a:spAutoFit/>
          </a:bodyPr>
          <a:lstStyle/>
          <a:p>
            <a:pPr algn="l"/>
            <a:r>
              <a:rPr sz="1300" b="1" i="0">
                <a:solidFill>
                  <a:srgbClr val="0B4A4A"/>
                </a:solidFill>
              </a:rPr>
              <a:t>Authority</a:t>
            </a:r>
          </a:p>
        </p:txBody>
      </p:sp>
      <p:sp>
        <p:nvSpPr>
          <p:cNvPr id="32" name="Number"/>
          <p:cNvSpPr/>
          <p:nvPr/>
        </p:nvSpPr>
        <p:spPr>
          <a:xfrm>
            <a:off x="6995160" y="5074920"/>
            <a:ext cx="292608" cy="29260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Number"/>
          <p:cNvSpPr txBox="1"/>
          <p:nvPr/>
        </p:nvSpPr>
        <p:spPr>
          <a:xfrm>
            <a:off x="6995160" y="5074920"/>
            <a:ext cx="292608" cy="292608"/>
          </a:xfrm>
          <a:prstGeom prst="rect">
            <a:avLst/>
          </a:prstGeom>
          <a:noFill/>
        </p:spPr>
        <p:txBody>
          <a:bodyPr wrap="square" lIns="0" rIns="0" tIns="0" bIns="0" anchor="ctr">
            <a:spAutoFit/>
          </a:bodyPr>
          <a:lstStyle/>
          <a:p>
            <a:pPr algn="ctr"/>
            <a:r>
              <a:rPr sz="1050" b="1" i="0">
                <a:solidFill>
                  <a:srgbClr val="FFFFFF"/>
                </a:solidFill>
              </a:rPr>
              <a:t>9</a:t>
            </a:r>
          </a:p>
        </p:txBody>
      </p:sp>
      <p:sp>
        <p:nvSpPr>
          <p:cNvPr id="34" name="Text"/>
          <p:cNvSpPr txBox="1"/>
          <p:nvPr/>
        </p:nvSpPr>
        <p:spPr>
          <a:xfrm>
            <a:off x="7424927" y="5029200"/>
            <a:ext cx="4023360" cy="384048"/>
          </a:xfrm>
          <a:prstGeom prst="rect">
            <a:avLst/>
          </a:prstGeom>
          <a:noFill/>
        </p:spPr>
        <p:txBody>
          <a:bodyPr wrap="square" lIns="0" rIns="0" tIns="0" bIns="0" anchor="ctr">
            <a:spAutoFit/>
          </a:bodyPr>
          <a:lstStyle/>
          <a:p>
            <a:pPr algn="l"/>
            <a:r>
              <a:rPr sz="1300" b="1" i="0">
                <a:solidFill>
                  <a:srgbClr val="0B4A4A"/>
                </a:solidFill>
              </a:rPr>
              <a:t>History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Thirteen apps, one engine, one set of words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WHY THIS DECK</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2</a:t>
            </a:r>
          </a:p>
        </p:txBody>
      </p:sp>
      <p:sp>
        <p:nvSpPr>
          <p:cNvPr id="5" name="Card"/>
          <p:cNvSpPr/>
          <p:nvPr/>
        </p:nvSpPr>
        <p:spPr>
          <a:xfrm>
            <a:off x="548640" y="1417320"/>
            <a:ext cx="3566160" cy="2377440"/>
          </a:xfrm>
          <a:prstGeom prst="roundRect">
            <a:avLst>
              <a:gd name="adj" fmla="val 3461"/>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p:cNvSpPr txBox="1"/>
          <p:nvPr/>
        </p:nvSpPr>
        <p:spPr>
          <a:xfrm>
            <a:off x="777240" y="1581912"/>
            <a:ext cx="3108960" cy="329184"/>
          </a:xfrm>
          <a:prstGeom prst="rect">
            <a:avLst/>
          </a:prstGeom>
          <a:noFill/>
        </p:spPr>
        <p:txBody>
          <a:bodyPr wrap="square" lIns="0" rIns="0" tIns="0" bIns="0" anchor="t">
            <a:spAutoFit/>
          </a:bodyPr>
          <a:lstStyle/>
          <a:p>
            <a:pPr algn="l"/>
            <a:r>
              <a:rPr sz="1400" b="1" i="0">
                <a:solidFill>
                  <a:srgbClr val="0B6463"/>
                </a:solidFill>
              </a:rPr>
              <a:t>Now: the POC</a:t>
            </a:r>
          </a:p>
        </p:txBody>
      </p:sp>
      <p:sp>
        <p:nvSpPr>
          <p:cNvPr id="7" name="Text"/>
          <p:cNvSpPr txBox="1"/>
          <p:nvPr/>
        </p:nvSpPr>
        <p:spPr>
          <a:xfrm>
            <a:off x="777240" y="1947672"/>
            <a:ext cx="3108960" cy="1737360"/>
          </a:xfrm>
          <a:prstGeom prst="rect">
            <a:avLst/>
          </a:prstGeom>
          <a:noFill/>
        </p:spPr>
        <p:txBody>
          <a:bodyPr wrap="square" lIns="0" rIns="0" tIns="0" bIns="0" anchor="t">
            <a:spAutoFit/>
          </a:bodyPr>
          <a:lstStyle/>
          <a:p>
            <a:pPr algn="l"/>
            <a:r>
              <a:rPr sz="1350" b="0" i="0">
                <a:solidFill>
                  <a:srgbClr val="1E262B"/>
                </a:solidFill>
              </a:rPr>
              <a:t>One shared backend on Render: a database, a FastAPI service, an event mechanism. Every seat builds its slice on it. It is presented tomorrow.</a:t>
            </a:r>
          </a:p>
        </p:txBody>
      </p:sp>
      <p:sp>
        <p:nvSpPr>
          <p:cNvPr id="8" name="Card"/>
          <p:cNvSpPr/>
          <p:nvPr/>
        </p:nvSpPr>
        <p:spPr>
          <a:xfrm>
            <a:off x="4297679" y="1417320"/>
            <a:ext cx="3566160" cy="2377440"/>
          </a:xfrm>
          <a:prstGeom prst="roundRect">
            <a:avLst>
              <a:gd name="adj" fmla="val 3461"/>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p:cNvSpPr txBox="1"/>
          <p:nvPr/>
        </p:nvSpPr>
        <p:spPr>
          <a:xfrm>
            <a:off x="4526279" y="1581912"/>
            <a:ext cx="3108960" cy="329184"/>
          </a:xfrm>
          <a:prstGeom prst="rect">
            <a:avLst/>
          </a:prstGeom>
          <a:noFill/>
        </p:spPr>
        <p:txBody>
          <a:bodyPr wrap="square" lIns="0" rIns="0" tIns="0" bIns="0" anchor="t">
            <a:spAutoFit/>
          </a:bodyPr>
          <a:lstStyle/>
          <a:p>
            <a:pPr algn="l"/>
            <a:r>
              <a:rPr sz="1400" b="1" i="0">
                <a:solidFill>
                  <a:srgbClr val="0B6463"/>
                </a:solidFill>
              </a:rPr>
              <a:t>Later: the Aikyat engine</a:t>
            </a:r>
          </a:p>
        </p:txBody>
      </p:sp>
      <p:sp>
        <p:nvSpPr>
          <p:cNvPr id="10" name="Text"/>
          <p:cNvSpPr txBox="1"/>
          <p:nvPr/>
        </p:nvSpPr>
        <p:spPr>
          <a:xfrm>
            <a:off x="4526279" y="1947672"/>
            <a:ext cx="3108960" cy="1737360"/>
          </a:xfrm>
          <a:prstGeom prst="rect">
            <a:avLst/>
          </a:prstGeom>
          <a:noFill/>
        </p:spPr>
        <p:txBody>
          <a:bodyPr wrap="square" lIns="0" rIns="0" tIns="0" bIns="0" anchor="t">
            <a:spAutoFit/>
          </a:bodyPr>
          <a:lstStyle/>
          <a:p>
            <a:pPr algn="l"/>
            <a:r>
              <a:rPr sz="1350" b="0" i="0">
                <a:solidFill>
                  <a:srgbClr val="1E262B"/>
                </a:solidFill>
              </a:rPr>
              <a:t>Foundry's reference architecture. The same core ideas, implemented properly. The move should need very little translation of thinking.</a:t>
            </a:r>
          </a:p>
        </p:txBody>
      </p:sp>
      <p:sp>
        <p:nvSpPr>
          <p:cNvPr id="11" name="Card"/>
          <p:cNvSpPr/>
          <p:nvPr/>
        </p:nvSpPr>
        <p:spPr>
          <a:xfrm>
            <a:off x="8046719" y="1417320"/>
            <a:ext cx="3566160" cy="2377440"/>
          </a:xfrm>
          <a:prstGeom prst="roundRect">
            <a:avLst>
              <a:gd name="adj" fmla="val 3461"/>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p:cNvSpPr txBox="1"/>
          <p:nvPr/>
        </p:nvSpPr>
        <p:spPr>
          <a:xfrm>
            <a:off x="8275319" y="1581912"/>
            <a:ext cx="3108960" cy="329184"/>
          </a:xfrm>
          <a:prstGeom prst="rect">
            <a:avLst/>
          </a:prstGeom>
          <a:noFill/>
        </p:spPr>
        <p:txBody>
          <a:bodyPr wrap="square" lIns="0" rIns="0" tIns="0" bIns="0" anchor="t">
            <a:spAutoFit/>
          </a:bodyPr>
          <a:lstStyle/>
          <a:p>
            <a:pPr algn="l"/>
            <a:r>
              <a:rPr sz="1400" b="1" i="0">
                <a:solidFill>
                  <a:srgbClr val="0B6463"/>
                </a:solidFill>
              </a:rPr>
              <a:t>Today: the words</a:t>
            </a:r>
          </a:p>
        </p:txBody>
      </p:sp>
      <p:sp>
        <p:nvSpPr>
          <p:cNvPr id="13" name="Text"/>
          <p:cNvSpPr txBox="1"/>
          <p:nvPr/>
        </p:nvSpPr>
        <p:spPr>
          <a:xfrm>
            <a:off x="8275319" y="1947672"/>
            <a:ext cx="3108960" cy="1737360"/>
          </a:xfrm>
          <a:prstGeom prst="rect">
            <a:avLst/>
          </a:prstGeom>
          <a:noFill/>
        </p:spPr>
        <p:txBody>
          <a:bodyPr wrap="square" lIns="0" rIns="0" tIns="0" bIns="0" anchor="t">
            <a:spAutoFit/>
          </a:bodyPr>
          <a:lstStyle/>
          <a:p>
            <a:pPr algn="l"/>
            <a:r>
              <a:rPr sz="1350" b="0" i="0">
                <a:solidFill>
                  <a:srgbClr val="1E262B"/>
                </a:solidFill>
              </a:rPr>
              <a:t>Context, entity, action, event, reaction, approval, query, principal. One meaning each, used by every seat, in every design and every pull request.</a:t>
            </a:r>
          </a:p>
        </p:txBody>
      </p:sp>
      <p:sp>
        <p:nvSpPr>
          <p:cNvPr id="14" name="Box"/>
          <p:cNvSpPr/>
          <p:nvPr/>
        </p:nvSpPr>
        <p:spPr>
          <a:xfrm>
            <a:off x="548640" y="4069080"/>
            <a:ext cx="11091672" cy="914400"/>
          </a:xfrm>
          <a:prstGeom prst="roundRect">
            <a:avLst>
              <a:gd name="adj" fmla="val 8000"/>
            </a:avLst>
          </a:prstGeom>
          <a:solidFill>
            <a:srgbClr val="0B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p:cNvSpPr txBox="1"/>
          <p:nvPr/>
        </p:nvSpPr>
        <p:spPr>
          <a:xfrm>
            <a:off x="822960" y="4069080"/>
            <a:ext cx="10543032" cy="914400"/>
          </a:xfrm>
          <a:prstGeom prst="rect">
            <a:avLst/>
          </a:prstGeom>
          <a:noFill/>
        </p:spPr>
        <p:txBody>
          <a:bodyPr wrap="square" lIns="0" rIns="0" tIns="0" bIns="0" anchor="ctr">
            <a:spAutoFit/>
          </a:bodyPr>
          <a:lstStyle/>
          <a:p>
            <a:pPr algn="l"/>
            <a:r>
              <a:rPr sz="1800" b="1" i="0">
                <a:solidFill>
                  <a:srgbClr val="FFFFFF"/>
                </a:solidFill>
              </a:rPr>
              <a:t>If the words are right now, the move later is a change of machinery, not a change of thinking.</a:t>
            </a:r>
          </a:p>
        </p:txBody>
      </p:sp>
      <p:sp>
        <p:nvSpPr>
          <p:cNvPr id="16" name="Text"/>
          <p:cNvSpPr txBox="1"/>
          <p:nvPr/>
        </p:nvSpPr>
        <p:spPr>
          <a:xfrm>
            <a:off x="548640" y="5212080"/>
            <a:ext cx="11091672" cy="640080"/>
          </a:xfrm>
          <a:prstGeom prst="rect">
            <a:avLst/>
          </a:prstGeom>
          <a:noFill/>
        </p:spPr>
        <p:txBody>
          <a:bodyPr wrap="square" lIns="0" rIns="0" tIns="0" bIns="0" anchor="t">
            <a:spAutoFit/>
          </a:bodyPr>
          <a:lstStyle/>
          <a:p>
            <a:pPr algn="l"/>
            <a:r>
              <a:rPr sz="1300" b="0" i="0">
                <a:solidFill>
                  <a:srgbClr val="5E6A71"/>
                </a:solidFill>
              </a:rPr>
              <a:t>After this deck, each of us should be able to take one task of our own role and say: which context owns the fact, which action changes it and with what gates, which event it publishes, which reaction listens, which query serves the screen, and under whose authority each runs.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Three sources, and what each one is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WHERE THE WORDS COME FROM</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3</a:t>
            </a:r>
          </a:p>
        </p:txBody>
      </p:sp>
      <p:sp>
        <p:nvSpPr>
          <p:cNvPr id="5" name="Text"/>
          <p:cNvSpPr txBox="1"/>
          <p:nvPr/>
        </p:nvSpPr>
        <p:spPr>
          <a:xfrm>
            <a:off x="548640" y="1417320"/>
            <a:ext cx="2880360" cy="201168"/>
          </a:xfrm>
          <a:prstGeom prst="rect">
            <a:avLst/>
          </a:prstGeom>
          <a:noFill/>
        </p:spPr>
        <p:txBody>
          <a:bodyPr wrap="square" lIns="0" rIns="0" tIns="0" bIns="0" anchor="t">
            <a:spAutoFit/>
          </a:bodyPr>
          <a:lstStyle/>
          <a:p>
            <a:pPr algn="l"/>
            <a:r>
              <a:rPr sz="1000" b="1" i="0">
                <a:solidFill>
                  <a:srgbClr val="5E6A71"/>
                </a:solidFill>
              </a:rPr>
              <a:t>SOURCE</a:t>
            </a:r>
          </a:p>
        </p:txBody>
      </p:sp>
      <p:sp>
        <p:nvSpPr>
          <p:cNvPr id="6" name="Text"/>
          <p:cNvSpPr txBox="1"/>
          <p:nvPr/>
        </p:nvSpPr>
        <p:spPr>
          <a:xfrm>
            <a:off x="3566160" y="1417320"/>
            <a:ext cx="4709159" cy="201168"/>
          </a:xfrm>
          <a:prstGeom prst="rect">
            <a:avLst/>
          </a:prstGeom>
          <a:noFill/>
        </p:spPr>
        <p:txBody>
          <a:bodyPr wrap="square" lIns="0" rIns="0" tIns="0" bIns="0" anchor="t">
            <a:spAutoFit/>
          </a:bodyPr>
          <a:lstStyle/>
          <a:p>
            <a:pPr algn="l"/>
            <a:r>
              <a:rPr sz="1000" b="1" i="0">
                <a:solidFill>
                  <a:srgbClr val="5E6A71"/>
                </a:solidFill>
              </a:rPr>
              <a:t>WHAT IT GIVES US</a:t>
            </a:r>
          </a:p>
        </p:txBody>
      </p:sp>
      <p:sp>
        <p:nvSpPr>
          <p:cNvPr id="7" name="Text"/>
          <p:cNvSpPr txBox="1"/>
          <p:nvPr/>
        </p:nvSpPr>
        <p:spPr>
          <a:xfrm>
            <a:off x="8412480" y="1417320"/>
            <a:ext cx="3090672" cy="201168"/>
          </a:xfrm>
          <a:prstGeom prst="rect">
            <a:avLst/>
          </a:prstGeom>
          <a:noFill/>
        </p:spPr>
        <p:txBody>
          <a:bodyPr wrap="square" lIns="0" rIns="0" tIns="0" bIns="0" anchor="t">
            <a:spAutoFit/>
          </a:bodyPr>
          <a:lstStyle/>
          <a:p>
            <a:pPr algn="l"/>
            <a:r>
              <a:rPr sz="1000" b="1" i="0">
                <a:solidFill>
                  <a:srgbClr val="5E6A71"/>
                </a:solidFill>
              </a:rPr>
              <a:t>STATUS</a:t>
            </a:r>
          </a:p>
        </p:txBody>
      </p:sp>
      <p:cxnSp>
        <p:nvCxnSpPr>
          <p:cNvPr id="8" name="Connector 7"/>
          <p:cNvCxnSpPr/>
          <p:nvPr/>
        </p:nvCxnSpPr>
        <p:spPr>
          <a:xfrm>
            <a:off x="548640" y="1691640"/>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1746504"/>
            <a:ext cx="2880360" cy="795528"/>
          </a:xfrm>
          <a:prstGeom prst="rect">
            <a:avLst/>
          </a:prstGeom>
          <a:noFill/>
        </p:spPr>
        <p:txBody>
          <a:bodyPr wrap="square" lIns="0" rIns="0" tIns="0" bIns="0" anchor="ctr">
            <a:spAutoFit/>
          </a:bodyPr>
          <a:lstStyle/>
          <a:p>
            <a:pPr algn="l"/>
            <a:r>
              <a:rPr sz="1250" b="1" i="0">
                <a:solidFill>
                  <a:srgbClr val="1E262B"/>
                </a:solidFill>
              </a:rPr>
              <a:t>Foundry architecture records</a:t>
            </a:r>
          </a:p>
        </p:txBody>
      </p:sp>
      <p:sp>
        <p:nvSpPr>
          <p:cNvPr id="10" name="Text"/>
          <p:cNvSpPr txBox="1"/>
          <p:nvPr/>
        </p:nvSpPr>
        <p:spPr>
          <a:xfrm>
            <a:off x="3566160" y="1746504"/>
            <a:ext cx="4709159" cy="795528"/>
          </a:xfrm>
          <a:prstGeom prst="rect">
            <a:avLst/>
          </a:prstGeom>
          <a:noFill/>
        </p:spPr>
        <p:txBody>
          <a:bodyPr wrap="square" lIns="0" rIns="0" tIns="0" bIns="0" anchor="ctr">
            <a:spAutoFit/>
          </a:bodyPr>
          <a:lstStyle/>
          <a:p>
            <a:pPr algn="l"/>
            <a:r>
              <a:rPr sz="1250" b="0" i="0">
                <a:solidFill>
                  <a:srgbClr val="1E262B"/>
                </a:solidFill>
              </a:rPr>
              <a:t>What a context, entity, action, event, reaction, approval, query and principal are, and the rules between them</a:t>
            </a:r>
          </a:p>
        </p:txBody>
      </p:sp>
      <p:sp>
        <p:nvSpPr>
          <p:cNvPr id="11" name="Text"/>
          <p:cNvSpPr txBox="1"/>
          <p:nvPr/>
        </p:nvSpPr>
        <p:spPr>
          <a:xfrm>
            <a:off x="8412480" y="1746504"/>
            <a:ext cx="3090672" cy="795528"/>
          </a:xfrm>
          <a:prstGeom prst="rect">
            <a:avLst/>
          </a:prstGeom>
          <a:noFill/>
        </p:spPr>
        <p:txBody>
          <a:bodyPr wrap="square" lIns="0" rIns="0" tIns="0" bIns="0" anchor="ctr">
            <a:spAutoFit/>
          </a:bodyPr>
          <a:lstStyle/>
          <a:p>
            <a:pPr algn="l"/>
            <a:r>
              <a:rPr sz="1250" b="0" i="0">
                <a:solidFill>
                  <a:srgbClr val="1E262B"/>
                </a:solidFill>
              </a:rPr>
              <a:t>Approved for Foundry. Not adopted by this team as law</a:t>
            </a:r>
          </a:p>
        </p:txBody>
      </p:sp>
      <p:cxnSp>
        <p:nvCxnSpPr>
          <p:cNvPr id="12" name="Connector 11"/>
          <p:cNvCxnSpPr/>
          <p:nvPr/>
        </p:nvCxnSpPr>
        <p:spPr>
          <a:xfrm>
            <a:off x="548640" y="2560320"/>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3" name="Text"/>
          <p:cNvSpPr txBox="1"/>
          <p:nvPr/>
        </p:nvSpPr>
        <p:spPr>
          <a:xfrm>
            <a:off x="548640" y="2615184"/>
            <a:ext cx="2880360" cy="795528"/>
          </a:xfrm>
          <a:prstGeom prst="rect">
            <a:avLst/>
          </a:prstGeom>
          <a:noFill/>
        </p:spPr>
        <p:txBody>
          <a:bodyPr wrap="square" lIns="0" rIns="0" tIns="0" bIns="0" anchor="ctr">
            <a:spAutoFit/>
          </a:bodyPr>
          <a:lstStyle/>
          <a:p>
            <a:pPr algn="l"/>
            <a:r>
              <a:rPr sz="1250" b="1" i="0">
                <a:solidFill>
                  <a:srgbClr val="1E262B"/>
                </a:solidFill>
              </a:rPr>
              <a:t>POC engineering baseline</a:t>
            </a:r>
          </a:p>
        </p:txBody>
      </p:sp>
      <p:sp>
        <p:nvSpPr>
          <p:cNvPr id="14" name="Text"/>
          <p:cNvSpPr txBox="1"/>
          <p:nvPr/>
        </p:nvSpPr>
        <p:spPr>
          <a:xfrm>
            <a:off x="3566160" y="2615184"/>
            <a:ext cx="4709159" cy="795528"/>
          </a:xfrm>
          <a:prstGeom prst="rect">
            <a:avLst/>
          </a:prstGeom>
          <a:noFill/>
        </p:spPr>
        <p:txBody>
          <a:bodyPr wrap="square" lIns="0" rIns="0" tIns="0" bIns="0" anchor="ctr">
            <a:spAutoFit/>
          </a:bodyPr>
          <a:lstStyle/>
          <a:p>
            <a:pPr algn="l"/>
            <a:r>
              <a:rPr sz="1250" b="0" i="0">
                <a:solidFill>
                  <a:srgbClr val="1E262B"/>
                </a:solidFill>
              </a:rPr>
              <a:t>How the shared engine is built: FastAPI, one PostgreSQL, an event outbox, a dispatcher, capabilities that own their contracts</a:t>
            </a:r>
          </a:p>
        </p:txBody>
      </p:sp>
      <p:sp>
        <p:nvSpPr>
          <p:cNvPr id="15" name="Text"/>
          <p:cNvSpPr txBox="1"/>
          <p:nvPr/>
        </p:nvSpPr>
        <p:spPr>
          <a:xfrm>
            <a:off x="8412480" y="2615184"/>
            <a:ext cx="3090672" cy="795528"/>
          </a:xfrm>
          <a:prstGeom prst="rect">
            <a:avLst/>
          </a:prstGeom>
          <a:noFill/>
        </p:spPr>
        <p:txBody>
          <a:bodyPr wrap="square" lIns="0" rIns="0" tIns="0" bIns="0" anchor="ctr">
            <a:spAutoFit/>
          </a:bodyPr>
          <a:lstStyle/>
          <a:p>
            <a:pPr algn="l"/>
            <a:r>
              <a:rPr sz="1250" b="0" i="0">
                <a:solidFill>
                  <a:srgbClr val="1E262B"/>
                </a:solidFill>
              </a:rPr>
              <a:t>The team's own baseline</a:t>
            </a:r>
          </a:p>
        </p:txBody>
      </p:sp>
      <p:cxnSp>
        <p:nvCxnSpPr>
          <p:cNvPr id="16" name="Connector 15"/>
          <p:cNvCxnSpPr/>
          <p:nvPr/>
        </p:nvCxnSpPr>
        <p:spPr>
          <a:xfrm>
            <a:off x="548640" y="3429000"/>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7" name="Text"/>
          <p:cNvSpPr txBox="1"/>
          <p:nvPr/>
        </p:nvSpPr>
        <p:spPr>
          <a:xfrm>
            <a:off x="548640" y="3483864"/>
            <a:ext cx="2880360" cy="795528"/>
          </a:xfrm>
          <a:prstGeom prst="rect">
            <a:avLst/>
          </a:prstGeom>
          <a:noFill/>
        </p:spPr>
        <p:txBody>
          <a:bodyPr wrap="square" lIns="0" rIns="0" tIns="0" bIns="0" anchor="ctr">
            <a:spAutoFit/>
          </a:bodyPr>
          <a:lstStyle/>
          <a:p>
            <a:pPr algn="l"/>
            <a:r>
              <a:rPr sz="1250" b="1" i="0">
                <a:solidFill>
                  <a:srgbClr val="1E262B"/>
                </a:solidFill>
              </a:rPr>
              <a:t>Role app model, stage 6</a:t>
            </a:r>
          </a:p>
        </p:txBody>
      </p:sp>
      <p:sp>
        <p:nvSpPr>
          <p:cNvPr id="18" name="Text"/>
          <p:cNvSpPr txBox="1"/>
          <p:nvPr/>
        </p:nvSpPr>
        <p:spPr>
          <a:xfrm>
            <a:off x="3566160" y="3483864"/>
            <a:ext cx="4709159" cy="795528"/>
          </a:xfrm>
          <a:prstGeom prst="rect">
            <a:avLst/>
          </a:prstGeom>
          <a:noFill/>
        </p:spPr>
        <p:txBody>
          <a:bodyPr wrap="square" lIns="0" rIns="0" tIns="0" bIns="0" anchor="ctr">
            <a:spAutoFit/>
          </a:bodyPr>
          <a:lstStyle/>
          <a:p>
            <a:pPr algn="l"/>
            <a:r>
              <a:rPr sz="1250" b="0" i="0">
                <a:solidFill>
                  <a:srgbClr val="1E262B"/>
                </a:solidFill>
              </a:rPr>
              <a:t>What a role app asks of the engine: query, action, event, notice, parameter; the holder worked out from state</a:t>
            </a:r>
          </a:p>
        </p:txBody>
      </p:sp>
      <p:sp>
        <p:nvSpPr>
          <p:cNvPr id="19" name="Text"/>
          <p:cNvSpPr txBox="1"/>
          <p:nvPr/>
        </p:nvSpPr>
        <p:spPr>
          <a:xfrm>
            <a:off x="8412480" y="3483864"/>
            <a:ext cx="3090672" cy="795528"/>
          </a:xfrm>
          <a:prstGeom prst="rect">
            <a:avLst/>
          </a:prstGeom>
          <a:noFill/>
        </p:spPr>
        <p:txBody>
          <a:bodyPr wrap="square" lIns="0" rIns="0" tIns="0" bIns="0" anchor="ctr">
            <a:spAutoFit/>
          </a:bodyPr>
          <a:lstStyle/>
          <a:p>
            <a:pPr algn="l"/>
            <a:r>
              <a:rPr sz="1250" b="0" i="0">
                <a:solidFill>
                  <a:srgbClr val="1E262B"/>
                </a:solidFill>
              </a:rPr>
              <a:t>A proposal from one seat</a:t>
            </a:r>
          </a:p>
        </p:txBody>
      </p:sp>
      <p:cxnSp>
        <p:nvCxnSpPr>
          <p:cNvPr id="20" name="Connector 19"/>
          <p:cNvCxnSpPr/>
          <p:nvPr/>
        </p:nvCxnSpPr>
        <p:spPr>
          <a:xfrm>
            <a:off x="548640" y="4297680"/>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1" name="Finding"/>
          <p:cNvSpPr/>
          <p:nvPr/>
        </p:nvSpPr>
        <p:spPr>
          <a:xfrm>
            <a:off x="548640" y="4572000"/>
            <a:ext cx="11091672" cy="54864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822960" y="4572000"/>
            <a:ext cx="10543032" cy="548640"/>
          </a:xfrm>
          <a:prstGeom prst="rect">
            <a:avLst/>
          </a:prstGeom>
          <a:noFill/>
        </p:spPr>
        <p:txBody>
          <a:bodyPr wrap="square" lIns="0" rIns="0" tIns="0" bIns="0" anchor="ctr">
            <a:spAutoFit/>
          </a:bodyPr>
          <a:lstStyle/>
          <a:p>
            <a:pPr algn="l"/>
            <a:r>
              <a:rPr sz="1350" b="1" i="0">
                <a:solidFill>
                  <a:srgbClr val="1E262B"/>
                </a:solidFill>
              </a:rPr>
              <a:t>Where Foundry and the POC differ,  </a:t>
            </a:r>
            <a:r>
              <a:rPr sz="1350" b="0" i="0">
                <a:solidFill>
                  <a:srgbClr val="1E262B"/>
                </a:solidFill>
              </a:rPr>
              <a:t>this deck shows both and settles nothing. The differences are collected near the end.</a:t>
            </a:r>
          </a:p>
        </p:txBody>
      </p:sp>
      <p:sp>
        <p:nvSpPr>
          <p:cNvPr id="23" name="Text"/>
          <p:cNvSpPr txBox="1"/>
          <p:nvPr/>
        </p:nvSpPr>
        <p:spPr>
          <a:xfrm>
            <a:off x="548640" y="5349240"/>
            <a:ext cx="11091672" cy="548640"/>
          </a:xfrm>
          <a:prstGeom prst="rect">
            <a:avLst/>
          </a:prstGeom>
          <a:noFill/>
        </p:spPr>
        <p:txBody>
          <a:bodyPr wrap="square" lIns="0" rIns="0" tIns="0" bIns="0" anchor="t">
            <a:spAutoFit/>
          </a:bodyPr>
          <a:lstStyle/>
          <a:p>
            <a:pPr algn="l"/>
            <a:r>
              <a:rPr sz="1100" b="0" i="0">
                <a:solidFill>
                  <a:srgbClr val="5E6A71"/>
                </a:solidFill>
              </a:rPr>
              <a:t>Foundry: aikyat-foundry, architecture/ra-*.md and DECISIONS.md on main.  POC: aikyat-business-engine-poc, docs/engineering-coordination-baseline.md.  Role app: research/role-app-model/the-model.md, stage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One statement carries everything</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PHILOSOPHY</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4</a:t>
            </a:r>
          </a:p>
        </p:txBody>
      </p:sp>
      <p:sp>
        <p:nvSpPr>
          <p:cNvPr id="5" name="Box"/>
          <p:cNvSpPr/>
          <p:nvPr/>
        </p:nvSpPr>
        <p:spPr>
          <a:xfrm>
            <a:off x="548640" y="1463040"/>
            <a:ext cx="11091672" cy="1463040"/>
          </a:xfrm>
          <a:prstGeom prst="roundRect">
            <a:avLst>
              <a:gd name="adj" fmla="val 5624"/>
            </a:avLst>
          </a:prstGeom>
          <a:solidFill>
            <a:srgbClr val="0B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p:cNvSpPr txBox="1"/>
          <p:nvPr/>
        </p:nvSpPr>
        <p:spPr>
          <a:xfrm>
            <a:off x="914400" y="1463040"/>
            <a:ext cx="10360152" cy="1463040"/>
          </a:xfrm>
          <a:prstGeom prst="rect">
            <a:avLst/>
          </a:prstGeom>
          <a:noFill/>
        </p:spPr>
        <p:txBody>
          <a:bodyPr wrap="square" lIns="0" rIns="0" tIns="0" bIns="0" anchor="ctr">
            <a:spAutoFit/>
          </a:bodyPr>
          <a:lstStyle/>
          <a:p>
            <a:pPr algn="l"/>
            <a:r>
              <a:rPr sz="2400" b="1" i="0">
                <a:solidFill>
                  <a:srgbClr val="FFFFFF"/>
                </a:solidFill>
              </a:rPr>
              <a:t>Every fact has one owner.  A fact changes only through an action.  Everything else listens, or reads.</a:t>
            </a:r>
          </a:p>
        </p:txBody>
      </p:sp>
      <p:sp>
        <p:nvSpPr>
          <p:cNvPr id="7" name="Card"/>
          <p:cNvSpPr/>
          <p:nvPr/>
        </p:nvSpPr>
        <p:spPr>
          <a:xfrm>
            <a:off x="548640" y="3200400"/>
            <a:ext cx="3566160" cy="2148840"/>
          </a:xfrm>
          <a:prstGeom prst="roundRect">
            <a:avLst>
              <a:gd name="adj" fmla="val 3829"/>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p:cNvSpPr txBox="1"/>
          <p:nvPr/>
        </p:nvSpPr>
        <p:spPr>
          <a:xfrm>
            <a:off x="777240" y="3364992"/>
            <a:ext cx="3108960" cy="329184"/>
          </a:xfrm>
          <a:prstGeom prst="rect">
            <a:avLst/>
          </a:prstGeom>
          <a:noFill/>
        </p:spPr>
        <p:txBody>
          <a:bodyPr wrap="square" lIns="0" rIns="0" tIns="0" bIns="0" anchor="t">
            <a:spAutoFit/>
          </a:bodyPr>
          <a:lstStyle/>
          <a:p>
            <a:pPr algn="l"/>
            <a:r>
              <a:rPr sz="1400" b="1" i="0">
                <a:solidFill>
                  <a:srgbClr val="0B6463"/>
                </a:solidFill>
              </a:rPr>
              <a:t>One owner</a:t>
            </a:r>
          </a:p>
        </p:txBody>
      </p:sp>
      <p:sp>
        <p:nvSpPr>
          <p:cNvPr id="9" name="Text"/>
          <p:cNvSpPr txBox="1"/>
          <p:nvPr/>
        </p:nvSpPr>
        <p:spPr>
          <a:xfrm>
            <a:off x="777240" y="3730752"/>
            <a:ext cx="3108960" cy="1508760"/>
          </a:xfrm>
          <a:prstGeom prst="rect">
            <a:avLst/>
          </a:prstGeom>
          <a:noFill/>
        </p:spPr>
        <p:txBody>
          <a:bodyPr wrap="square" lIns="0" rIns="0" tIns="0" bIns="0" anchor="t">
            <a:spAutoFit/>
          </a:bodyPr>
          <a:lstStyle/>
          <a:p>
            <a:pPr algn="l"/>
            <a:r>
              <a:rPr sz="1350" b="0" i="0">
                <a:solidFill>
                  <a:srgbClr val="1E262B"/>
                </a:solidFill>
              </a:rPr>
              <a:t>The owner is a business context. It holds the fact, the rules about it, and the only write path to it.</a:t>
            </a:r>
          </a:p>
        </p:txBody>
      </p:sp>
      <p:sp>
        <p:nvSpPr>
          <p:cNvPr id="10" name="Card"/>
          <p:cNvSpPr/>
          <p:nvPr/>
        </p:nvSpPr>
        <p:spPr>
          <a:xfrm>
            <a:off x="4297679" y="3200400"/>
            <a:ext cx="3566160" cy="2148840"/>
          </a:xfrm>
          <a:prstGeom prst="roundRect">
            <a:avLst>
              <a:gd name="adj" fmla="val 3829"/>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p:cNvSpPr txBox="1"/>
          <p:nvPr/>
        </p:nvSpPr>
        <p:spPr>
          <a:xfrm>
            <a:off x="4526279" y="3364992"/>
            <a:ext cx="3108960" cy="329184"/>
          </a:xfrm>
          <a:prstGeom prst="rect">
            <a:avLst/>
          </a:prstGeom>
          <a:noFill/>
        </p:spPr>
        <p:txBody>
          <a:bodyPr wrap="square" lIns="0" rIns="0" tIns="0" bIns="0" anchor="t">
            <a:spAutoFit/>
          </a:bodyPr>
          <a:lstStyle/>
          <a:p>
            <a:pPr algn="l"/>
            <a:r>
              <a:rPr sz="1400" b="1" i="0">
                <a:solidFill>
                  <a:srgbClr val="0B6463"/>
                </a:solidFill>
              </a:rPr>
              <a:t>Only through an action</a:t>
            </a:r>
          </a:p>
        </p:txBody>
      </p:sp>
      <p:sp>
        <p:nvSpPr>
          <p:cNvPr id="12" name="Text"/>
          <p:cNvSpPr txBox="1"/>
          <p:nvPr/>
        </p:nvSpPr>
        <p:spPr>
          <a:xfrm>
            <a:off x="4526279" y="3730752"/>
            <a:ext cx="3108960" cy="1508760"/>
          </a:xfrm>
          <a:prstGeom prst="rect">
            <a:avLst/>
          </a:prstGeom>
          <a:noFill/>
        </p:spPr>
        <p:txBody>
          <a:bodyPr wrap="square" lIns="0" rIns="0" tIns="0" bIns="0" anchor="t">
            <a:spAutoFit/>
          </a:bodyPr>
          <a:lstStyle/>
          <a:p>
            <a:pPr algn="l"/>
            <a:r>
              <a:rPr sz="1350" b="0" i="0">
                <a:solidFill>
                  <a:srgbClr val="1E262B"/>
                </a:solidFill>
              </a:rPr>
              <a:t>An action is named, owned, and declares its checks. A person, a screen, a reaction and an AI all go through the same action.</a:t>
            </a:r>
          </a:p>
        </p:txBody>
      </p:sp>
      <p:sp>
        <p:nvSpPr>
          <p:cNvPr id="13" name="Card"/>
          <p:cNvSpPr/>
          <p:nvPr/>
        </p:nvSpPr>
        <p:spPr>
          <a:xfrm>
            <a:off x="8046719" y="3200400"/>
            <a:ext cx="3566160" cy="2148840"/>
          </a:xfrm>
          <a:prstGeom prst="roundRect">
            <a:avLst>
              <a:gd name="adj" fmla="val 3829"/>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p:cNvSpPr txBox="1"/>
          <p:nvPr/>
        </p:nvSpPr>
        <p:spPr>
          <a:xfrm>
            <a:off x="8275319" y="3364992"/>
            <a:ext cx="3108960" cy="329184"/>
          </a:xfrm>
          <a:prstGeom prst="rect">
            <a:avLst/>
          </a:prstGeom>
          <a:noFill/>
        </p:spPr>
        <p:txBody>
          <a:bodyPr wrap="square" lIns="0" rIns="0" tIns="0" bIns="0" anchor="t">
            <a:spAutoFit/>
          </a:bodyPr>
          <a:lstStyle/>
          <a:p>
            <a:pPr algn="l"/>
            <a:r>
              <a:rPr sz="1400" b="1" i="0">
                <a:solidFill>
                  <a:srgbClr val="0B6463"/>
                </a:solidFill>
              </a:rPr>
              <a:t>Listens, or reads</a:t>
            </a:r>
          </a:p>
        </p:txBody>
      </p:sp>
      <p:sp>
        <p:nvSpPr>
          <p:cNvPr id="15" name="Text"/>
          <p:cNvSpPr txBox="1"/>
          <p:nvPr/>
        </p:nvSpPr>
        <p:spPr>
          <a:xfrm>
            <a:off x="8275319" y="3730752"/>
            <a:ext cx="3108960" cy="1508760"/>
          </a:xfrm>
          <a:prstGeom prst="rect">
            <a:avLst/>
          </a:prstGeom>
          <a:noFill/>
        </p:spPr>
        <p:txBody>
          <a:bodyPr wrap="square" lIns="0" rIns="0" tIns="0" bIns="0" anchor="t">
            <a:spAutoFit/>
          </a:bodyPr>
          <a:lstStyle/>
          <a:p>
            <a:pPr algn="l"/>
            <a:r>
              <a:rPr sz="1350" b="0" i="0">
                <a:solidFill>
                  <a:srgbClr val="1E262B"/>
                </a:solidFill>
              </a:rPr>
              <a:t>A reaction listens to an event and calls an action of its own. A query reads and changes nothing. Neither gets authority from what it heard or saw.</a:t>
            </a:r>
          </a:p>
        </p:txBody>
      </p:sp>
      <p:sp>
        <p:nvSpPr>
          <p:cNvPr id="16" name="Text"/>
          <p:cNvSpPr txBox="1"/>
          <p:nvPr/>
        </p:nvSpPr>
        <p:spPr>
          <a:xfrm>
            <a:off x="548640" y="5577840"/>
            <a:ext cx="11091672" cy="457200"/>
          </a:xfrm>
          <a:prstGeom prst="rect">
            <a:avLst/>
          </a:prstGeom>
          <a:noFill/>
        </p:spPr>
        <p:txBody>
          <a:bodyPr wrap="square" lIns="0" rIns="0" tIns="0" bIns="0" anchor="t">
            <a:spAutoFit/>
          </a:bodyPr>
          <a:lstStyle/>
          <a:p>
            <a:pPr algn="l"/>
            <a:r>
              <a:rPr sz="1200" b="0" i="0">
                <a:solidFill>
                  <a:srgbClr val="5E6A71"/>
                </a:solidFill>
              </a:rPr>
              <a:t>Foundry's shortest form: "Facts change only through named Semantic Actions with declared deterministic gates. There are no side doors."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One seat's service spine: three tasks, three contexts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EXAMPLE</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5</a:t>
            </a:r>
          </a:p>
        </p:txBody>
      </p:sp>
      <p:sp>
        <p:nvSpPr>
          <p:cNvPr id="5" name="Box"/>
          <p:cNvSpPr/>
          <p:nvPr/>
        </p:nvSpPr>
        <p:spPr>
          <a:xfrm>
            <a:off x="548640" y="1417320"/>
            <a:ext cx="3566160" cy="3383280"/>
          </a:xfrm>
          <a:prstGeom prst="roundRect">
            <a:avLst>
              <a:gd name="adj" fmla="val 2432"/>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ip"/>
          <p:cNvSpPr/>
          <p:nvPr/>
        </p:nvSpPr>
        <p:spPr>
          <a:xfrm>
            <a:off x="777240" y="1600200"/>
            <a:ext cx="548640"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hip"/>
          <p:cNvSpPr txBox="1"/>
          <p:nvPr/>
        </p:nvSpPr>
        <p:spPr>
          <a:xfrm>
            <a:off x="777240" y="1600200"/>
            <a:ext cx="548640" cy="274320"/>
          </a:xfrm>
          <a:prstGeom prst="rect">
            <a:avLst/>
          </a:prstGeom>
          <a:noFill/>
        </p:spPr>
        <p:txBody>
          <a:bodyPr wrap="square" lIns="0" rIns="0" tIns="0" bIns="0" anchor="ctr">
            <a:spAutoFit/>
          </a:bodyPr>
          <a:lstStyle/>
          <a:p>
            <a:pPr algn="ctr"/>
            <a:r>
              <a:rPr sz="1100" b="1" i="0">
                <a:solidFill>
                  <a:srgbClr val="FFFFFF"/>
                </a:solidFill>
              </a:rPr>
              <a:t>T1</a:t>
            </a:r>
          </a:p>
        </p:txBody>
      </p:sp>
      <p:sp>
        <p:nvSpPr>
          <p:cNvPr id="8" name="Text"/>
          <p:cNvSpPr txBox="1"/>
          <p:nvPr/>
        </p:nvSpPr>
        <p:spPr>
          <a:xfrm>
            <a:off x="1463040" y="1536192"/>
            <a:ext cx="2514600" cy="548640"/>
          </a:xfrm>
          <a:prstGeom prst="rect">
            <a:avLst/>
          </a:prstGeom>
          <a:noFill/>
        </p:spPr>
        <p:txBody>
          <a:bodyPr wrap="square" lIns="0" rIns="0" tIns="0" bIns="0" anchor="ctr">
            <a:spAutoFit/>
          </a:bodyPr>
          <a:lstStyle/>
          <a:p>
            <a:pPr algn="l"/>
            <a:r>
              <a:rPr sz="1300" b="1" i="0">
                <a:solidFill>
                  <a:srgbClr val="0B4A4A"/>
                </a:solidFill>
              </a:rPr>
              <a:t>Raise a Works Order</a:t>
            </a:r>
          </a:p>
        </p:txBody>
      </p:sp>
      <p:sp>
        <p:nvSpPr>
          <p:cNvPr id="9" name="Text"/>
          <p:cNvSpPr txBox="1"/>
          <p:nvPr/>
        </p:nvSpPr>
        <p:spPr>
          <a:xfrm>
            <a:off x="777240" y="2176272"/>
            <a:ext cx="3108960" cy="201168"/>
          </a:xfrm>
          <a:prstGeom prst="rect">
            <a:avLst/>
          </a:prstGeom>
          <a:noFill/>
        </p:spPr>
        <p:txBody>
          <a:bodyPr wrap="square" lIns="0" rIns="0" tIns="0" bIns="0" anchor="t">
            <a:spAutoFit/>
          </a:bodyPr>
          <a:lstStyle/>
          <a:p>
            <a:pPr algn="l"/>
            <a:r>
              <a:rPr sz="950" b="1" i="0">
                <a:solidFill>
                  <a:srgbClr val="5E6A71"/>
                </a:solidFill>
              </a:rPr>
              <a:t>STARTS WHEN</a:t>
            </a:r>
          </a:p>
        </p:txBody>
      </p:sp>
      <p:sp>
        <p:nvSpPr>
          <p:cNvPr id="10" name="Text"/>
          <p:cNvSpPr txBox="1"/>
          <p:nvPr/>
        </p:nvSpPr>
        <p:spPr>
          <a:xfrm>
            <a:off x="777240" y="2404872"/>
            <a:ext cx="3108960" cy="640080"/>
          </a:xfrm>
          <a:prstGeom prst="rect">
            <a:avLst/>
          </a:prstGeom>
          <a:noFill/>
        </p:spPr>
        <p:txBody>
          <a:bodyPr wrap="square" lIns="0" rIns="0" tIns="0" bIns="0" anchor="t">
            <a:spAutoFit/>
          </a:bodyPr>
          <a:lstStyle/>
          <a:p>
            <a:pPr algn="l"/>
            <a:r>
              <a:rPr sz="1200" b="0" i="0">
                <a:solidFill>
                  <a:srgbClr val="1E262B"/>
                </a:solidFill>
              </a:rPr>
              <a:t>a department asks for a service, a contract job, job work or professional work</a:t>
            </a:r>
          </a:p>
        </p:txBody>
      </p:sp>
      <p:sp>
        <p:nvSpPr>
          <p:cNvPr id="11" name="Text"/>
          <p:cNvSpPr txBox="1"/>
          <p:nvPr/>
        </p:nvSpPr>
        <p:spPr>
          <a:xfrm>
            <a:off x="777240" y="3026664"/>
            <a:ext cx="3108960" cy="201168"/>
          </a:xfrm>
          <a:prstGeom prst="rect">
            <a:avLst/>
          </a:prstGeom>
          <a:noFill/>
        </p:spPr>
        <p:txBody>
          <a:bodyPr wrap="square" lIns="0" rIns="0" tIns="0" bIns="0" anchor="t">
            <a:spAutoFit/>
          </a:bodyPr>
          <a:lstStyle/>
          <a:p>
            <a:pPr algn="l"/>
            <a:r>
              <a:rPr sz="950" b="1" i="0">
                <a:solidFill>
                  <a:srgbClr val="5E6A71"/>
                </a:solidFill>
              </a:rPr>
              <a:t>DONE WHEN</a:t>
            </a:r>
          </a:p>
        </p:txBody>
      </p:sp>
      <p:sp>
        <p:nvSpPr>
          <p:cNvPr id="12" name="Text"/>
          <p:cNvSpPr txBox="1"/>
          <p:nvPr/>
        </p:nvSpPr>
        <p:spPr>
          <a:xfrm>
            <a:off x="777240" y="3255264"/>
            <a:ext cx="3108960" cy="640080"/>
          </a:xfrm>
          <a:prstGeom prst="rect">
            <a:avLst/>
          </a:prstGeom>
          <a:noFill/>
        </p:spPr>
        <p:txBody>
          <a:bodyPr wrap="square" lIns="0" rIns="0" tIns="0" bIns="0" anchor="t">
            <a:spAutoFit/>
          </a:bodyPr>
          <a:lstStyle/>
          <a:p>
            <a:pPr algn="l"/>
            <a:r>
              <a:rPr sz="1200" b="0" i="0">
                <a:solidFill>
                  <a:srgbClr val="1E262B"/>
                </a:solidFill>
              </a:rPr>
              <a:t>the Works Order is submitted for approval</a:t>
            </a:r>
          </a:p>
        </p:txBody>
      </p:sp>
      <p:sp>
        <p:nvSpPr>
          <p:cNvPr id="13" name="Text"/>
          <p:cNvSpPr txBox="1"/>
          <p:nvPr/>
        </p:nvSpPr>
        <p:spPr>
          <a:xfrm>
            <a:off x="777240" y="3877056"/>
            <a:ext cx="3108960" cy="201168"/>
          </a:xfrm>
          <a:prstGeom prst="rect">
            <a:avLst/>
          </a:prstGeom>
          <a:noFill/>
        </p:spPr>
        <p:txBody>
          <a:bodyPr wrap="square" lIns="0" rIns="0" tIns="0" bIns="0" anchor="t">
            <a:spAutoFit/>
          </a:bodyPr>
          <a:lstStyle/>
          <a:p>
            <a:pPr algn="l"/>
            <a:r>
              <a:rPr sz="950" b="1" i="0">
                <a:solidFill>
                  <a:srgbClr val="5E6A71"/>
                </a:solidFill>
              </a:rPr>
              <a:t>HANDS TO</a:t>
            </a:r>
          </a:p>
        </p:txBody>
      </p:sp>
      <p:sp>
        <p:nvSpPr>
          <p:cNvPr id="14" name="Text"/>
          <p:cNvSpPr txBox="1"/>
          <p:nvPr/>
        </p:nvSpPr>
        <p:spPr>
          <a:xfrm>
            <a:off x="777240" y="4105656"/>
            <a:ext cx="3108960" cy="640080"/>
          </a:xfrm>
          <a:prstGeom prst="rect">
            <a:avLst/>
          </a:prstGeom>
          <a:noFill/>
        </p:spPr>
        <p:txBody>
          <a:bodyPr wrap="square" lIns="0" rIns="0" tIns="0" bIns="0" anchor="t">
            <a:spAutoFit/>
          </a:bodyPr>
          <a:lstStyle/>
          <a:p>
            <a:pPr algn="l"/>
            <a:r>
              <a:rPr sz="1200" b="0" i="0">
                <a:solidFill>
                  <a:srgbClr val="1E262B"/>
                </a:solidFill>
              </a:rPr>
              <a:t>the Procurement Manager, who approves it commercially</a:t>
            </a:r>
          </a:p>
        </p:txBody>
      </p:sp>
      <p:sp>
        <p:nvSpPr>
          <p:cNvPr id="15" name="Box"/>
          <p:cNvSpPr/>
          <p:nvPr/>
        </p:nvSpPr>
        <p:spPr>
          <a:xfrm>
            <a:off x="4297679" y="1417320"/>
            <a:ext cx="3566160" cy="3383280"/>
          </a:xfrm>
          <a:prstGeom prst="roundRect">
            <a:avLst>
              <a:gd name="adj" fmla="val 2432"/>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hip"/>
          <p:cNvSpPr/>
          <p:nvPr/>
        </p:nvSpPr>
        <p:spPr>
          <a:xfrm>
            <a:off x="4526279" y="1600200"/>
            <a:ext cx="548640"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hip"/>
          <p:cNvSpPr txBox="1"/>
          <p:nvPr/>
        </p:nvSpPr>
        <p:spPr>
          <a:xfrm>
            <a:off x="4526279" y="1600200"/>
            <a:ext cx="548640" cy="274320"/>
          </a:xfrm>
          <a:prstGeom prst="rect">
            <a:avLst/>
          </a:prstGeom>
          <a:noFill/>
        </p:spPr>
        <p:txBody>
          <a:bodyPr wrap="square" lIns="0" rIns="0" tIns="0" bIns="0" anchor="ctr">
            <a:spAutoFit/>
          </a:bodyPr>
          <a:lstStyle/>
          <a:p>
            <a:pPr algn="ctr"/>
            <a:r>
              <a:rPr sz="1100" b="1" i="0">
                <a:solidFill>
                  <a:srgbClr val="FFFFFF"/>
                </a:solidFill>
              </a:rPr>
              <a:t>T4</a:t>
            </a:r>
          </a:p>
        </p:txBody>
      </p:sp>
      <p:sp>
        <p:nvSpPr>
          <p:cNvPr id="18" name="Text"/>
          <p:cNvSpPr txBox="1"/>
          <p:nvPr/>
        </p:nvSpPr>
        <p:spPr>
          <a:xfrm>
            <a:off x="5212079" y="1536192"/>
            <a:ext cx="2514600" cy="548640"/>
          </a:xfrm>
          <a:prstGeom prst="rect">
            <a:avLst/>
          </a:prstGeom>
          <a:noFill/>
        </p:spPr>
        <p:txBody>
          <a:bodyPr wrap="square" lIns="0" rIns="0" tIns="0" bIns="0" anchor="ctr">
            <a:spAutoFit/>
          </a:bodyPr>
          <a:lstStyle/>
          <a:p>
            <a:pPr algn="l"/>
            <a:r>
              <a:rPr sz="1300" b="1" i="0">
                <a:solidFill>
                  <a:srgbClr val="0B4A4A"/>
                </a:solidFill>
              </a:rPr>
              <a:t>Obtain the completion confirmation</a:t>
            </a:r>
          </a:p>
        </p:txBody>
      </p:sp>
      <p:sp>
        <p:nvSpPr>
          <p:cNvPr id="19" name="Text"/>
          <p:cNvSpPr txBox="1"/>
          <p:nvPr/>
        </p:nvSpPr>
        <p:spPr>
          <a:xfrm>
            <a:off x="4526279" y="2176272"/>
            <a:ext cx="3108960" cy="201168"/>
          </a:xfrm>
          <a:prstGeom prst="rect">
            <a:avLst/>
          </a:prstGeom>
          <a:noFill/>
        </p:spPr>
        <p:txBody>
          <a:bodyPr wrap="square" lIns="0" rIns="0" tIns="0" bIns="0" anchor="t">
            <a:spAutoFit/>
          </a:bodyPr>
          <a:lstStyle/>
          <a:p>
            <a:pPr algn="l"/>
            <a:r>
              <a:rPr sz="950" b="1" i="0">
                <a:solidFill>
                  <a:srgbClr val="5E6A71"/>
                </a:solidFill>
              </a:rPr>
              <a:t>STARTS WHEN</a:t>
            </a:r>
          </a:p>
        </p:txBody>
      </p:sp>
      <p:sp>
        <p:nvSpPr>
          <p:cNvPr id="20" name="Text"/>
          <p:cNvSpPr txBox="1"/>
          <p:nvPr/>
        </p:nvSpPr>
        <p:spPr>
          <a:xfrm>
            <a:off x="4526279" y="2404872"/>
            <a:ext cx="3108960" cy="640080"/>
          </a:xfrm>
          <a:prstGeom prst="rect">
            <a:avLst/>
          </a:prstGeom>
          <a:noFill/>
        </p:spPr>
        <p:txBody>
          <a:bodyPr wrap="square" lIns="0" rIns="0" tIns="0" bIns="0" anchor="t">
            <a:spAutoFit/>
          </a:bodyPr>
          <a:lstStyle/>
          <a:p>
            <a:pPr algn="l"/>
            <a:r>
              <a:rPr sz="1200" b="0" i="0">
                <a:solidFill>
                  <a:srgbClr val="1E262B"/>
                </a:solidFill>
              </a:rPr>
              <a:t>a milestone falls due, or the contractor says the work is delivered</a:t>
            </a:r>
          </a:p>
        </p:txBody>
      </p:sp>
      <p:sp>
        <p:nvSpPr>
          <p:cNvPr id="21" name="Text"/>
          <p:cNvSpPr txBox="1"/>
          <p:nvPr/>
        </p:nvSpPr>
        <p:spPr>
          <a:xfrm>
            <a:off x="4526279" y="3026664"/>
            <a:ext cx="3108960" cy="201168"/>
          </a:xfrm>
          <a:prstGeom prst="rect">
            <a:avLst/>
          </a:prstGeom>
          <a:noFill/>
        </p:spPr>
        <p:txBody>
          <a:bodyPr wrap="square" lIns="0" rIns="0" tIns="0" bIns="0" anchor="t">
            <a:spAutoFit/>
          </a:bodyPr>
          <a:lstStyle/>
          <a:p>
            <a:pPr algn="l"/>
            <a:r>
              <a:rPr sz="950" b="1" i="0">
                <a:solidFill>
                  <a:srgbClr val="5E6A71"/>
                </a:solidFill>
              </a:rPr>
              <a:t>DONE WHEN</a:t>
            </a:r>
          </a:p>
        </p:txBody>
      </p:sp>
      <p:sp>
        <p:nvSpPr>
          <p:cNvPr id="22" name="Text"/>
          <p:cNvSpPr txBox="1"/>
          <p:nvPr/>
        </p:nvSpPr>
        <p:spPr>
          <a:xfrm>
            <a:off x="4526279" y="3255264"/>
            <a:ext cx="3108960" cy="640080"/>
          </a:xfrm>
          <a:prstGeom prst="rect">
            <a:avLst/>
          </a:prstGeom>
          <a:noFill/>
        </p:spPr>
        <p:txBody>
          <a:bodyPr wrap="square" lIns="0" rIns="0" tIns="0" bIns="0" anchor="t">
            <a:spAutoFit/>
          </a:bodyPr>
          <a:lstStyle/>
          <a:p>
            <a:pPr algn="l"/>
            <a:r>
              <a:rPr sz="1200" b="0" i="0">
                <a:solidFill>
                  <a:srgbClr val="1E262B"/>
                </a:solidFill>
              </a:rPr>
              <a:t>the department head has confirmed in full, in part, or declined</a:t>
            </a:r>
          </a:p>
        </p:txBody>
      </p:sp>
      <p:sp>
        <p:nvSpPr>
          <p:cNvPr id="23" name="Text"/>
          <p:cNvSpPr txBox="1"/>
          <p:nvPr/>
        </p:nvSpPr>
        <p:spPr>
          <a:xfrm>
            <a:off x="4526279" y="3877056"/>
            <a:ext cx="3108960" cy="201168"/>
          </a:xfrm>
          <a:prstGeom prst="rect">
            <a:avLst/>
          </a:prstGeom>
          <a:noFill/>
        </p:spPr>
        <p:txBody>
          <a:bodyPr wrap="square" lIns="0" rIns="0" tIns="0" bIns="0" anchor="t">
            <a:spAutoFit/>
          </a:bodyPr>
          <a:lstStyle/>
          <a:p>
            <a:pPr algn="l"/>
            <a:r>
              <a:rPr sz="950" b="1" i="0">
                <a:solidFill>
                  <a:srgbClr val="5E6A71"/>
                </a:solidFill>
              </a:rPr>
              <a:t>HANDS TO</a:t>
            </a:r>
          </a:p>
        </p:txBody>
      </p:sp>
      <p:sp>
        <p:nvSpPr>
          <p:cNvPr id="24" name="Text"/>
          <p:cNvSpPr txBox="1"/>
          <p:nvPr/>
        </p:nvSpPr>
        <p:spPr>
          <a:xfrm>
            <a:off x="4526279" y="4105656"/>
            <a:ext cx="3108960" cy="640080"/>
          </a:xfrm>
          <a:prstGeom prst="rect">
            <a:avLst/>
          </a:prstGeom>
          <a:noFill/>
        </p:spPr>
        <p:txBody>
          <a:bodyPr wrap="square" lIns="0" rIns="0" tIns="0" bIns="0" anchor="t">
            <a:spAutoFit/>
          </a:bodyPr>
          <a:lstStyle/>
          <a:p>
            <a:pPr algn="l"/>
            <a:r>
              <a:rPr sz="1200" b="0" i="0">
                <a:solidFill>
                  <a:srgbClr val="1E262B"/>
                </a:solidFill>
              </a:rPr>
              <a:t>nobody; the confirmation waits for the bill</a:t>
            </a:r>
          </a:p>
        </p:txBody>
      </p:sp>
      <p:sp>
        <p:nvSpPr>
          <p:cNvPr id="25" name="Box"/>
          <p:cNvSpPr/>
          <p:nvPr/>
        </p:nvSpPr>
        <p:spPr>
          <a:xfrm>
            <a:off x="8046719" y="1417320"/>
            <a:ext cx="3566160" cy="3383280"/>
          </a:xfrm>
          <a:prstGeom prst="roundRect">
            <a:avLst>
              <a:gd name="adj" fmla="val 2432"/>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hip"/>
          <p:cNvSpPr/>
          <p:nvPr/>
        </p:nvSpPr>
        <p:spPr>
          <a:xfrm>
            <a:off x="8275319" y="1600200"/>
            <a:ext cx="548640"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hip"/>
          <p:cNvSpPr txBox="1"/>
          <p:nvPr/>
        </p:nvSpPr>
        <p:spPr>
          <a:xfrm>
            <a:off x="8275319" y="1600200"/>
            <a:ext cx="548640" cy="274320"/>
          </a:xfrm>
          <a:prstGeom prst="rect">
            <a:avLst/>
          </a:prstGeom>
          <a:noFill/>
        </p:spPr>
        <p:txBody>
          <a:bodyPr wrap="square" lIns="0" rIns="0" tIns="0" bIns="0" anchor="ctr">
            <a:spAutoFit/>
          </a:bodyPr>
          <a:lstStyle/>
          <a:p>
            <a:pPr algn="ctr"/>
            <a:r>
              <a:rPr sz="1100" b="1" i="0">
                <a:solidFill>
                  <a:srgbClr val="FFFFFF"/>
                </a:solidFill>
              </a:rPr>
              <a:t>T5</a:t>
            </a:r>
          </a:p>
        </p:txBody>
      </p:sp>
      <p:sp>
        <p:nvSpPr>
          <p:cNvPr id="28" name="Text"/>
          <p:cNvSpPr txBox="1"/>
          <p:nvPr/>
        </p:nvSpPr>
        <p:spPr>
          <a:xfrm>
            <a:off x="8961119" y="1536192"/>
            <a:ext cx="2514600" cy="548640"/>
          </a:xfrm>
          <a:prstGeom prst="rect">
            <a:avLst/>
          </a:prstGeom>
          <a:noFill/>
        </p:spPr>
        <p:txBody>
          <a:bodyPr wrap="square" lIns="0" rIns="0" tIns="0" bIns="0" anchor="ctr">
            <a:spAutoFit/>
          </a:bodyPr>
          <a:lstStyle/>
          <a:p>
            <a:pPr algn="l"/>
            <a:r>
              <a:rPr sz="1300" b="1" i="0">
                <a:solidFill>
                  <a:srgbClr val="0B4A4A"/>
                </a:solidFill>
              </a:rPr>
              <a:t>Match a service invoice</a:t>
            </a:r>
          </a:p>
        </p:txBody>
      </p:sp>
      <p:sp>
        <p:nvSpPr>
          <p:cNvPr id="29" name="Text"/>
          <p:cNvSpPr txBox="1"/>
          <p:nvPr/>
        </p:nvSpPr>
        <p:spPr>
          <a:xfrm>
            <a:off x="8275319" y="2176272"/>
            <a:ext cx="3108960" cy="201168"/>
          </a:xfrm>
          <a:prstGeom prst="rect">
            <a:avLst/>
          </a:prstGeom>
          <a:noFill/>
        </p:spPr>
        <p:txBody>
          <a:bodyPr wrap="square" lIns="0" rIns="0" tIns="0" bIns="0" anchor="t">
            <a:spAutoFit/>
          </a:bodyPr>
          <a:lstStyle/>
          <a:p>
            <a:pPr algn="l"/>
            <a:r>
              <a:rPr sz="950" b="1" i="0">
                <a:solidFill>
                  <a:srgbClr val="5E6A71"/>
                </a:solidFill>
              </a:rPr>
              <a:t>STARTS WHEN</a:t>
            </a:r>
          </a:p>
        </p:txBody>
      </p:sp>
      <p:sp>
        <p:nvSpPr>
          <p:cNvPr id="30" name="Text"/>
          <p:cNvSpPr txBox="1"/>
          <p:nvPr/>
        </p:nvSpPr>
        <p:spPr>
          <a:xfrm>
            <a:off x="8275319" y="2404872"/>
            <a:ext cx="3108960" cy="640080"/>
          </a:xfrm>
          <a:prstGeom prst="rect">
            <a:avLst/>
          </a:prstGeom>
          <a:noFill/>
        </p:spPr>
        <p:txBody>
          <a:bodyPr wrap="square" lIns="0" rIns="0" tIns="0" bIns="0" anchor="t">
            <a:spAutoFit/>
          </a:bodyPr>
          <a:lstStyle/>
          <a:p>
            <a:pPr algn="l"/>
            <a:r>
              <a:rPr sz="1200" b="0" i="0">
                <a:solidFill>
                  <a:srgbClr val="1E262B"/>
                </a:solidFill>
              </a:rPr>
              <a:t>the Accounts Executive captures a service invoice against the Works Order</a:t>
            </a:r>
          </a:p>
        </p:txBody>
      </p:sp>
      <p:sp>
        <p:nvSpPr>
          <p:cNvPr id="31" name="Text"/>
          <p:cNvSpPr txBox="1"/>
          <p:nvPr/>
        </p:nvSpPr>
        <p:spPr>
          <a:xfrm>
            <a:off x="8275319" y="3026664"/>
            <a:ext cx="3108960" cy="201168"/>
          </a:xfrm>
          <a:prstGeom prst="rect">
            <a:avLst/>
          </a:prstGeom>
          <a:noFill/>
        </p:spPr>
        <p:txBody>
          <a:bodyPr wrap="square" lIns="0" rIns="0" tIns="0" bIns="0" anchor="t">
            <a:spAutoFit/>
          </a:bodyPr>
          <a:lstStyle/>
          <a:p>
            <a:pPr algn="l"/>
            <a:r>
              <a:rPr sz="950" b="1" i="0">
                <a:solidFill>
                  <a:srgbClr val="5E6A71"/>
                </a:solidFill>
              </a:rPr>
              <a:t>DONE WHEN</a:t>
            </a:r>
          </a:p>
        </p:txBody>
      </p:sp>
      <p:sp>
        <p:nvSpPr>
          <p:cNvPr id="32" name="Text"/>
          <p:cNvSpPr txBox="1"/>
          <p:nvPr/>
        </p:nvSpPr>
        <p:spPr>
          <a:xfrm>
            <a:off x="8275319" y="3255264"/>
            <a:ext cx="3108960" cy="640080"/>
          </a:xfrm>
          <a:prstGeom prst="rect">
            <a:avLst/>
          </a:prstGeom>
          <a:noFill/>
        </p:spPr>
        <p:txBody>
          <a:bodyPr wrap="square" lIns="0" rIns="0" tIns="0" bIns="0" anchor="t">
            <a:spAutoFit/>
          </a:bodyPr>
          <a:lstStyle/>
          <a:p>
            <a:pPr algn="l"/>
            <a:r>
              <a:rPr sz="1200" b="0" i="0">
                <a:solidFill>
                  <a:srgbClr val="1E262B"/>
                </a:solidFill>
              </a:rPr>
              <a:t>the invoice is matched, or a variance is raised with its reason</a:t>
            </a:r>
          </a:p>
        </p:txBody>
      </p:sp>
      <p:sp>
        <p:nvSpPr>
          <p:cNvPr id="33" name="Text"/>
          <p:cNvSpPr txBox="1"/>
          <p:nvPr/>
        </p:nvSpPr>
        <p:spPr>
          <a:xfrm>
            <a:off x="8275319" y="3877056"/>
            <a:ext cx="3108960" cy="201168"/>
          </a:xfrm>
          <a:prstGeom prst="rect">
            <a:avLst/>
          </a:prstGeom>
          <a:noFill/>
        </p:spPr>
        <p:txBody>
          <a:bodyPr wrap="square" lIns="0" rIns="0" tIns="0" bIns="0" anchor="t">
            <a:spAutoFit/>
          </a:bodyPr>
          <a:lstStyle/>
          <a:p>
            <a:pPr algn="l"/>
            <a:r>
              <a:rPr sz="950" b="1" i="0">
                <a:solidFill>
                  <a:srgbClr val="5E6A71"/>
                </a:solidFill>
              </a:rPr>
              <a:t>HANDS TO</a:t>
            </a:r>
          </a:p>
        </p:txBody>
      </p:sp>
      <p:sp>
        <p:nvSpPr>
          <p:cNvPr id="34" name="Text"/>
          <p:cNvSpPr txBox="1"/>
          <p:nvPr/>
        </p:nvSpPr>
        <p:spPr>
          <a:xfrm>
            <a:off x="8275319" y="4105656"/>
            <a:ext cx="3108960" cy="640080"/>
          </a:xfrm>
          <a:prstGeom prst="rect">
            <a:avLst/>
          </a:prstGeom>
          <a:noFill/>
        </p:spPr>
        <p:txBody>
          <a:bodyPr wrap="square" lIns="0" rIns="0" tIns="0" bIns="0" anchor="t">
            <a:spAutoFit/>
          </a:bodyPr>
          <a:lstStyle/>
          <a:p>
            <a:pPr algn="l"/>
            <a:r>
              <a:rPr sz="1200" b="0" i="0">
                <a:solidFill>
                  <a:srgbClr val="1E262B"/>
                </a:solidFill>
              </a:rPr>
              <a:t>the Accounts Executive to post; the Accounts Manager to decide a variance</a:t>
            </a:r>
          </a:p>
        </p:txBody>
      </p:sp>
      <p:sp>
        <p:nvSpPr>
          <p:cNvPr id="35" name="Text"/>
          <p:cNvSpPr txBox="1"/>
          <p:nvPr/>
        </p:nvSpPr>
        <p:spPr>
          <a:xfrm>
            <a:off x="548640" y="4983480"/>
            <a:ext cx="2606040" cy="201168"/>
          </a:xfrm>
          <a:prstGeom prst="rect">
            <a:avLst/>
          </a:prstGeom>
          <a:noFill/>
        </p:spPr>
        <p:txBody>
          <a:bodyPr wrap="square" lIns="0" rIns="0" tIns="0" bIns="0" anchor="t">
            <a:spAutoFit/>
          </a:bodyPr>
          <a:lstStyle/>
          <a:p>
            <a:pPr algn="l"/>
            <a:r>
              <a:rPr sz="950" b="1" i="0">
                <a:solidFill>
                  <a:srgbClr val="5E6A71"/>
                </a:solidFill>
              </a:rPr>
              <a:t>CONTEXTS IN THE THREAD</a:t>
            </a:r>
          </a:p>
        </p:txBody>
      </p:sp>
      <p:sp>
        <p:nvSpPr>
          <p:cNvPr id="36" name="Text"/>
          <p:cNvSpPr txBox="1"/>
          <p:nvPr/>
        </p:nvSpPr>
        <p:spPr>
          <a:xfrm>
            <a:off x="3291840" y="4983480"/>
            <a:ext cx="8211312" cy="201168"/>
          </a:xfrm>
          <a:prstGeom prst="rect">
            <a:avLst/>
          </a:prstGeom>
          <a:noFill/>
        </p:spPr>
        <p:txBody>
          <a:bodyPr wrap="square" lIns="0" rIns="0" tIns="0" bIns="0" anchor="t">
            <a:spAutoFit/>
          </a:bodyPr>
          <a:lstStyle/>
          <a:p>
            <a:pPr algn="l"/>
            <a:r>
              <a:rPr sz="950" b="1" i="0">
                <a:solidFill>
                  <a:srgbClr val="5E6A71"/>
                </a:solidFill>
              </a:rPr>
              <a:t>WHAT EACH OWNS HERE</a:t>
            </a:r>
          </a:p>
        </p:txBody>
      </p:sp>
      <p:cxnSp>
        <p:nvCxnSpPr>
          <p:cNvPr id="37" name="Connector 36"/>
          <p:cNvCxnSpPr/>
          <p:nvPr/>
        </p:nvCxnSpPr>
        <p:spPr>
          <a:xfrm>
            <a:off x="548640" y="525780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8" name="Text"/>
          <p:cNvSpPr txBox="1"/>
          <p:nvPr/>
        </p:nvSpPr>
        <p:spPr>
          <a:xfrm>
            <a:off x="548640" y="5312664"/>
            <a:ext cx="2606040" cy="228600"/>
          </a:xfrm>
          <a:prstGeom prst="rect">
            <a:avLst/>
          </a:prstGeom>
          <a:noFill/>
        </p:spPr>
        <p:txBody>
          <a:bodyPr wrap="square" lIns="0" rIns="0" tIns="0" bIns="0" anchor="ctr">
            <a:spAutoFit/>
          </a:bodyPr>
          <a:lstStyle/>
          <a:p>
            <a:pPr algn="l"/>
            <a:r>
              <a:rPr sz="1150" b="1" i="0">
                <a:solidFill>
                  <a:srgbClr val="1E262B"/>
                </a:solidFill>
              </a:rPr>
              <a:t>Procurement</a:t>
            </a:r>
          </a:p>
        </p:txBody>
      </p:sp>
      <p:sp>
        <p:nvSpPr>
          <p:cNvPr id="39" name="Text"/>
          <p:cNvSpPr txBox="1"/>
          <p:nvPr/>
        </p:nvSpPr>
        <p:spPr>
          <a:xfrm>
            <a:off x="3291840" y="5312664"/>
            <a:ext cx="8211312" cy="228600"/>
          </a:xfrm>
          <a:prstGeom prst="rect">
            <a:avLst/>
          </a:prstGeom>
          <a:noFill/>
        </p:spPr>
        <p:txBody>
          <a:bodyPr wrap="square" lIns="0" rIns="0" tIns="0" bIns="0" anchor="ctr">
            <a:spAutoFit/>
          </a:bodyPr>
          <a:lstStyle/>
          <a:p>
            <a:pPr algn="l"/>
            <a:r>
              <a:rPr sz="1150" b="0" i="0">
                <a:solidFill>
                  <a:srgbClr val="1E262B"/>
                </a:solidFill>
              </a:rPr>
              <a:t>the Works Order, its milestones, the completion confirmation, the match</a:t>
            </a:r>
          </a:p>
        </p:txBody>
      </p:sp>
      <p:cxnSp>
        <p:nvCxnSpPr>
          <p:cNvPr id="40" name="Connector 39"/>
          <p:cNvCxnSpPr/>
          <p:nvPr/>
        </p:nvCxnSpPr>
        <p:spPr>
          <a:xfrm>
            <a:off x="548640" y="5559552"/>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41" name="Text"/>
          <p:cNvSpPr txBox="1"/>
          <p:nvPr/>
        </p:nvSpPr>
        <p:spPr>
          <a:xfrm>
            <a:off x="548640" y="5614416"/>
            <a:ext cx="2606040" cy="228600"/>
          </a:xfrm>
          <a:prstGeom prst="rect">
            <a:avLst/>
          </a:prstGeom>
          <a:noFill/>
        </p:spPr>
        <p:txBody>
          <a:bodyPr wrap="square" lIns="0" rIns="0" tIns="0" bIns="0" anchor="ctr">
            <a:spAutoFit/>
          </a:bodyPr>
          <a:lstStyle/>
          <a:p>
            <a:pPr algn="l"/>
            <a:r>
              <a:rPr sz="1150" b="1" i="0">
                <a:solidFill>
                  <a:srgbClr val="1E262B"/>
                </a:solidFill>
              </a:rPr>
              <a:t>Finance</a:t>
            </a:r>
          </a:p>
        </p:txBody>
      </p:sp>
      <p:sp>
        <p:nvSpPr>
          <p:cNvPr id="42" name="Text"/>
          <p:cNvSpPr txBox="1"/>
          <p:nvPr/>
        </p:nvSpPr>
        <p:spPr>
          <a:xfrm>
            <a:off x="3291840" y="5614416"/>
            <a:ext cx="8211312" cy="228600"/>
          </a:xfrm>
          <a:prstGeom prst="rect">
            <a:avLst/>
          </a:prstGeom>
          <a:noFill/>
        </p:spPr>
        <p:txBody>
          <a:bodyPr wrap="square" lIns="0" rIns="0" tIns="0" bIns="0" anchor="ctr">
            <a:spAutoFit/>
          </a:bodyPr>
          <a:lstStyle/>
          <a:p>
            <a:pPr algn="l"/>
            <a:r>
              <a:rPr sz="1150" b="0" i="0">
                <a:solidFill>
                  <a:srgbClr val="1E262B"/>
                </a:solidFill>
              </a:rPr>
              <a:t>the service invoice, its posting, the variance decision</a:t>
            </a:r>
          </a:p>
        </p:txBody>
      </p:sp>
      <p:cxnSp>
        <p:nvCxnSpPr>
          <p:cNvPr id="43" name="Connector 42"/>
          <p:cNvCxnSpPr/>
          <p:nvPr/>
        </p:nvCxnSpPr>
        <p:spPr>
          <a:xfrm>
            <a:off x="548640" y="5861304"/>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44" name="Text"/>
          <p:cNvSpPr txBox="1"/>
          <p:nvPr/>
        </p:nvSpPr>
        <p:spPr>
          <a:xfrm>
            <a:off x="548640" y="5916168"/>
            <a:ext cx="2606040" cy="228600"/>
          </a:xfrm>
          <a:prstGeom prst="rect">
            <a:avLst/>
          </a:prstGeom>
          <a:noFill/>
        </p:spPr>
        <p:txBody>
          <a:bodyPr wrap="square" lIns="0" rIns="0" tIns="0" bIns="0" anchor="ctr">
            <a:spAutoFit/>
          </a:bodyPr>
          <a:lstStyle/>
          <a:p>
            <a:pPr algn="l"/>
            <a:r>
              <a:rPr sz="1150" b="1" i="0">
                <a:solidFill>
                  <a:srgbClr val="1E262B"/>
                </a:solidFill>
              </a:rPr>
              <a:t>Parties and Contacts</a:t>
            </a:r>
          </a:p>
        </p:txBody>
      </p:sp>
      <p:sp>
        <p:nvSpPr>
          <p:cNvPr id="45" name="Text"/>
          <p:cNvSpPr txBox="1"/>
          <p:nvPr/>
        </p:nvSpPr>
        <p:spPr>
          <a:xfrm>
            <a:off x="3291840" y="5916168"/>
            <a:ext cx="8211312" cy="228600"/>
          </a:xfrm>
          <a:prstGeom prst="rect">
            <a:avLst/>
          </a:prstGeom>
          <a:noFill/>
        </p:spPr>
        <p:txBody>
          <a:bodyPr wrap="square" lIns="0" rIns="0" tIns="0" bIns="0" anchor="ctr">
            <a:spAutoFit/>
          </a:bodyPr>
          <a:lstStyle/>
          <a:p>
            <a:pPr algn="l"/>
            <a:r>
              <a:rPr sz="1150" b="0" i="0">
                <a:solidFill>
                  <a:srgbClr val="1E262B"/>
                </a:solidFill>
              </a:rPr>
              <a:t>the contractor: one record, shared by everyone (a Foundation context)</a:t>
            </a:r>
          </a:p>
        </p:txBody>
      </p:sp>
      <p:cxnSp>
        <p:nvCxnSpPr>
          <p:cNvPr id="46" name="Connector 45"/>
          <p:cNvCxnSpPr/>
          <p:nvPr/>
        </p:nvCxnSpPr>
        <p:spPr>
          <a:xfrm>
            <a:off x="548640" y="6163056"/>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Six words and how they connect</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PICTURE</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6</a:t>
            </a:r>
          </a:p>
        </p:txBody>
      </p:sp>
      <p:sp>
        <p:nvSpPr>
          <p:cNvPr id="5" name="Context A"/>
          <p:cNvSpPr/>
          <p:nvPr/>
        </p:nvSpPr>
        <p:spPr>
          <a:xfrm>
            <a:off x="548640" y="1417320"/>
            <a:ext cx="4846320" cy="2743200"/>
          </a:xfrm>
          <a:prstGeom prst="roundRect">
            <a:avLst>
              <a:gd name="adj" fmla="val 3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abel"/>
          <p:cNvSpPr txBox="1"/>
          <p:nvPr/>
        </p:nvSpPr>
        <p:spPr>
          <a:xfrm>
            <a:off x="777240" y="1554480"/>
            <a:ext cx="4389120" cy="201168"/>
          </a:xfrm>
          <a:prstGeom prst="rect">
            <a:avLst/>
          </a:prstGeom>
          <a:noFill/>
        </p:spPr>
        <p:txBody>
          <a:bodyPr wrap="square" lIns="0" rIns="0" tIns="0" bIns="0" anchor="t">
            <a:spAutoFit/>
          </a:bodyPr>
          <a:lstStyle/>
          <a:p>
            <a:pPr algn="l"/>
            <a:r>
              <a:rPr sz="1000" b="1" i="0">
                <a:solidFill>
                  <a:srgbClr val="5E6A71"/>
                </a:solidFill>
              </a:rPr>
              <a:t>BUSINESS CONTEXT A  ·  OWNS THESE FACTS</a:t>
            </a:r>
          </a:p>
        </p:txBody>
      </p:sp>
      <p:sp>
        <p:nvSpPr>
          <p:cNvPr id="7" name="Entity A"/>
          <p:cNvSpPr/>
          <p:nvPr/>
        </p:nvSpPr>
        <p:spPr>
          <a:xfrm>
            <a:off x="2377440" y="2103120"/>
            <a:ext cx="2743200" cy="1005840"/>
          </a:xfrm>
          <a:prstGeom prst="roundRect">
            <a:avLst>
              <a:gd name="adj" fmla="val 8000"/>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p:cNvSpPr txBox="1"/>
          <p:nvPr/>
        </p:nvSpPr>
        <p:spPr>
          <a:xfrm>
            <a:off x="2514600" y="2176272"/>
            <a:ext cx="2468880" cy="365760"/>
          </a:xfrm>
          <a:prstGeom prst="rect">
            <a:avLst/>
          </a:prstGeom>
          <a:noFill/>
        </p:spPr>
        <p:txBody>
          <a:bodyPr wrap="square" lIns="0" rIns="0" tIns="0" bIns="0" anchor="t">
            <a:spAutoFit/>
          </a:bodyPr>
          <a:lstStyle/>
          <a:p>
            <a:pPr algn="l"/>
            <a:r>
              <a:rPr sz="1400" b="1" i="0">
                <a:solidFill>
                  <a:srgbClr val="0B4A4A"/>
                </a:solidFill>
              </a:rPr>
              <a:t>Entity</a:t>
            </a:r>
          </a:p>
        </p:txBody>
      </p:sp>
      <p:sp>
        <p:nvSpPr>
          <p:cNvPr id="9" name="Text"/>
          <p:cNvSpPr txBox="1"/>
          <p:nvPr/>
        </p:nvSpPr>
        <p:spPr>
          <a:xfrm>
            <a:off x="2514600" y="2542032"/>
            <a:ext cx="2468880" cy="502920"/>
          </a:xfrm>
          <a:prstGeom prst="rect">
            <a:avLst/>
          </a:prstGeom>
          <a:noFill/>
        </p:spPr>
        <p:txBody>
          <a:bodyPr wrap="square" lIns="0" rIns="0" tIns="0" bIns="0" anchor="t">
            <a:spAutoFit/>
          </a:bodyPr>
          <a:lstStyle/>
          <a:p>
            <a:pPr algn="l"/>
            <a:r>
              <a:rPr sz="1100" b="0" i="0">
                <a:solidFill>
                  <a:srgbClr val="5E6A71"/>
                </a:solidFill>
              </a:rPr>
              <a:t>a fact with an identity, states and a history</a:t>
            </a:r>
          </a:p>
        </p:txBody>
      </p:sp>
      <p:sp>
        <p:nvSpPr>
          <p:cNvPr id="10" name="Chip"/>
          <p:cNvSpPr/>
          <p:nvPr/>
        </p:nvSpPr>
        <p:spPr>
          <a:xfrm>
            <a:off x="777240" y="2377440"/>
            <a:ext cx="1188720" cy="310896"/>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hip"/>
          <p:cNvSpPr txBox="1"/>
          <p:nvPr/>
        </p:nvSpPr>
        <p:spPr>
          <a:xfrm>
            <a:off x="777240" y="2377440"/>
            <a:ext cx="1188720" cy="310896"/>
          </a:xfrm>
          <a:prstGeom prst="rect">
            <a:avLst/>
          </a:prstGeom>
          <a:noFill/>
        </p:spPr>
        <p:txBody>
          <a:bodyPr wrap="square" lIns="0" rIns="0" tIns="0" bIns="0" anchor="ctr">
            <a:spAutoFit/>
          </a:bodyPr>
          <a:lstStyle/>
          <a:p>
            <a:pPr algn="ctr"/>
            <a:r>
              <a:rPr sz="1050" b="1" i="0">
                <a:solidFill>
                  <a:srgbClr val="FFFFFF"/>
                </a:solidFill>
              </a:rPr>
              <a:t>ACTION</a:t>
            </a:r>
          </a:p>
        </p:txBody>
      </p:sp>
      <p:cxnSp>
        <p:nvCxnSpPr>
          <p:cNvPr id="12" name="Connector 11"/>
          <p:cNvCxnSpPr/>
          <p:nvPr/>
        </p:nvCxnSpPr>
        <p:spPr>
          <a:xfrm>
            <a:off x="1965960" y="2532888"/>
            <a:ext cx="411480" cy="0"/>
          </a:xfrm>
          <a:prstGeom prst="line">
            <a:avLst/>
          </a:prstGeom>
          <a:ln w="19050">
            <a:solidFill>
              <a:srgbClr val="0B64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
          <p:cNvSpPr txBox="1"/>
          <p:nvPr/>
        </p:nvSpPr>
        <p:spPr>
          <a:xfrm>
            <a:off x="777240" y="2743200"/>
            <a:ext cx="1463040" cy="457200"/>
          </a:xfrm>
          <a:prstGeom prst="rect">
            <a:avLst/>
          </a:prstGeom>
          <a:noFill/>
        </p:spPr>
        <p:txBody>
          <a:bodyPr wrap="square" lIns="0" rIns="0" tIns="0" bIns="0" anchor="t">
            <a:spAutoFit/>
          </a:bodyPr>
          <a:lstStyle/>
          <a:p>
            <a:pPr algn="l"/>
            <a:r>
              <a:rPr sz="1000" b="0" i="0">
                <a:solidFill>
                  <a:srgbClr val="5E6A71"/>
                </a:solidFill>
              </a:rPr>
              <a:t>the only way the fact changes</a:t>
            </a:r>
          </a:p>
        </p:txBody>
      </p:sp>
      <p:sp>
        <p:nvSpPr>
          <p:cNvPr id="14" name="Chip"/>
          <p:cNvSpPr/>
          <p:nvPr/>
        </p:nvSpPr>
        <p:spPr>
          <a:xfrm>
            <a:off x="3840480" y="3429000"/>
            <a:ext cx="1371600" cy="310896"/>
          </a:xfrm>
          <a:prstGeom prst="roundRect">
            <a:avLst>
              <a:gd name="adj" fmla="val 50000"/>
            </a:avLst>
          </a:prstGeom>
          <a:solidFill>
            <a:srgbClr val="0B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hip"/>
          <p:cNvSpPr txBox="1"/>
          <p:nvPr/>
        </p:nvSpPr>
        <p:spPr>
          <a:xfrm>
            <a:off x="3840480" y="3429000"/>
            <a:ext cx="1371600" cy="310896"/>
          </a:xfrm>
          <a:prstGeom prst="rect">
            <a:avLst/>
          </a:prstGeom>
          <a:noFill/>
        </p:spPr>
        <p:txBody>
          <a:bodyPr wrap="square" lIns="0" rIns="0" tIns="0" bIns="0" anchor="ctr">
            <a:spAutoFit/>
          </a:bodyPr>
          <a:lstStyle/>
          <a:p>
            <a:pPr algn="ctr"/>
            <a:r>
              <a:rPr sz="1050" b="1" i="0">
                <a:solidFill>
                  <a:srgbClr val="FFFFFF"/>
                </a:solidFill>
              </a:rPr>
              <a:t>EVENT</a:t>
            </a:r>
          </a:p>
        </p:txBody>
      </p:sp>
      <p:sp>
        <p:nvSpPr>
          <p:cNvPr id="16" name="Text"/>
          <p:cNvSpPr txBox="1"/>
          <p:nvPr/>
        </p:nvSpPr>
        <p:spPr>
          <a:xfrm>
            <a:off x="777240" y="3429000"/>
            <a:ext cx="2926080" cy="548640"/>
          </a:xfrm>
          <a:prstGeom prst="rect">
            <a:avLst/>
          </a:prstGeom>
          <a:noFill/>
        </p:spPr>
        <p:txBody>
          <a:bodyPr wrap="square" lIns="0" rIns="0" tIns="0" bIns="0" anchor="t">
            <a:spAutoFit/>
          </a:bodyPr>
          <a:lstStyle/>
          <a:p>
            <a:pPr algn="l"/>
            <a:r>
              <a:rPr sz="1000" b="0" i="0">
                <a:solidFill>
                  <a:srgbClr val="5E6A71"/>
                </a:solidFill>
              </a:rPr>
              <a:t>when the action completes, it publishes what happened</a:t>
            </a:r>
          </a:p>
        </p:txBody>
      </p:sp>
      <p:cxnSp>
        <p:nvCxnSpPr>
          <p:cNvPr id="17" name="Connector 16"/>
          <p:cNvCxnSpPr/>
          <p:nvPr/>
        </p:nvCxnSpPr>
        <p:spPr>
          <a:xfrm>
            <a:off x="4526280" y="3200400"/>
            <a:ext cx="0" cy="228600"/>
          </a:xfrm>
          <a:prstGeom prst="line">
            <a:avLst/>
          </a:prstGeom>
          <a:ln w="19050">
            <a:solidFill>
              <a:srgbClr val="0B4A4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212080" y="3584448"/>
            <a:ext cx="1737360" cy="0"/>
          </a:xfrm>
          <a:prstGeom prst="line">
            <a:avLst/>
          </a:prstGeom>
          <a:ln w="19050">
            <a:solidFill>
              <a:srgbClr val="0B4A4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
          <p:cNvSpPr txBox="1"/>
          <p:nvPr/>
        </p:nvSpPr>
        <p:spPr>
          <a:xfrm>
            <a:off x="5257800" y="3657600"/>
            <a:ext cx="1737360" cy="365760"/>
          </a:xfrm>
          <a:prstGeom prst="rect">
            <a:avLst/>
          </a:prstGeom>
          <a:noFill/>
        </p:spPr>
        <p:txBody>
          <a:bodyPr wrap="square" lIns="0" rIns="0" tIns="0" bIns="0" anchor="t">
            <a:spAutoFit/>
          </a:bodyPr>
          <a:lstStyle/>
          <a:p>
            <a:pPr algn="ctr"/>
            <a:r>
              <a:rPr sz="950" b="0" i="0">
                <a:solidFill>
                  <a:srgbClr val="5E6A71"/>
                </a:solidFill>
              </a:rPr>
              <a:t>delivered, at least once</a:t>
            </a:r>
          </a:p>
        </p:txBody>
      </p:sp>
      <p:sp>
        <p:nvSpPr>
          <p:cNvPr id="20" name="Context B"/>
          <p:cNvSpPr/>
          <p:nvPr/>
        </p:nvSpPr>
        <p:spPr>
          <a:xfrm>
            <a:off x="6766560" y="1417320"/>
            <a:ext cx="4873752" cy="2743200"/>
          </a:xfrm>
          <a:prstGeom prst="roundRect">
            <a:avLst>
              <a:gd name="adj" fmla="val 30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abel"/>
          <p:cNvSpPr txBox="1"/>
          <p:nvPr/>
        </p:nvSpPr>
        <p:spPr>
          <a:xfrm>
            <a:off x="6995160" y="1554480"/>
            <a:ext cx="4389120" cy="201168"/>
          </a:xfrm>
          <a:prstGeom prst="rect">
            <a:avLst/>
          </a:prstGeom>
          <a:noFill/>
        </p:spPr>
        <p:txBody>
          <a:bodyPr wrap="square" lIns="0" rIns="0" tIns="0" bIns="0" anchor="t">
            <a:spAutoFit/>
          </a:bodyPr>
          <a:lstStyle/>
          <a:p>
            <a:pPr algn="l"/>
            <a:r>
              <a:rPr sz="1000" b="1" i="0">
                <a:solidFill>
                  <a:srgbClr val="5E6A71"/>
                </a:solidFill>
              </a:rPr>
              <a:t>BUSINESS CONTEXT B  ·  OWNS OTHER FACTS</a:t>
            </a:r>
          </a:p>
        </p:txBody>
      </p:sp>
      <p:sp>
        <p:nvSpPr>
          <p:cNvPr id="22" name="Chip"/>
          <p:cNvSpPr/>
          <p:nvPr/>
        </p:nvSpPr>
        <p:spPr>
          <a:xfrm>
            <a:off x="6995160" y="3429000"/>
            <a:ext cx="1463040" cy="310896"/>
          </a:xfrm>
          <a:prstGeom prst="roundRect">
            <a:avLst>
              <a:gd name="adj" fmla="val 50000"/>
            </a:avLst>
          </a:prstGeom>
          <a:solidFill>
            <a:srgbClr val="8A5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ip"/>
          <p:cNvSpPr txBox="1"/>
          <p:nvPr/>
        </p:nvSpPr>
        <p:spPr>
          <a:xfrm>
            <a:off x="6995160" y="3429000"/>
            <a:ext cx="1463040" cy="310896"/>
          </a:xfrm>
          <a:prstGeom prst="rect">
            <a:avLst/>
          </a:prstGeom>
          <a:noFill/>
        </p:spPr>
        <p:txBody>
          <a:bodyPr wrap="square" lIns="0" rIns="0" tIns="0" bIns="0" anchor="ctr">
            <a:spAutoFit/>
          </a:bodyPr>
          <a:lstStyle/>
          <a:p>
            <a:pPr algn="ctr"/>
            <a:r>
              <a:rPr sz="1050" b="1" i="0">
                <a:solidFill>
                  <a:srgbClr val="FFFFFF"/>
                </a:solidFill>
              </a:rPr>
              <a:t>REACTION</a:t>
            </a:r>
          </a:p>
        </p:txBody>
      </p:sp>
      <p:sp>
        <p:nvSpPr>
          <p:cNvPr id="24" name="Text"/>
          <p:cNvSpPr txBox="1"/>
          <p:nvPr/>
        </p:nvSpPr>
        <p:spPr>
          <a:xfrm>
            <a:off x="8549640" y="3401568"/>
            <a:ext cx="2926080" cy="457200"/>
          </a:xfrm>
          <a:prstGeom prst="rect">
            <a:avLst/>
          </a:prstGeom>
          <a:noFill/>
        </p:spPr>
        <p:txBody>
          <a:bodyPr wrap="square" lIns="0" rIns="0" tIns="0" bIns="0" anchor="t">
            <a:spAutoFit/>
          </a:bodyPr>
          <a:lstStyle/>
          <a:p>
            <a:pPr algn="l"/>
            <a:r>
              <a:rPr sz="1000" b="0" i="0">
                <a:solidFill>
                  <a:srgbClr val="5E6A71"/>
                </a:solidFill>
              </a:rPr>
              <a:t>listens; when its condition holds, it calls an action of its own</a:t>
            </a:r>
          </a:p>
        </p:txBody>
      </p:sp>
      <p:sp>
        <p:nvSpPr>
          <p:cNvPr id="25" name="Chip"/>
          <p:cNvSpPr/>
          <p:nvPr/>
        </p:nvSpPr>
        <p:spPr>
          <a:xfrm>
            <a:off x="6995160" y="2377440"/>
            <a:ext cx="1188720" cy="310896"/>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hip"/>
          <p:cNvSpPr txBox="1"/>
          <p:nvPr/>
        </p:nvSpPr>
        <p:spPr>
          <a:xfrm>
            <a:off x="6995160" y="2377440"/>
            <a:ext cx="1188720" cy="310896"/>
          </a:xfrm>
          <a:prstGeom prst="rect">
            <a:avLst/>
          </a:prstGeom>
          <a:noFill/>
        </p:spPr>
        <p:txBody>
          <a:bodyPr wrap="square" lIns="0" rIns="0" tIns="0" bIns="0" anchor="ctr">
            <a:spAutoFit/>
          </a:bodyPr>
          <a:lstStyle/>
          <a:p>
            <a:pPr algn="ctr"/>
            <a:r>
              <a:rPr sz="1050" b="1" i="0">
                <a:solidFill>
                  <a:srgbClr val="FFFFFF"/>
                </a:solidFill>
              </a:rPr>
              <a:t>ACTION</a:t>
            </a:r>
          </a:p>
        </p:txBody>
      </p:sp>
      <p:cxnSp>
        <p:nvCxnSpPr>
          <p:cNvPr id="27" name="Connector 26"/>
          <p:cNvCxnSpPr/>
          <p:nvPr/>
        </p:nvCxnSpPr>
        <p:spPr>
          <a:xfrm flipV="1">
            <a:off x="7726679" y="2688336"/>
            <a:ext cx="0" cy="740664"/>
          </a:xfrm>
          <a:prstGeom prst="line">
            <a:avLst/>
          </a:prstGeom>
          <a:ln w="19050">
            <a:solidFill>
              <a:srgbClr val="8A5A1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Entity B"/>
          <p:cNvSpPr/>
          <p:nvPr/>
        </p:nvSpPr>
        <p:spPr>
          <a:xfrm>
            <a:off x="8595360" y="2103120"/>
            <a:ext cx="2834640" cy="1005840"/>
          </a:xfrm>
          <a:prstGeom prst="roundRect">
            <a:avLst>
              <a:gd name="adj" fmla="val 8000"/>
            </a:avLst>
          </a:prstGeom>
          <a:solidFill>
            <a:srgbClr val="FFFFFF"/>
          </a:solidFill>
          <a:ln w="9525">
            <a:solidFill>
              <a:srgbClr val="D9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p:cNvSpPr txBox="1"/>
          <p:nvPr/>
        </p:nvSpPr>
        <p:spPr>
          <a:xfrm>
            <a:off x="8732520" y="2176272"/>
            <a:ext cx="2560320" cy="365760"/>
          </a:xfrm>
          <a:prstGeom prst="rect">
            <a:avLst/>
          </a:prstGeom>
          <a:noFill/>
        </p:spPr>
        <p:txBody>
          <a:bodyPr wrap="square" lIns="0" rIns="0" tIns="0" bIns="0" anchor="t">
            <a:spAutoFit/>
          </a:bodyPr>
          <a:lstStyle/>
          <a:p>
            <a:pPr algn="l"/>
            <a:r>
              <a:rPr sz="1400" b="1" i="0">
                <a:solidFill>
                  <a:srgbClr val="0B4A4A"/>
                </a:solidFill>
              </a:rPr>
              <a:t>Entity</a:t>
            </a:r>
          </a:p>
        </p:txBody>
      </p:sp>
      <p:sp>
        <p:nvSpPr>
          <p:cNvPr id="30" name="Text"/>
          <p:cNvSpPr txBox="1"/>
          <p:nvPr/>
        </p:nvSpPr>
        <p:spPr>
          <a:xfrm>
            <a:off x="8732520" y="2542032"/>
            <a:ext cx="2560320" cy="502920"/>
          </a:xfrm>
          <a:prstGeom prst="rect">
            <a:avLst/>
          </a:prstGeom>
          <a:noFill/>
        </p:spPr>
        <p:txBody>
          <a:bodyPr wrap="square" lIns="0" rIns="0" tIns="0" bIns="0" anchor="t">
            <a:spAutoFit/>
          </a:bodyPr>
          <a:lstStyle/>
          <a:p>
            <a:pPr algn="l"/>
            <a:r>
              <a:rPr sz="1100" b="0" i="0">
                <a:solidFill>
                  <a:srgbClr val="5E6A71"/>
                </a:solidFill>
              </a:rPr>
              <a:t>changed only by this context's action</a:t>
            </a:r>
          </a:p>
        </p:txBody>
      </p:sp>
      <p:cxnSp>
        <p:nvCxnSpPr>
          <p:cNvPr id="31" name="Connector 30"/>
          <p:cNvCxnSpPr/>
          <p:nvPr/>
        </p:nvCxnSpPr>
        <p:spPr>
          <a:xfrm>
            <a:off x="8183879" y="2532888"/>
            <a:ext cx="411481" cy="0"/>
          </a:xfrm>
          <a:prstGeom prst="line">
            <a:avLst/>
          </a:prstGeom>
          <a:ln w="19050">
            <a:solidFill>
              <a:srgbClr val="0B64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Query"/>
          <p:cNvSpPr/>
          <p:nvPr/>
        </p:nvSpPr>
        <p:spPr>
          <a:xfrm>
            <a:off x="2926080" y="4572000"/>
            <a:ext cx="6309360" cy="77724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hip"/>
          <p:cNvSpPr/>
          <p:nvPr/>
        </p:nvSpPr>
        <p:spPr>
          <a:xfrm>
            <a:off x="3154680" y="4800600"/>
            <a:ext cx="1188720" cy="310896"/>
          </a:xfrm>
          <a:prstGeom prst="roundRect">
            <a:avLst>
              <a:gd name="adj" fmla="val 50000"/>
            </a:avLst>
          </a:prstGeom>
          <a:solidFill>
            <a:srgbClr val="0B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hip"/>
          <p:cNvSpPr txBox="1"/>
          <p:nvPr/>
        </p:nvSpPr>
        <p:spPr>
          <a:xfrm>
            <a:off x="3154680" y="4800600"/>
            <a:ext cx="1188720" cy="310896"/>
          </a:xfrm>
          <a:prstGeom prst="rect">
            <a:avLst/>
          </a:prstGeom>
          <a:noFill/>
        </p:spPr>
        <p:txBody>
          <a:bodyPr wrap="square" lIns="0" rIns="0" tIns="0" bIns="0" anchor="ctr">
            <a:spAutoFit/>
          </a:bodyPr>
          <a:lstStyle/>
          <a:p>
            <a:pPr algn="ctr"/>
            <a:r>
              <a:rPr sz="1050" b="1" i="0">
                <a:solidFill>
                  <a:srgbClr val="FFFFFF"/>
                </a:solidFill>
              </a:rPr>
              <a:t>QUERY</a:t>
            </a:r>
          </a:p>
        </p:txBody>
      </p:sp>
      <p:sp>
        <p:nvSpPr>
          <p:cNvPr id="35" name="Text"/>
          <p:cNvSpPr txBox="1"/>
          <p:nvPr/>
        </p:nvSpPr>
        <p:spPr>
          <a:xfrm>
            <a:off x="4480560" y="4617720"/>
            <a:ext cx="4663440" cy="685800"/>
          </a:xfrm>
          <a:prstGeom prst="rect">
            <a:avLst/>
          </a:prstGeom>
          <a:noFill/>
        </p:spPr>
        <p:txBody>
          <a:bodyPr wrap="square" lIns="0" rIns="0" tIns="0" bIns="0" anchor="ctr">
            <a:spAutoFit/>
          </a:bodyPr>
          <a:lstStyle/>
          <a:p>
            <a:pPr algn="l"/>
            <a:r>
              <a:rPr sz="1150" b="0" i="0">
                <a:solidFill>
                  <a:srgbClr val="1E262B"/>
                </a:solidFill>
              </a:rPr>
              <a:t>reads the facts of one or more contexts by declared identifiers; changes nothing; serves the screen</a:t>
            </a:r>
          </a:p>
        </p:txBody>
      </p:sp>
      <p:cxnSp>
        <p:nvCxnSpPr>
          <p:cNvPr id="36" name="Connector 35"/>
          <p:cNvCxnSpPr/>
          <p:nvPr/>
        </p:nvCxnSpPr>
        <p:spPr>
          <a:xfrm>
            <a:off x="2926080" y="4160520"/>
            <a:ext cx="1188720" cy="411480"/>
          </a:xfrm>
          <a:prstGeom prst="line">
            <a:avLst/>
          </a:prstGeom>
          <a:ln w="19050">
            <a:solidFill>
              <a:srgbClr val="5E6A7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8046720" y="4160520"/>
            <a:ext cx="1188720" cy="411480"/>
          </a:xfrm>
          <a:prstGeom prst="line">
            <a:avLst/>
          </a:prstGeom>
          <a:ln w="19050">
            <a:solidFill>
              <a:srgbClr val="5E6A7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
          <p:cNvSpPr txBox="1"/>
          <p:nvPr/>
        </p:nvSpPr>
        <p:spPr>
          <a:xfrm>
            <a:off x="548640" y="5577840"/>
            <a:ext cx="11091672" cy="457200"/>
          </a:xfrm>
          <a:prstGeom prst="rect">
            <a:avLst/>
          </a:prstGeom>
          <a:noFill/>
        </p:spPr>
        <p:txBody>
          <a:bodyPr wrap="square" lIns="0" rIns="0" tIns="0" bIns="0" anchor="t">
            <a:spAutoFit/>
          </a:bodyPr>
          <a:lstStyle/>
          <a:p>
            <a:pPr algn="ctr"/>
            <a:r>
              <a:rPr sz="1300" b="1" i="0">
                <a:solidFill>
                  <a:srgbClr val="0B4A4A"/>
                </a:solidFill>
              </a:rPr>
              <a:t>Everything runs under one principal: a person through the position they occupy, or a named automation with a written grant.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Business Context</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CONCEPTS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7</a:t>
            </a:r>
          </a:p>
        </p:txBody>
      </p:sp>
      <p:sp>
        <p:nvSpPr>
          <p:cNvPr id="5" name="Text"/>
          <p:cNvSpPr txBox="1"/>
          <p:nvPr/>
        </p:nvSpPr>
        <p:spPr>
          <a:xfrm>
            <a:off x="548640" y="1298448"/>
            <a:ext cx="11091672" cy="868680"/>
          </a:xfrm>
          <a:prstGeom prst="rect">
            <a:avLst/>
          </a:prstGeom>
          <a:noFill/>
        </p:spPr>
        <p:txBody>
          <a:bodyPr wrap="square" lIns="0" rIns="0" tIns="0" bIns="0" anchor="ctr">
            <a:spAutoFit/>
          </a:bodyPr>
          <a:lstStyle/>
          <a:p>
            <a:pPr algn="l"/>
            <a:r>
              <a:rPr sz="1900" b="0" i="0">
                <a:solidFill>
                  <a:srgbClr val="0B4A4A"/>
                </a:solidFill>
              </a:rPr>
              <a:t>A context owns one slice of the company's facts and the rules about them. Every fact has exactly one owner.</a:t>
            </a:r>
          </a:p>
        </p:txBody>
      </p:sp>
      <p:sp>
        <p:nvSpPr>
          <p:cNvPr id="6" name="Card"/>
          <p:cNvSpPr/>
          <p:nvPr/>
        </p:nvSpPr>
        <p:spPr>
          <a:xfrm>
            <a:off x="548640" y="2286000"/>
            <a:ext cx="5486400" cy="3063240"/>
          </a:xfrm>
          <a:prstGeom prst="roundRect">
            <a:avLst>
              <a:gd name="adj" fmla="val 2686"/>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450592"/>
            <a:ext cx="5029200" cy="329184"/>
          </a:xfrm>
          <a:prstGeom prst="rect">
            <a:avLst/>
          </a:prstGeom>
          <a:noFill/>
        </p:spPr>
        <p:txBody>
          <a:bodyPr wrap="square" lIns="0" rIns="0" tIns="0" bIns="0" anchor="t">
            <a:spAutoFit/>
          </a:bodyPr>
          <a:lstStyle/>
          <a:p>
            <a:pPr algn="l"/>
            <a:r>
              <a:rPr sz="1400" b="1" i="0">
                <a:solidFill>
                  <a:srgbClr val="0B6463"/>
                </a:solidFill>
              </a:rPr>
              <a:t>In our example</a:t>
            </a:r>
          </a:p>
        </p:txBody>
      </p:sp>
      <p:sp>
        <p:nvSpPr>
          <p:cNvPr id="8" name="Text"/>
          <p:cNvSpPr txBox="1"/>
          <p:nvPr/>
        </p:nvSpPr>
        <p:spPr>
          <a:xfrm>
            <a:off x="777240" y="2816352"/>
            <a:ext cx="5029200" cy="2423160"/>
          </a:xfrm>
          <a:prstGeom prst="rect">
            <a:avLst/>
          </a:prstGeom>
          <a:noFill/>
        </p:spPr>
        <p:txBody>
          <a:bodyPr wrap="square" lIns="0" rIns="0" tIns="0" bIns="0" anchor="t">
            <a:spAutoFit/>
          </a:bodyPr>
          <a:lstStyle/>
          <a:p>
            <a:pPr algn="l">
              <a:spcAft>
                <a:spcPts val="500"/>
              </a:spcAft>
            </a:pPr>
            <a:r>
              <a:rPr sz="1300" b="1" i="0">
                <a:solidFill>
                  <a:srgbClr val="0B6463"/>
                </a:solidFill>
              </a:rPr>
              <a:t>Procurement</a:t>
            </a:r>
            <a:r>
              <a:rPr sz="1300" b="0" i="0">
                <a:solidFill>
                  <a:srgbClr val="1E262B"/>
                </a:solidFill>
              </a:rPr>
              <a:t> owns the Works Order, its milestones, the completion confirmation and the match.</a:t>
            </a:r>
          </a:p>
          <a:p>
            <a:pPr algn="l">
              <a:spcAft>
                <a:spcPts val="500"/>
              </a:spcAft>
            </a:pPr>
            <a:r>
              <a:rPr sz="1300" b="1" i="0">
                <a:solidFill>
                  <a:srgbClr val="0B6463"/>
                </a:solidFill>
              </a:rPr>
              <a:t>Finance</a:t>
            </a:r>
            <a:r>
              <a:rPr sz="1300" b="0" i="0">
                <a:solidFill>
                  <a:srgbClr val="1E262B"/>
                </a:solidFill>
              </a:rPr>
              <a:t> owns the service invoice, its posting and the variance decision.</a:t>
            </a:r>
          </a:p>
          <a:p>
            <a:pPr algn="l">
              <a:spcAft>
                <a:spcPts val="500"/>
              </a:spcAft>
            </a:pPr>
            <a:r>
              <a:rPr sz="1300" b="1" i="0">
                <a:solidFill>
                  <a:srgbClr val="0B6463"/>
                </a:solidFill>
              </a:rPr>
              <a:t>Parties and Contacts</a:t>
            </a:r>
            <a:r>
              <a:rPr sz="1300" b="0" i="0">
                <a:solidFill>
                  <a:srgbClr val="1E262B"/>
                </a:solidFill>
              </a:rPr>
              <a:t> owns the contractor's record. It is part of the Foundation: always present, shared by every context.</a:t>
            </a:r>
          </a:p>
          <a:p>
            <a:pPr algn="l">
              <a:spcAft>
                <a:spcPts val="500"/>
              </a:spcAft>
            </a:pPr>
            <a:r>
              <a:rPr sz="1300" b="1" i="0">
                <a:solidFill>
                  <a:srgbClr val="0B6463"/>
                </a:solidFill>
              </a:rPr>
              <a:t>HR</a:t>
            </a:r>
            <a:r>
              <a:rPr sz="1300" b="0" i="0">
                <a:solidFill>
                  <a:srgbClr val="1E262B"/>
                </a:solidFill>
              </a:rPr>
              <a:t> owns positions and who occupies them. Authority is read from there.</a:t>
            </a:r>
          </a:p>
          <a:p>
            <a:pPr algn="l">
              <a:spcAft>
                <a:spcPts val="500"/>
              </a:spcAft>
            </a:pPr>
            <a:r>
              <a:rPr sz="1300" b="0" i="0">
                <a:solidFill>
                  <a:srgbClr val="1E262B"/>
                </a:solidFill>
              </a:rPr>
              <a:t>The match reads the Works Order, the confirmation and the invoice. It writes only in Procurement.</a:t>
            </a:r>
          </a:p>
        </p:txBody>
      </p:sp>
      <p:sp>
        <p:nvSpPr>
          <p:cNvPr id="9" name="Card"/>
          <p:cNvSpPr/>
          <p:nvPr/>
        </p:nvSpPr>
        <p:spPr>
          <a:xfrm>
            <a:off x="6217920" y="2286000"/>
            <a:ext cx="5422392" cy="3063240"/>
          </a:xfrm>
          <a:prstGeom prst="roundRect">
            <a:avLst>
              <a:gd name="adj" fmla="val 2686"/>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446520" y="2450592"/>
            <a:ext cx="4965192" cy="329184"/>
          </a:xfrm>
          <a:prstGeom prst="rect">
            <a:avLst/>
          </a:prstGeom>
          <a:noFill/>
        </p:spPr>
        <p:txBody>
          <a:bodyPr wrap="square" lIns="0" rIns="0" tIns="0" bIns="0" anchor="t">
            <a:spAutoFit/>
          </a:bodyPr>
          <a:lstStyle/>
          <a:p>
            <a:pPr algn="l"/>
            <a:r>
              <a:rPr sz="1400" b="1" i="0">
                <a:solidFill>
                  <a:srgbClr val="0B6463"/>
                </a:solidFill>
              </a:rPr>
              <a:t>The rules</a:t>
            </a:r>
          </a:p>
        </p:txBody>
      </p:sp>
      <p:sp>
        <p:nvSpPr>
          <p:cNvPr id="11" name="Text"/>
          <p:cNvSpPr txBox="1"/>
          <p:nvPr/>
        </p:nvSpPr>
        <p:spPr>
          <a:xfrm>
            <a:off x="6446520" y="2816352"/>
            <a:ext cx="4965192" cy="2423160"/>
          </a:xfrm>
          <a:prstGeom prst="rect">
            <a:avLst/>
          </a:prstGeom>
          <a:noFill/>
        </p:spPr>
        <p:txBody>
          <a:bodyPr wrap="square" lIns="0" rIns="0" tIns="0" bIns="0" anchor="t">
            <a:spAutoFit/>
          </a:bodyPr>
          <a:lstStyle/>
          <a:p>
            <a:pPr algn="l">
              <a:spcAft>
                <a:spcPts val="500"/>
              </a:spcAft>
            </a:pPr>
            <a:r>
              <a:rPr sz="1300" b="0" i="0">
                <a:solidFill>
                  <a:srgbClr val="1E262B"/>
                </a:solidFill>
              </a:rPr>
              <a:t>· Every fact has exactly one owning context.</a:t>
            </a:r>
          </a:p>
          <a:p>
            <a:pPr algn="l">
              <a:spcAft>
                <a:spcPts val="500"/>
              </a:spcAft>
            </a:pPr>
            <a:r>
              <a:rPr sz="1300" b="0" i="0">
                <a:solidFill>
                  <a:srgbClr val="1E262B"/>
                </a:solidFill>
              </a:rPr>
              <a:t>· All writes go through the owner's actions.</a:t>
            </a:r>
          </a:p>
          <a:p>
            <a:pPr algn="l">
              <a:spcAft>
                <a:spcPts val="500"/>
              </a:spcAft>
            </a:pPr>
            <a:r>
              <a:rPr sz="1300" b="0" i="0">
                <a:solidFill>
                  <a:srgbClr val="1E262B"/>
                </a:solidFill>
              </a:rPr>
              <a:t>· Contexts may share a database. They never share a table or a write path.</a:t>
            </a:r>
          </a:p>
          <a:p>
            <a:pPr algn="l">
              <a:spcAft>
                <a:spcPts val="500"/>
              </a:spcAft>
            </a:pPr>
            <a:r>
              <a:rPr sz="1300" b="0" i="0">
                <a:solidFill>
                  <a:srgbClr val="1E262B"/>
                </a:solidFill>
              </a:rPr>
              <a:t>· Contexts talk only by actions, events and queries.</a:t>
            </a:r>
          </a:p>
          <a:p>
            <a:pPr algn="l">
              <a:spcAft>
                <a:spcPts val="500"/>
              </a:spcAft>
            </a:pPr>
            <a:r>
              <a:rPr sz="1300" b="0" i="0">
                <a:solidFill>
                  <a:srgbClr val="1E262B"/>
                </a:solidFill>
              </a:rPr>
              <a:t>· Which contexts exist comes from the business, not from a module list.</a:t>
            </a:r>
          </a:p>
        </p:txBody>
      </p:sp>
      <p:sp>
        <p:nvSpPr>
          <p:cNvPr id="12" name="Finding"/>
          <p:cNvSpPr/>
          <p:nvPr/>
        </p:nvSpPr>
        <p:spPr>
          <a:xfrm>
            <a:off x="548640" y="5532120"/>
            <a:ext cx="11091672" cy="530352"/>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822960" y="5532120"/>
            <a:ext cx="10543032" cy="530352"/>
          </a:xfrm>
          <a:prstGeom prst="rect">
            <a:avLst/>
          </a:prstGeom>
          <a:noFill/>
        </p:spPr>
        <p:txBody>
          <a:bodyPr wrap="square" lIns="0" rIns="0" tIns="0" bIns="0" anchor="ctr">
            <a:spAutoFit/>
          </a:bodyPr>
          <a:lstStyle/>
          <a:p>
            <a:pPr algn="l"/>
            <a:r>
              <a:rPr sz="1350" b="1" i="0">
                <a:solidFill>
                  <a:srgbClr val="1E262B"/>
                </a:solidFill>
              </a:rPr>
              <a:t>Keep this.  </a:t>
            </a:r>
            <a:r>
              <a:rPr sz="1350" b="0" i="0">
                <a:solidFill>
                  <a:srgbClr val="1E262B"/>
                </a:solidFill>
              </a:rPr>
              <a:t>If you need another context's fact to change, you call its action. You never reach into its 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Business Entity</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CONCEPTS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8</a:t>
            </a:r>
          </a:p>
        </p:txBody>
      </p:sp>
      <p:sp>
        <p:nvSpPr>
          <p:cNvPr id="5" name="Text"/>
          <p:cNvSpPr txBox="1"/>
          <p:nvPr/>
        </p:nvSpPr>
        <p:spPr>
          <a:xfrm>
            <a:off x="548640" y="1298448"/>
            <a:ext cx="11091672" cy="868680"/>
          </a:xfrm>
          <a:prstGeom prst="rect">
            <a:avLst/>
          </a:prstGeom>
          <a:noFill/>
        </p:spPr>
        <p:txBody>
          <a:bodyPr wrap="square" lIns="0" rIns="0" tIns="0" bIns="0" anchor="ctr">
            <a:spAutoFit/>
          </a:bodyPr>
          <a:lstStyle/>
          <a:p>
            <a:pPr algn="l"/>
            <a:r>
              <a:rPr sz="1900" b="0" i="0">
                <a:solidFill>
                  <a:srgbClr val="0B4A4A"/>
                </a:solidFill>
              </a:rPr>
              <a:t>An entity is a thing with an identity, a life of named states, and a history of every change.</a:t>
            </a:r>
          </a:p>
        </p:txBody>
      </p:sp>
      <p:sp>
        <p:nvSpPr>
          <p:cNvPr id="6" name="Card"/>
          <p:cNvSpPr/>
          <p:nvPr/>
        </p:nvSpPr>
        <p:spPr>
          <a:xfrm>
            <a:off x="548640" y="2286000"/>
            <a:ext cx="5486400" cy="3063240"/>
          </a:xfrm>
          <a:prstGeom prst="roundRect">
            <a:avLst>
              <a:gd name="adj" fmla="val 2686"/>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450592"/>
            <a:ext cx="5029200" cy="329184"/>
          </a:xfrm>
          <a:prstGeom prst="rect">
            <a:avLst/>
          </a:prstGeom>
          <a:noFill/>
        </p:spPr>
        <p:txBody>
          <a:bodyPr wrap="square" lIns="0" rIns="0" tIns="0" bIns="0" anchor="t">
            <a:spAutoFit/>
          </a:bodyPr>
          <a:lstStyle/>
          <a:p>
            <a:pPr algn="l"/>
            <a:r>
              <a:rPr sz="1400" b="1" i="0">
                <a:solidFill>
                  <a:srgbClr val="0B6463"/>
                </a:solidFill>
              </a:rPr>
              <a:t>In our example</a:t>
            </a:r>
          </a:p>
        </p:txBody>
      </p:sp>
      <p:sp>
        <p:nvSpPr>
          <p:cNvPr id="8" name="Text"/>
          <p:cNvSpPr txBox="1"/>
          <p:nvPr/>
        </p:nvSpPr>
        <p:spPr>
          <a:xfrm>
            <a:off x="777240" y="2816352"/>
            <a:ext cx="5029200" cy="2423160"/>
          </a:xfrm>
          <a:prstGeom prst="rect">
            <a:avLst/>
          </a:prstGeom>
          <a:noFill/>
        </p:spPr>
        <p:txBody>
          <a:bodyPr wrap="square" lIns="0" rIns="0" tIns="0" bIns="0" anchor="t">
            <a:spAutoFit/>
          </a:bodyPr>
          <a:lstStyle/>
          <a:p>
            <a:pPr algn="l">
              <a:spcAft>
                <a:spcPts val="500"/>
              </a:spcAft>
            </a:pPr>
            <a:r>
              <a:rPr sz="1300" b="1" i="0">
                <a:solidFill>
                  <a:srgbClr val="0B6463"/>
                </a:solidFill>
              </a:rPr>
              <a:t>Works Order</a:t>
            </a:r>
            <a:r>
              <a:rPr sz="1300" b="0" i="0">
                <a:solidFill>
                  <a:srgbClr val="1E262B"/>
                </a:solidFill>
              </a:rPr>
              <a:t>: draft → submitted → approved → in progress → closed.</a:t>
            </a:r>
          </a:p>
          <a:p>
            <a:pPr algn="l">
              <a:spcAft>
                <a:spcPts val="500"/>
              </a:spcAft>
            </a:pPr>
            <a:r>
              <a:rPr sz="1300" b="1" i="0">
                <a:solidFill>
                  <a:srgbClr val="0B6463"/>
                </a:solidFill>
              </a:rPr>
              <a:t>Completion confirmation</a:t>
            </a:r>
            <a:r>
              <a:rPr sz="1300" b="0" i="0">
                <a:solidFill>
                  <a:srgbClr val="1E262B"/>
                </a:solidFill>
              </a:rPr>
              <a:t>: requested → confirmed in full | confirmed in part | declined.</a:t>
            </a:r>
          </a:p>
          <a:p>
            <a:pPr algn="l">
              <a:spcAft>
                <a:spcPts val="500"/>
              </a:spcAft>
            </a:pPr>
            <a:r>
              <a:rPr sz="1300" b="1" i="0">
                <a:solidFill>
                  <a:srgbClr val="0B6463"/>
                </a:solidFill>
              </a:rPr>
              <a:t>Works Order approval</a:t>
            </a:r>
            <a:r>
              <a:rPr sz="1300" b="0" i="0">
                <a:solidFill>
                  <a:srgbClr val="1E262B"/>
                </a:solidFill>
              </a:rPr>
              <a:t>: requested → approved | rejected | expired. The approval instance is an entity too.</a:t>
            </a:r>
          </a:p>
          <a:p>
            <a:pPr algn="l">
              <a:spcAft>
                <a:spcPts val="500"/>
              </a:spcAft>
            </a:pPr>
            <a:r>
              <a:rPr sz="1300" b="0" i="0">
                <a:solidFill>
                  <a:srgbClr val="1E262B"/>
                </a:solidFill>
              </a:rPr>
              <a:t>Each state change traces to the action that caused it, and to who ran it.</a:t>
            </a:r>
          </a:p>
          <a:p>
            <a:pPr algn="l">
              <a:spcAft>
                <a:spcPts val="500"/>
              </a:spcAft>
            </a:pPr>
            <a:r>
              <a:rPr sz="1300" b="0" i="0">
                <a:solidFill>
                  <a:srgbClr val="1E262B"/>
                </a:solidFill>
              </a:rPr>
              <a:t>The states are illustrative; the state map we draw in stage 3 is the real one.</a:t>
            </a:r>
          </a:p>
        </p:txBody>
      </p:sp>
      <p:sp>
        <p:nvSpPr>
          <p:cNvPr id="9" name="Card"/>
          <p:cNvSpPr/>
          <p:nvPr/>
        </p:nvSpPr>
        <p:spPr>
          <a:xfrm>
            <a:off x="6217920" y="2286000"/>
            <a:ext cx="5422392" cy="3063240"/>
          </a:xfrm>
          <a:prstGeom prst="roundRect">
            <a:avLst>
              <a:gd name="adj" fmla="val 2686"/>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446520" y="2450592"/>
            <a:ext cx="4965192" cy="329184"/>
          </a:xfrm>
          <a:prstGeom prst="rect">
            <a:avLst/>
          </a:prstGeom>
          <a:noFill/>
        </p:spPr>
        <p:txBody>
          <a:bodyPr wrap="square" lIns="0" rIns="0" tIns="0" bIns="0" anchor="t">
            <a:spAutoFit/>
          </a:bodyPr>
          <a:lstStyle/>
          <a:p>
            <a:pPr algn="l"/>
            <a:r>
              <a:rPr sz="1400" b="1" i="0">
                <a:solidFill>
                  <a:srgbClr val="0B6463"/>
                </a:solidFill>
              </a:rPr>
              <a:t>The rules</a:t>
            </a:r>
          </a:p>
        </p:txBody>
      </p:sp>
      <p:sp>
        <p:nvSpPr>
          <p:cNvPr id="11" name="Text"/>
          <p:cNvSpPr txBox="1"/>
          <p:nvPr/>
        </p:nvSpPr>
        <p:spPr>
          <a:xfrm>
            <a:off x="6446520" y="2816352"/>
            <a:ext cx="4965192" cy="2423160"/>
          </a:xfrm>
          <a:prstGeom prst="rect">
            <a:avLst/>
          </a:prstGeom>
          <a:noFill/>
        </p:spPr>
        <p:txBody>
          <a:bodyPr wrap="square" lIns="0" rIns="0" tIns="0" bIns="0" anchor="t">
            <a:spAutoFit/>
          </a:bodyPr>
          <a:lstStyle/>
          <a:p>
            <a:pPr algn="l">
              <a:spcAft>
                <a:spcPts val="500"/>
              </a:spcAft>
            </a:pPr>
            <a:r>
              <a:rPr sz="1300" b="0" i="0">
                <a:solidFill>
                  <a:srgbClr val="1E262B"/>
                </a:solidFill>
              </a:rPr>
              <a:t>· Each entity type belongs to one context.</a:t>
            </a:r>
          </a:p>
          <a:p>
            <a:pPr algn="l">
              <a:spcAft>
                <a:spcPts val="500"/>
              </a:spcAft>
            </a:pPr>
            <a:r>
              <a:rPr sz="1300" b="0" i="0">
                <a:solidFill>
                  <a:srgbClr val="1E262B"/>
                </a:solidFill>
              </a:rPr>
              <a:t>· Its states and the moves between them are declared.</a:t>
            </a:r>
          </a:p>
          <a:p>
            <a:pPr algn="l">
              <a:spcAft>
                <a:spcPts val="500"/>
              </a:spcAft>
            </a:pPr>
            <a:r>
              <a:rPr sz="1300" b="0" i="0">
                <a:solidFill>
                  <a:srgbClr val="1E262B"/>
                </a:solidFill>
              </a:rPr>
              <a:t>· A state changes only through an action. Never as a side effect.</a:t>
            </a:r>
          </a:p>
          <a:p>
            <a:pPr algn="l">
              <a:spcAft>
                <a:spcPts val="500"/>
              </a:spcAft>
            </a:pPr>
            <a:r>
              <a:rPr sz="1300" b="0" i="0">
                <a:solidFill>
                  <a:srgbClr val="1E262B"/>
                </a:solidFill>
              </a:rPr>
              <a:t>· Every instance keeps its history.</a:t>
            </a:r>
          </a:p>
          <a:p>
            <a:pPr algn="l">
              <a:spcAft>
                <a:spcPts val="500"/>
              </a:spcAft>
            </a:pPr>
            <a:r>
              <a:rPr sz="1300" b="0" i="0">
                <a:solidFill>
                  <a:srgbClr val="1E262B"/>
                </a:solidFill>
              </a:rPr>
              <a:t>· State labels stay stable: the screen shows the same word as the engine.</a:t>
            </a:r>
          </a:p>
        </p:txBody>
      </p:sp>
      <p:sp>
        <p:nvSpPr>
          <p:cNvPr id="12" name="Finding"/>
          <p:cNvSpPr/>
          <p:nvPr/>
        </p:nvSpPr>
        <p:spPr>
          <a:xfrm>
            <a:off x="548640" y="5532120"/>
            <a:ext cx="11091672" cy="530352"/>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822960" y="5532120"/>
            <a:ext cx="10543032" cy="530352"/>
          </a:xfrm>
          <a:prstGeom prst="rect">
            <a:avLst/>
          </a:prstGeom>
          <a:noFill/>
        </p:spPr>
        <p:txBody>
          <a:bodyPr wrap="square" lIns="0" rIns="0" tIns="0" bIns="0" anchor="ctr">
            <a:spAutoFit/>
          </a:bodyPr>
          <a:lstStyle/>
          <a:p>
            <a:pPr algn="l"/>
            <a:r>
              <a:rPr sz="1350" b="1" i="0">
                <a:solidFill>
                  <a:srgbClr val="1E262B"/>
                </a:solidFill>
              </a:rPr>
              <a:t>Keep this.  </a:t>
            </a:r>
            <a:r>
              <a:rPr sz="1350" b="0" i="0">
                <a:solidFill>
                  <a:srgbClr val="1E262B"/>
                </a:solidFill>
              </a:rPr>
              <a:t>The state map from stage 3 is the entity's lifecycle. The engine implements it as drawn.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Action</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CONCEPTS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9</a:t>
            </a:r>
          </a:p>
        </p:txBody>
      </p:sp>
      <p:sp>
        <p:nvSpPr>
          <p:cNvPr id="5" name="Text"/>
          <p:cNvSpPr txBox="1"/>
          <p:nvPr/>
        </p:nvSpPr>
        <p:spPr>
          <a:xfrm>
            <a:off x="548640" y="1298448"/>
            <a:ext cx="11091672" cy="868680"/>
          </a:xfrm>
          <a:prstGeom prst="rect">
            <a:avLst/>
          </a:prstGeom>
          <a:noFill/>
        </p:spPr>
        <p:txBody>
          <a:bodyPr wrap="square" lIns="0" rIns="0" tIns="0" bIns="0" anchor="ctr">
            <a:spAutoFit/>
          </a:bodyPr>
          <a:lstStyle/>
          <a:p>
            <a:pPr algn="l"/>
            <a:r>
              <a:rPr sz="1900" b="0" i="0">
                <a:solidFill>
                  <a:srgbClr val="0B4A4A"/>
                </a:solidFill>
              </a:rPr>
              <a:t>An action is the only way a fact changes. It belongs to the context that owns the fact. A task's ending is an action.</a:t>
            </a:r>
          </a:p>
        </p:txBody>
      </p:sp>
      <p:sp>
        <p:nvSpPr>
          <p:cNvPr id="6" name="Card"/>
          <p:cNvSpPr/>
          <p:nvPr/>
        </p:nvSpPr>
        <p:spPr>
          <a:xfrm>
            <a:off x="548640" y="2286000"/>
            <a:ext cx="5486400" cy="3063240"/>
          </a:xfrm>
          <a:prstGeom prst="roundRect">
            <a:avLst>
              <a:gd name="adj" fmla="val 2686"/>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450592"/>
            <a:ext cx="5029200" cy="329184"/>
          </a:xfrm>
          <a:prstGeom prst="rect">
            <a:avLst/>
          </a:prstGeom>
          <a:noFill/>
        </p:spPr>
        <p:txBody>
          <a:bodyPr wrap="square" lIns="0" rIns="0" tIns="0" bIns="0" anchor="t">
            <a:spAutoFit/>
          </a:bodyPr>
          <a:lstStyle/>
          <a:p>
            <a:pPr algn="l"/>
            <a:r>
              <a:rPr sz="1400" b="1" i="0">
                <a:solidFill>
                  <a:srgbClr val="0B6463"/>
                </a:solidFill>
              </a:rPr>
              <a:t>In our example</a:t>
            </a:r>
          </a:p>
        </p:txBody>
      </p:sp>
      <p:sp>
        <p:nvSpPr>
          <p:cNvPr id="8" name="Text"/>
          <p:cNvSpPr txBox="1"/>
          <p:nvPr/>
        </p:nvSpPr>
        <p:spPr>
          <a:xfrm>
            <a:off x="777240" y="2816352"/>
            <a:ext cx="5029200" cy="2423160"/>
          </a:xfrm>
          <a:prstGeom prst="rect">
            <a:avLst/>
          </a:prstGeom>
          <a:noFill/>
        </p:spPr>
        <p:txBody>
          <a:bodyPr wrap="square" lIns="0" rIns="0" tIns="0" bIns="0" anchor="t">
            <a:spAutoFit/>
          </a:bodyPr>
          <a:lstStyle/>
          <a:p>
            <a:pPr algn="l">
              <a:spcAft>
                <a:spcPts val="500"/>
              </a:spcAft>
            </a:pPr>
            <a:r>
              <a:rPr sz="1300" b="0" i="0">
                <a:solidFill>
                  <a:srgbClr val="1E262B"/>
                </a:solidFill>
              </a:rPr>
              <a:t>Raise a Works Order  →  </a:t>
            </a:r>
            <a:r>
              <a:rPr sz="1300" b="1" i="0">
                <a:solidFill>
                  <a:srgbClr val="0B6463"/>
                </a:solidFill>
              </a:rPr>
              <a:t>RaiseWorksOrder</a:t>
            </a:r>
            <a:r>
              <a:rPr sz="1300" b="0" i="0">
                <a:solidFill>
                  <a:srgbClr val="1E262B"/>
                </a:solidFill>
              </a:rPr>
              <a:t>, owned by Procurement.</a:t>
            </a:r>
          </a:p>
          <a:p>
            <a:pPr algn="l">
              <a:spcAft>
                <a:spcPts val="500"/>
              </a:spcAft>
            </a:pPr>
            <a:r>
              <a:rPr sz="1300" b="0" i="0">
                <a:solidFill>
                  <a:srgbClr val="1E262B"/>
                </a:solidFill>
              </a:rPr>
              <a:t>Inputs: scope, value, milestones, validity, tax treatment, the contractor.</a:t>
            </a:r>
          </a:p>
          <a:p>
            <a:pPr algn="l">
              <a:spcAft>
                <a:spcPts val="500"/>
              </a:spcAft>
            </a:pPr>
            <a:r>
              <a:rPr sz="1300" b="0" i="0">
                <a:solidFill>
                  <a:srgbClr val="1E262B"/>
                </a:solidFill>
              </a:rPr>
              <a:t>Effect: the Works Order exists and is submitted for approval.</a:t>
            </a:r>
          </a:p>
          <a:p>
            <a:pPr algn="l">
              <a:spcAft>
                <a:spcPts val="500"/>
              </a:spcAft>
            </a:pPr>
            <a:r>
              <a:rPr sz="1300" b="0" i="0">
                <a:solidFill>
                  <a:srgbClr val="1E262B"/>
                </a:solidFill>
              </a:rPr>
              <a:t>Publishes: </a:t>
            </a:r>
            <a:r>
              <a:rPr sz="1300" b="1" i="0">
                <a:solidFill>
                  <a:srgbClr val="0B6463"/>
                </a:solidFill>
              </a:rPr>
              <a:t>WorksOrderSubmitted</a:t>
            </a:r>
            <a:r>
              <a:rPr sz="1300" b="0" i="0">
                <a:solidFill>
                  <a:srgbClr val="1E262B"/>
                </a:solidFill>
              </a:rPr>
              <a:t>.</a:t>
            </a:r>
          </a:p>
          <a:p>
            <a:pPr algn="l">
              <a:spcAft>
                <a:spcPts val="500"/>
              </a:spcAft>
            </a:pPr>
            <a:r>
              <a:rPr sz="1300" b="0" i="0">
                <a:solidFill>
                  <a:srgbClr val="1E262B"/>
                </a:solidFill>
              </a:rPr>
              <a:t>Later in the thread: </a:t>
            </a:r>
            <a:r>
              <a:rPr sz="1300" b="1" i="0">
                <a:solidFill>
                  <a:srgbClr val="0B6463"/>
                </a:solidFill>
              </a:rPr>
              <a:t>ConfirmServiceCompletion</a:t>
            </a:r>
            <a:r>
              <a:rPr sz="1300" b="0" i="0">
                <a:solidFill>
                  <a:srgbClr val="1E262B"/>
                </a:solidFill>
              </a:rPr>
              <a:t>, </a:t>
            </a:r>
            <a:r>
              <a:rPr sz="1300" b="1" i="0">
                <a:solidFill>
                  <a:srgbClr val="0B6463"/>
                </a:solidFill>
              </a:rPr>
              <a:t>CaptureServiceInvoice</a:t>
            </a:r>
            <a:r>
              <a:rPr sz="1300" b="0" i="0">
                <a:solidFill>
                  <a:srgbClr val="1E262B"/>
                </a:solidFill>
              </a:rPr>
              <a:t>, </a:t>
            </a:r>
            <a:r>
              <a:rPr sz="1300" b="1" i="0">
                <a:solidFill>
                  <a:srgbClr val="0B6463"/>
                </a:solidFill>
              </a:rPr>
              <a:t>MatchServiceInvoice</a:t>
            </a:r>
            <a:r>
              <a:rPr sz="1300" b="0" i="0">
                <a:solidFill>
                  <a:srgbClr val="1E262B"/>
                </a:solidFill>
              </a:rPr>
              <a:t>.</a:t>
            </a:r>
          </a:p>
        </p:txBody>
      </p:sp>
      <p:sp>
        <p:nvSpPr>
          <p:cNvPr id="9" name="Card"/>
          <p:cNvSpPr/>
          <p:nvPr/>
        </p:nvSpPr>
        <p:spPr>
          <a:xfrm>
            <a:off x="6217920" y="2286000"/>
            <a:ext cx="5422392" cy="3063240"/>
          </a:xfrm>
          <a:prstGeom prst="roundRect">
            <a:avLst>
              <a:gd name="adj" fmla="val 2686"/>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446520" y="2450592"/>
            <a:ext cx="4965192" cy="329184"/>
          </a:xfrm>
          <a:prstGeom prst="rect">
            <a:avLst/>
          </a:prstGeom>
          <a:noFill/>
        </p:spPr>
        <p:txBody>
          <a:bodyPr wrap="square" lIns="0" rIns="0" tIns="0" bIns="0" anchor="t">
            <a:spAutoFit/>
          </a:bodyPr>
          <a:lstStyle/>
          <a:p>
            <a:pPr algn="l"/>
            <a:r>
              <a:rPr sz="1400" b="1" i="0">
                <a:solidFill>
                  <a:srgbClr val="0B6463"/>
                </a:solidFill>
              </a:rPr>
              <a:t>The rules</a:t>
            </a:r>
          </a:p>
        </p:txBody>
      </p:sp>
      <p:sp>
        <p:nvSpPr>
          <p:cNvPr id="11" name="Text"/>
          <p:cNvSpPr txBox="1"/>
          <p:nvPr/>
        </p:nvSpPr>
        <p:spPr>
          <a:xfrm>
            <a:off x="6446520" y="2816352"/>
            <a:ext cx="4965192" cy="2423160"/>
          </a:xfrm>
          <a:prstGeom prst="rect">
            <a:avLst/>
          </a:prstGeom>
          <a:noFill/>
        </p:spPr>
        <p:txBody>
          <a:bodyPr wrap="square" lIns="0" rIns="0" tIns="0" bIns="0" anchor="t">
            <a:spAutoFit/>
          </a:bodyPr>
          <a:lstStyle/>
          <a:p>
            <a:pPr algn="l">
              <a:spcAft>
                <a:spcPts val="500"/>
              </a:spcAft>
            </a:pPr>
            <a:r>
              <a:rPr sz="1300" b="0" i="0">
                <a:solidFill>
                  <a:srgbClr val="1E262B"/>
                </a:solidFill>
              </a:rPr>
              <a:t>· One owning context per action.</a:t>
            </a:r>
          </a:p>
          <a:p>
            <a:pPr algn="l">
              <a:spcAft>
                <a:spcPts val="500"/>
              </a:spcAft>
            </a:pPr>
            <a:r>
              <a:rPr sz="1300" b="0" i="0">
                <a:solidFill>
                  <a:srgbClr val="1E262B"/>
                </a:solidFill>
              </a:rPr>
              <a:t>· It may change several facts at once. One field update is not its own action.</a:t>
            </a:r>
          </a:p>
          <a:p>
            <a:pPr algn="l">
              <a:spcAft>
                <a:spcPts val="500"/>
              </a:spcAft>
            </a:pPr>
            <a:r>
              <a:rPr sz="1300" b="0" i="0">
                <a:solidFill>
                  <a:srgbClr val="1E262B"/>
                </a:solidFill>
              </a:rPr>
              <a:t>· Its name, label and meaning stay the same everywhere it appears.</a:t>
            </a:r>
          </a:p>
          <a:p>
            <a:pPr algn="l">
              <a:spcAft>
                <a:spcPts val="500"/>
              </a:spcAft>
            </a:pPr>
            <a:r>
              <a:rPr sz="1300" b="0" i="0">
                <a:solidFill>
                  <a:srgbClr val="1E262B"/>
                </a:solidFill>
              </a:rPr>
              <a:t>· It declares its gates (next slide).</a:t>
            </a:r>
          </a:p>
          <a:p>
            <a:pPr algn="l">
              <a:spcAft>
                <a:spcPts val="500"/>
              </a:spcAft>
            </a:pPr>
            <a:r>
              <a:rPr sz="1300" b="0" i="0">
                <a:solidFill>
                  <a:srgbClr val="1E262B"/>
                </a:solidFill>
              </a:rPr>
              <a:t>· It is the only visible grammar: the screen never writes a row.</a:t>
            </a:r>
          </a:p>
        </p:txBody>
      </p:sp>
      <p:sp>
        <p:nvSpPr>
          <p:cNvPr id="12" name="Finding"/>
          <p:cNvSpPr/>
          <p:nvPr/>
        </p:nvSpPr>
        <p:spPr>
          <a:xfrm>
            <a:off x="548640" y="5532120"/>
            <a:ext cx="11091672" cy="530352"/>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822960" y="5532120"/>
            <a:ext cx="10543032" cy="530352"/>
          </a:xfrm>
          <a:prstGeom prst="rect">
            <a:avLst/>
          </a:prstGeom>
          <a:noFill/>
        </p:spPr>
        <p:txBody>
          <a:bodyPr wrap="square" lIns="0" rIns="0" tIns="0" bIns="0" anchor="ctr">
            <a:spAutoFit/>
          </a:bodyPr>
          <a:lstStyle/>
          <a:p>
            <a:pPr algn="l"/>
            <a:r>
              <a:rPr sz="1350" b="1" i="0">
                <a:solidFill>
                  <a:srgbClr val="1E262B"/>
                </a:solidFill>
              </a:rPr>
              <a:t>Keep this.  </a:t>
            </a:r>
            <a:r>
              <a:rPr sz="1350" b="0" i="0">
                <a:solidFill>
                  <a:srgbClr val="1E262B"/>
                </a:solidFill>
              </a:rPr>
              <a:t>The ending of a task is an action. The screen's list of buttons is the engine's list of actions this person may take now.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An action declares its gates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CONCEPTS  ·  ACTION</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10</a:t>
            </a:r>
          </a:p>
        </p:txBody>
      </p:sp>
      <p:sp>
        <p:nvSpPr>
          <p:cNvPr id="5" name="Text"/>
          <p:cNvSpPr txBox="1"/>
          <p:nvPr/>
        </p:nvSpPr>
        <p:spPr>
          <a:xfrm>
            <a:off x="548640" y="1298448"/>
            <a:ext cx="11091672" cy="868680"/>
          </a:xfrm>
          <a:prstGeom prst="rect">
            <a:avLst/>
          </a:prstGeom>
          <a:noFill/>
        </p:spPr>
        <p:txBody>
          <a:bodyPr wrap="square" lIns="0" rIns="0" tIns="0" bIns="0" anchor="ctr">
            <a:spAutoFit/>
          </a:bodyPr>
          <a:lstStyle/>
          <a:p>
            <a:pPr algn="l"/>
            <a:r>
              <a:rPr sz="1900" b="0" i="0">
                <a:solidFill>
                  <a:srgbClr val="0B4A4A"/>
                </a:solidFill>
              </a:rPr>
              <a:t>The checks an action makes are written in its declaration, not hidden in code. Everyone who calls passes the same checks.</a:t>
            </a:r>
          </a:p>
        </p:txBody>
      </p:sp>
      <p:sp>
        <p:nvSpPr>
          <p:cNvPr id="6" name="Card"/>
          <p:cNvSpPr/>
          <p:nvPr/>
        </p:nvSpPr>
        <p:spPr>
          <a:xfrm>
            <a:off x="548640" y="2286000"/>
            <a:ext cx="5486400" cy="3063240"/>
          </a:xfrm>
          <a:prstGeom prst="roundRect">
            <a:avLst>
              <a:gd name="adj" fmla="val 2686"/>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450592"/>
            <a:ext cx="5029200" cy="329184"/>
          </a:xfrm>
          <a:prstGeom prst="rect">
            <a:avLst/>
          </a:prstGeom>
          <a:noFill/>
        </p:spPr>
        <p:txBody>
          <a:bodyPr wrap="square" lIns="0" rIns="0" tIns="0" bIns="0" anchor="t">
            <a:spAutoFit/>
          </a:bodyPr>
          <a:lstStyle/>
          <a:p>
            <a:pPr algn="l"/>
            <a:r>
              <a:rPr sz="1400" b="1" i="0">
                <a:solidFill>
                  <a:srgbClr val="0B6463"/>
                </a:solidFill>
              </a:rPr>
              <a:t>In our example</a:t>
            </a:r>
          </a:p>
        </p:txBody>
      </p:sp>
      <p:sp>
        <p:nvSpPr>
          <p:cNvPr id="8" name="Text"/>
          <p:cNvSpPr txBox="1"/>
          <p:nvPr/>
        </p:nvSpPr>
        <p:spPr>
          <a:xfrm>
            <a:off x="777240" y="2816352"/>
            <a:ext cx="5029200" cy="2423160"/>
          </a:xfrm>
          <a:prstGeom prst="rect">
            <a:avLst/>
          </a:prstGeom>
          <a:noFill/>
        </p:spPr>
        <p:txBody>
          <a:bodyPr wrap="square" lIns="0" rIns="0" tIns="0" bIns="0" anchor="t">
            <a:spAutoFit/>
          </a:bodyPr>
          <a:lstStyle/>
          <a:p>
            <a:pPr algn="l">
              <a:spcAft>
                <a:spcPts val="500"/>
              </a:spcAft>
            </a:pPr>
            <a:r>
              <a:rPr sz="1300" b="1" i="0">
                <a:solidFill>
                  <a:srgbClr val="0B6463"/>
                </a:solidFill>
              </a:rPr>
              <a:t>RaiseWorksOrder</a:t>
            </a:r>
            <a:r>
              <a:rPr sz="1300" b="0" i="0">
                <a:solidFill>
                  <a:srgbClr val="1E262B"/>
                </a:solidFill>
              </a:rPr>
              <a:t> may run when:</a:t>
            </a:r>
          </a:p>
          <a:p>
            <a:pPr algn="l">
              <a:spcAft>
                <a:spcPts val="500"/>
              </a:spcAft>
            </a:pPr>
            <a:r>
              <a:rPr sz="1300" b="0" i="0">
                <a:solidFill>
                  <a:srgbClr val="1E262B"/>
                </a:solidFill>
              </a:rPr>
              <a:t>· a department has asked for the service</a:t>
            </a:r>
          </a:p>
          <a:p>
            <a:pPr algn="l">
              <a:spcAft>
                <a:spcPts val="500"/>
              </a:spcAft>
            </a:pPr>
            <a:r>
              <a:rPr sz="1300" b="0" i="0">
                <a:solidFill>
                  <a:srgbClr val="1E262B"/>
                </a:solidFill>
              </a:rPr>
              <a:t>· the contractor is active in Parties and Contacts</a:t>
            </a:r>
          </a:p>
          <a:p>
            <a:pPr algn="l">
              <a:spcAft>
                <a:spcPts val="500"/>
              </a:spcAft>
            </a:pPr>
            <a:r>
              <a:rPr sz="1300" b="0" i="0">
                <a:solidFill>
                  <a:srgbClr val="1E262B"/>
                </a:solidFill>
              </a:rPr>
              <a:t>· scope, value, milestones and validity are given</a:t>
            </a:r>
          </a:p>
          <a:p>
            <a:pPr algn="l">
              <a:spcAft>
                <a:spcPts val="500"/>
              </a:spcAft>
            </a:pPr>
            <a:r>
              <a:rPr sz="1300" b="0" i="0">
                <a:solidFill>
                  <a:srgbClr val="1E262B"/>
                </a:solidFill>
              </a:rPr>
              <a:t>· the caller occupies a position allowed to raise one</a:t>
            </a:r>
          </a:p>
          <a:p>
            <a:pPr algn="l">
              <a:spcAft>
                <a:spcPts val="500"/>
              </a:spcAft>
            </a:pPr>
            <a:r>
              <a:rPr sz="1300" b="0" i="0">
                <a:solidFill>
                  <a:srgbClr val="1E262B"/>
                </a:solidFill>
              </a:rPr>
              <a:t>· the confirmation asked of the caller matches the risk</a:t>
            </a:r>
          </a:p>
          <a:p>
            <a:pPr algn="l">
              <a:spcAft>
                <a:spcPts val="500"/>
              </a:spcAft>
            </a:pPr>
            <a:r>
              <a:rPr sz="1300" b="0" i="0">
                <a:solidFill>
                  <a:srgbClr val="1E262B"/>
                </a:solidFill>
              </a:rPr>
              <a:t>and it always leaves an audit record.</a:t>
            </a:r>
          </a:p>
        </p:txBody>
      </p:sp>
      <p:sp>
        <p:nvSpPr>
          <p:cNvPr id="9" name="Card"/>
          <p:cNvSpPr/>
          <p:nvPr/>
        </p:nvSpPr>
        <p:spPr>
          <a:xfrm>
            <a:off x="6217920" y="2286000"/>
            <a:ext cx="5422392" cy="3063240"/>
          </a:xfrm>
          <a:prstGeom prst="roundRect">
            <a:avLst>
              <a:gd name="adj" fmla="val 2686"/>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446520" y="2450592"/>
            <a:ext cx="4965192" cy="329184"/>
          </a:xfrm>
          <a:prstGeom prst="rect">
            <a:avLst/>
          </a:prstGeom>
          <a:noFill/>
        </p:spPr>
        <p:txBody>
          <a:bodyPr wrap="square" lIns="0" rIns="0" tIns="0" bIns="0" anchor="t">
            <a:spAutoFit/>
          </a:bodyPr>
          <a:lstStyle/>
          <a:p>
            <a:pPr algn="l"/>
            <a:r>
              <a:rPr sz="1400" b="1" i="0">
                <a:solidFill>
                  <a:srgbClr val="0B6463"/>
                </a:solidFill>
              </a:rPr>
              <a:t>The rules</a:t>
            </a:r>
          </a:p>
        </p:txBody>
      </p:sp>
      <p:sp>
        <p:nvSpPr>
          <p:cNvPr id="11" name="Text"/>
          <p:cNvSpPr txBox="1"/>
          <p:nvPr/>
        </p:nvSpPr>
        <p:spPr>
          <a:xfrm>
            <a:off x="6446520" y="2816352"/>
            <a:ext cx="4965192" cy="2423160"/>
          </a:xfrm>
          <a:prstGeom prst="rect">
            <a:avLst/>
          </a:prstGeom>
          <a:noFill/>
        </p:spPr>
        <p:txBody>
          <a:bodyPr wrap="square" lIns="0" rIns="0" tIns="0" bIns="0" anchor="t">
            <a:spAutoFit/>
          </a:bodyPr>
          <a:lstStyle/>
          <a:p>
            <a:pPr algn="l">
              <a:spcAft>
                <a:spcPts val="500"/>
              </a:spcAft>
            </a:pPr>
            <a:r>
              <a:rPr sz="1300" b="0" i="0">
                <a:solidFill>
                  <a:srgbClr val="1E262B"/>
                </a:solidFill>
              </a:rPr>
              <a:t>· Preconditions. Required inputs. Validation.</a:t>
            </a:r>
          </a:p>
          <a:p>
            <a:pPr algn="l">
              <a:spcAft>
                <a:spcPts val="500"/>
              </a:spcAft>
            </a:pPr>
            <a:r>
              <a:rPr sz="1300" b="0" i="0">
                <a:solidFill>
                  <a:srgbClr val="1E262B"/>
                </a:solidFill>
              </a:rPr>
              <a:t>· Authorization: who may call.</a:t>
            </a:r>
          </a:p>
          <a:p>
            <a:pPr algn="l">
              <a:spcAft>
                <a:spcPts val="500"/>
              </a:spcAft>
            </a:pPr>
            <a:r>
              <a:rPr sz="1300" b="0" i="0">
                <a:solidFill>
                  <a:srgbClr val="1E262B"/>
                </a:solidFill>
              </a:rPr>
              <a:t>· Confirmation proportional to risk and reversibility.</a:t>
            </a:r>
          </a:p>
          <a:p>
            <a:pPr algn="l">
              <a:spcAft>
                <a:spcPts val="500"/>
              </a:spcAft>
            </a:pPr>
            <a:r>
              <a:rPr sz="1300" b="0" i="0">
                <a:solidFill>
                  <a:srgbClr val="1E262B"/>
                </a:solidFill>
              </a:rPr>
              <a:t>· Approval link, where a decision gates it.</a:t>
            </a:r>
          </a:p>
          <a:p>
            <a:pPr algn="l">
              <a:spcAft>
                <a:spcPts val="500"/>
              </a:spcAft>
            </a:pPr>
            <a:r>
              <a:rPr sz="1300" b="0" i="0">
                <a:solidFill>
                  <a:srgbClr val="1E262B"/>
                </a:solidFill>
              </a:rPr>
              <a:t>· Audit obligations.</a:t>
            </a:r>
          </a:p>
          <a:p>
            <a:pPr algn="l">
              <a:spcAft>
                <a:spcPts val="500"/>
              </a:spcAft>
            </a:pPr>
            <a:r>
              <a:rPr sz="1300" b="0" i="0">
                <a:solidFill>
                  <a:srgbClr val="1E262B"/>
                </a:solidFill>
              </a:rPr>
              <a:t>· The same gates for a person, a screen, a reaction and an AI. No side doors.</a:t>
            </a:r>
          </a:p>
        </p:txBody>
      </p:sp>
      <p:sp>
        <p:nvSpPr>
          <p:cNvPr id="12" name="Finding"/>
          <p:cNvSpPr/>
          <p:nvPr/>
        </p:nvSpPr>
        <p:spPr>
          <a:xfrm>
            <a:off x="548640" y="5532120"/>
            <a:ext cx="11091672" cy="530352"/>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822960" y="5532120"/>
            <a:ext cx="10543032" cy="530352"/>
          </a:xfrm>
          <a:prstGeom prst="rect">
            <a:avLst/>
          </a:prstGeom>
          <a:noFill/>
        </p:spPr>
        <p:txBody>
          <a:bodyPr wrap="square" lIns="0" rIns="0" tIns="0" bIns="0" anchor="ctr">
            <a:spAutoFit/>
          </a:bodyPr>
          <a:lstStyle/>
          <a:p>
            <a:pPr algn="l"/>
            <a:r>
              <a:rPr sz="1350" b="1" i="0">
                <a:solidFill>
                  <a:srgbClr val="1E262B"/>
                </a:solidFill>
              </a:rPr>
              <a:t>Keep this.  </a:t>
            </a:r>
            <a:r>
              <a:rPr sz="1350" b="0" i="0">
                <a:solidFill>
                  <a:srgbClr val="1E262B"/>
                </a:solidFill>
              </a:rPr>
              <a:t>A rule that lives only in code does not exist. Put it in the action's declaration, and test it at the boundary.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Every call has an identity and a receipt</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CONCEPTS  ·  ACTION</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11</a:t>
            </a:r>
          </a:p>
        </p:txBody>
      </p:sp>
      <p:sp>
        <p:nvSpPr>
          <p:cNvPr id="5" name="Text"/>
          <p:cNvSpPr txBox="1"/>
          <p:nvPr/>
        </p:nvSpPr>
        <p:spPr>
          <a:xfrm>
            <a:off x="548640" y="1298448"/>
            <a:ext cx="11091672" cy="868680"/>
          </a:xfrm>
          <a:prstGeom prst="rect">
            <a:avLst/>
          </a:prstGeom>
          <a:noFill/>
        </p:spPr>
        <p:txBody>
          <a:bodyPr wrap="square" lIns="0" rIns="0" tIns="0" bIns="0" anchor="ctr">
            <a:spAutoFit/>
          </a:bodyPr>
          <a:lstStyle/>
          <a:p>
            <a:pPr algn="l"/>
            <a:r>
              <a:rPr sz="1900" b="0" i="0">
                <a:solidFill>
                  <a:srgbClr val="0B4A4A"/>
                </a:solidFill>
              </a:rPr>
              <a:t>Each invocation has a stable identity. The effect and its receipt are committed together. The same call again returns the recorded outcome. Nothing happens twice.</a:t>
            </a:r>
          </a:p>
        </p:txBody>
      </p:sp>
      <p:sp>
        <p:nvSpPr>
          <p:cNvPr id="6" name="Card"/>
          <p:cNvSpPr/>
          <p:nvPr/>
        </p:nvSpPr>
        <p:spPr>
          <a:xfrm>
            <a:off x="548640" y="2286000"/>
            <a:ext cx="5486400" cy="3063240"/>
          </a:xfrm>
          <a:prstGeom prst="roundRect">
            <a:avLst>
              <a:gd name="adj" fmla="val 2686"/>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450592"/>
            <a:ext cx="5029200" cy="329184"/>
          </a:xfrm>
          <a:prstGeom prst="rect">
            <a:avLst/>
          </a:prstGeom>
          <a:noFill/>
        </p:spPr>
        <p:txBody>
          <a:bodyPr wrap="square" lIns="0" rIns="0" tIns="0" bIns="0" anchor="t">
            <a:spAutoFit/>
          </a:bodyPr>
          <a:lstStyle/>
          <a:p>
            <a:pPr algn="l"/>
            <a:r>
              <a:rPr sz="1400" b="1" i="0">
                <a:solidFill>
                  <a:srgbClr val="0B6463"/>
                </a:solidFill>
              </a:rPr>
              <a:t>In our example</a:t>
            </a:r>
          </a:p>
        </p:txBody>
      </p:sp>
      <p:sp>
        <p:nvSpPr>
          <p:cNvPr id="8" name="Text"/>
          <p:cNvSpPr txBox="1"/>
          <p:nvPr/>
        </p:nvSpPr>
        <p:spPr>
          <a:xfrm>
            <a:off x="777240" y="2816352"/>
            <a:ext cx="5029200" cy="2423160"/>
          </a:xfrm>
          <a:prstGeom prst="rect">
            <a:avLst/>
          </a:prstGeom>
          <a:noFill/>
        </p:spPr>
        <p:txBody>
          <a:bodyPr wrap="square" lIns="0" rIns="0" tIns="0" bIns="0" anchor="t">
            <a:spAutoFit/>
          </a:bodyPr>
          <a:lstStyle/>
          <a:p>
            <a:pPr algn="l">
              <a:spcAft>
                <a:spcPts val="500"/>
              </a:spcAft>
            </a:pPr>
            <a:r>
              <a:rPr sz="1300" b="0" i="0">
                <a:solidFill>
                  <a:srgbClr val="1E262B"/>
                </a:solidFill>
              </a:rPr>
              <a:t>The officer presses Submit twice on a slow network. One Works Order. One receipt. The same answer both times.</a:t>
            </a:r>
          </a:p>
          <a:p>
            <a:pPr algn="l">
              <a:spcAft>
                <a:spcPts val="500"/>
              </a:spcAft>
            </a:pPr>
            <a:r>
              <a:rPr sz="1300" b="0" i="0">
                <a:solidFill>
                  <a:srgbClr val="1E262B"/>
                </a:solidFill>
              </a:rPr>
              <a:t>The dispatcher retries a reaction after a crash. Same invocation identity, so the same outcome, and no second effect.</a:t>
            </a:r>
          </a:p>
          <a:p>
            <a:pPr algn="l">
              <a:spcAft>
                <a:spcPts val="500"/>
              </a:spcAft>
            </a:pPr>
            <a:r>
              <a:rPr sz="1300" b="0" i="0">
                <a:solidFill>
                  <a:srgbClr val="1E262B"/>
                </a:solidFill>
              </a:rPr>
              <a:t>The receipt says who ran it, under which position or grant, and at which version of the rules.</a:t>
            </a:r>
          </a:p>
        </p:txBody>
      </p:sp>
      <p:sp>
        <p:nvSpPr>
          <p:cNvPr id="9" name="Card"/>
          <p:cNvSpPr/>
          <p:nvPr/>
        </p:nvSpPr>
        <p:spPr>
          <a:xfrm>
            <a:off x="6217920" y="2286000"/>
            <a:ext cx="5422392" cy="3063240"/>
          </a:xfrm>
          <a:prstGeom prst="roundRect">
            <a:avLst>
              <a:gd name="adj" fmla="val 2686"/>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446520" y="2450592"/>
            <a:ext cx="4965192" cy="329184"/>
          </a:xfrm>
          <a:prstGeom prst="rect">
            <a:avLst/>
          </a:prstGeom>
          <a:noFill/>
        </p:spPr>
        <p:txBody>
          <a:bodyPr wrap="square" lIns="0" rIns="0" tIns="0" bIns="0" anchor="t">
            <a:spAutoFit/>
          </a:bodyPr>
          <a:lstStyle/>
          <a:p>
            <a:pPr algn="l"/>
            <a:r>
              <a:rPr sz="1400" b="1" i="0">
                <a:solidFill>
                  <a:srgbClr val="0B6463"/>
                </a:solidFill>
              </a:rPr>
              <a:t>The rules</a:t>
            </a:r>
          </a:p>
        </p:txBody>
      </p:sp>
      <p:sp>
        <p:nvSpPr>
          <p:cNvPr id="11" name="Text"/>
          <p:cNvSpPr txBox="1"/>
          <p:nvPr/>
        </p:nvSpPr>
        <p:spPr>
          <a:xfrm>
            <a:off x="6446520" y="2816352"/>
            <a:ext cx="4965192" cy="2423160"/>
          </a:xfrm>
          <a:prstGeom prst="rect">
            <a:avLst/>
          </a:prstGeom>
          <a:noFill/>
        </p:spPr>
        <p:txBody>
          <a:bodyPr wrap="square" lIns="0" rIns="0" tIns="0" bIns="0" anchor="t">
            <a:spAutoFit/>
          </a:bodyPr>
          <a:lstStyle/>
          <a:p>
            <a:pPr algn="l">
              <a:spcAft>
                <a:spcPts val="500"/>
              </a:spcAft>
            </a:pPr>
            <a:r>
              <a:rPr sz="1300" b="0" i="0">
                <a:solidFill>
                  <a:srgbClr val="1E262B"/>
                </a:solidFill>
              </a:rPr>
              <a:t>· The invocation identity is stable: workspace, action, request, principal.</a:t>
            </a:r>
          </a:p>
          <a:p>
            <a:pPr algn="l">
              <a:spcAft>
                <a:spcPts val="500"/>
              </a:spcAft>
            </a:pPr>
            <a:r>
              <a:rPr sz="1300" b="0" i="0">
                <a:solidFill>
                  <a:srgbClr val="1E262B"/>
                </a:solidFill>
              </a:rPr>
              <a:t>· Effect and receipt commit in one transaction.</a:t>
            </a:r>
          </a:p>
          <a:p>
            <a:pPr algn="l">
              <a:spcAft>
                <a:spcPts val="500"/>
              </a:spcAft>
            </a:pPr>
            <a:r>
              <a:rPr sz="1300" b="0" i="0">
                <a:solidFill>
                  <a:srgbClr val="1E262B"/>
                </a:solidFill>
              </a:rPr>
              <a:t>· Repeating the invocation returns the recorded outcome. It never runs the effect again.</a:t>
            </a:r>
          </a:p>
          <a:p>
            <a:pPr algn="l">
              <a:spcAft>
                <a:spcPts val="500"/>
              </a:spcAft>
            </a:pPr>
            <a:r>
              <a:rPr sz="1300" b="0" i="0">
                <a:solidFill>
                  <a:srgbClr val="1E262B"/>
                </a:solidFill>
              </a:rPr>
              <a:t>· The owning context keeps this record; audit only reads projections of it.</a:t>
            </a:r>
          </a:p>
          <a:p>
            <a:pPr algn="l">
              <a:spcAft>
                <a:spcPts val="500"/>
              </a:spcAft>
            </a:pPr>
            <a:r>
              <a:rPr sz="1300" b="0" i="0">
                <a:solidFill>
                  <a:srgbClr val="1E262B"/>
                </a:solidFill>
              </a:rPr>
              <a:t>· This is what makes retry and recovery safe.</a:t>
            </a:r>
          </a:p>
        </p:txBody>
      </p:sp>
      <p:sp>
        <p:nvSpPr>
          <p:cNvPr id="12" name="Finding"/>
          <p:cNvSpPr/>
          <p:nvPr/>
        </p:nvSpPr>
        <p:spPr>
          <a:xfrm>
            <a:off x="548640" y="5532120"/>
            <a:ext cx="11091672" cy="530352"/>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822960" y="5532120"/>
            <a:ext cx="10543032" cy="530352"/>
          </a:xfrm>
          <a:prstGeom prst="rect">
            <a:avLst/>
          </a:prstGeom>
          <a:noFill/>
        </p:spPr>
        <p:txBody>
          <a:bodyPr wrap="square" lIns="0" rIns="0" tIns="0" bIns="0" anchor="ctr">
            <a:spAutoFit/>
          </a:bodyPr>
          <a:lstStyle/>
          <a:p>
            <a:pPr algn="l"/>
            <a:r>
              <a:rPr sz="1350" b="1" i="0">
                <a:solidFill>
                  <a:srgbClr val="1E262B"/>
                </a:solidFill>
              </a:rPr>
              <a:t>Keep this.  </a:t>
            </a:r>
            <a:r>
              <a:rPr sz="1350" b="0" i="0">
                <a:solidFill>
                  <a:srgbClr val="1E262B"/>
                </a:solidFill>
              </a:rPr>
              <a:t>Retry is normal, not an error. Design every action so that a repeat is harmless.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What an action may do with another context's facts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CONCEPTS  ·  ACTION</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12</a:t>
            </a:r>
          </a:p>
        </p:txBody>
      </p:sp>
      <p:sp>
        <p:nvSpPr>
          <p:cNvPr id="5" name="Number"/>
          <p:cNvSpPr/>
          <p:nvPr/>
        </p:nvSpPr>
        <p:spPr>
          <a:xfrm>
            <a:off x="548640" y="1463040"/>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Number"/>
          <p:cNvSpPr txBox="1"/>
          <p:nvPr/>
        </p:nvSpPr>
        <p:spPr>
          <a:xfrm>
            <a:off x="548640" y="1463040"/>
            <a:ext cx="365760" cy="365760"/>
          </a:xfrm>
          <a:prstGeom prst="rect">
            <a:avLst/>
          </a:prstGeom>
          <a:noFill/>
        </p:spPr>
        <p:txBody>
          <a:bodyPr wrap="square" lIns="0" rIns="0" tIns="0" bIns="0" anchor="ctr">
            <a:spAutoFit/>
          </a:bodyPr>
          <a:lstStyle/>
          <a:p>
            <a:pPr algn="ctr"/>
            <a:r>
              <a:rPr sz="1300" b="1" i="0">
                <a:solidFill>
                  <a:srgbClr val="FFFFFF"/>
                </a:solidFill>
              </a:rPr>
              <a:t>1</a:t>
            </a:r>
          </a:p>
        </p:txBody>
      </p:sp>
      <p:sp>
        <p:nvSpPr>
          <p:cNvPr id="7" name="Text"/>
          <p:cNvSpPr txBox="1"/>
          <p:nvPr/>
        </p:nvSpPr>
        <p:spPr>
          <a:xfrm>
            <a:off x="1097280" y="1417320"/>
            <a:ext cx="4937760" cy="384048"/>
          </a:xfrm>
          <a:prstGeom prst="rect">
            <a:avLst/>
          </a:prstGeom>
          <a:noFill/>
        </p:spPr>
        <p:txBody>
          <a:bodyPr wrap="square" lIns="0" rIns="0" tIns="0" bIns="0" anchor="ctr">
            <a:spAutoFit/>
          </a:bodyPr>
          <a:lstStyle/>
          <a:p>
            <a:pPr algn="l"/>
            <a:r>
              <a:rPr sz="1500" b="1" i="0">
                <a:solidFill>
                  <a:srgbClr val="0B4A4A"/>
                </a:solidFill>
              </a:rPr>
              <a:t>Change only your own facts</a:t>
            </a:r>
          </a:p>
        </p:txBody>
      </p:sp>
      <p:sp>
        <p:nvSpPr>
          <p:cNvPr id="8" name="Text"/>
          <p:cNvSpPr txBox="1"/>
          <p:nvPr/>
        </p:nvSpPr>
        <p:spPr>
          <a:xfrm>
            <a:off x="1097280" y="1837944"/>
            <a:ext cx="4937760" cy="822960"/>
          </a:xfrm>
          <a:prstGeom prst="rect">
            <a:avLst/>
          </a:prstGeom>
          <a:noFill/>
        </p:spPr>
        <p:txBody>
          <a:bodyPr wrap="square" lIns="0" rIns="0" tIns="0" bIns="0" anchor="t">
            <a:spAutoFit/>
          </a:bodyPr>
          <a:lstStyle/>
          <a:p>
            <a:pPr algn="l"/>
            <a:r>
              <a:rPr sz="1250" b="0" i="0">
                <a:solidFill>
                  <a:srgbClr val="1E262B"/>
                </a:solidFill>
              </a:rPr>
              <a:t>An action writes in its owning context and nowhere else.</a:t>
            </a:r>
          </a:p>
        </p:txBody>
      </p:sp>
      <p:sp>
        <p:nvSpPr>
          <p:cNvPr id="9" name="Number"/>
          <p:cNvSpPr/>
          <p:nvPr/>
        </p:nvSpPr>
        <p:spPr>
          <a:xfrm>
            <a:off x="6217920" y="1463040"/>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umber"/>
          <p:cNvSpPr txBox="1"/>
          <p:nvPr/>
        </p:nvSpPr>
        <p:spPr>
          <a:xfrm>
            <a:off x="6217920" y="1463040"/>
            <a:ext cx="365760" cy="365760"/>
          </a:xfrm>
          <a:prstGeom prst="rect">
            <a:avLst/>
          </a:prstGeom>
          <a:noFill/>
        </p:spPr>
        <p:txBody>
          <a:bodyPr wrap="square" lIns="0" rIns="0" tIns="0" bIns="0" anchor="ctr">
            <a:spAutoFit/>
          </a:bodyPr>
          <a:lstStyle/>
          <a:p>
            <a:pPr algn="ctr"/>
            <a:r>
              <a:rPr sz="1300" b="1" i="0">
                <a:solidFill>
                  <a:srgbClr val="FFFFFF"/>
                </a:solidFill>
              </a:rPr>
              <a:t>2</a:t>
            </a:r>
          </a:p>
        </p:txBody>
      </p:sp>
      <p:sp>
        <p:nvSpPr>
          <p:cNvPr id="11" name="Text"/>
          <p:cNvSpPr txBox="1"/>
          <p:nvPr/>
        </p:nvSpPr>
        <p:spPr>
          <a:xfrm>
            <a:off x="6766559" y="1417320"/>
            <a:ext cx="4937760" cy="384048"/>
          </a:xfrm>
          <a:prstGeom prst="rect">
            <a:avLst/>
          </a:prstGeom>
          <a:noFill/>
        </p:spPr>
        <p:txBody>
          <a:bodyPr wrap="square" lIns="0" rIns="0" tIns="0" bIns="0" anchor="ctr">
            <a:spAutoFit/>
          </a:bodyPr>
          <a:lstStyle/>
          <a:p>
            <a:pPr algn="l"/>
            <a:r>
              <a:rPr sz="1500" b="1" i="0">
                <a:solidFill>
                  <a:srgbClr val="0B4A4A"/>
                </a:solidFill>
              </a:rPr>
              <a:t>You may read declared facts of others</a:t>
            </a:r>
          </a:p>
        </p:txBody>
      </p:sp>
      <p:sp>
        <p:nvSpPr>
          <p:cNvPr id="12" name="Text"/>
          <p:cNvSpPr txBox="1"/>
          <p:nvPr/>
        </p:nvSpPr>
        <p:spPr>
          <a:xfrm>
            <a:off x="6766559" y="1837944"/>
            <a:ext cx="4937760" cy="822960"/>
          </a:xfrm>
          <a:prstGeom prst="rect">
            <a:avLst/>
          </a:prstGeom>
          <a:noFill/>
        </p:spPr>
        <p:txBody>
          <a:bodyPr wrap="square" lIns="0" rIns="0" tIns="0" bIns="0" anchor="t">
            <a:spAutoFit/>
          </a:bodyPr>
          <a:lstStyle/>
          <a:p>
            <a:pPr algn="l"/>
            <a:r>
              <a:rPr sz="1250" b="0" i="0">
                <a:solidFill>
                  <a:srgbClr val="1E262B"/>
                </a:solidFill>
              </a:rPr>
              <a:t>Reads of another context's facts are declared and generated, not ad hoc joins.</a:t>
            </a:r>
          </a:p>
        </p:txBody>
      </p:sp>
      <p:sp>
        <p:nvSpPr>
          <p:cNvPr id="13" name="Number"/>
          <p:cNvSpPr/>
          <p:nvPr/>
        </p:nvSpPr>
        <p:spPr>
          <a:xfrm>
            <a:off x="548640" y="2834639"/>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umber"/>
          <p:cNvSpPr txBox="1"/>
          <p:nvPr/>
        </p:nvSpPr>
        <p:spPr>
          <a:xfrm>
            <a:off x="548640" y="2834639"/>
            <a:ext cx="365760" cy="365760"/>
          </a:xfrm>
          <a:prstGeom prst="rect">
            <a:avLst/>
          </a:prstGeom>
          <a:noFill/>
        </p:spPr>
        <p:txBody>
          <a:bodyPr wrap="square" lIns="0" rIns="0" tIns="0" bIns="0" anchor="ctr">
            <a:spAutoFit/>
          </a:bodyPr>
          <a:lstStyle/>
          <a:p>
            <a:pPr algn="ctr"/>
            <a:r>
              <a:rPr sz="1300" b="1" i="0">
                <a:solidFill>
                  <a:srgbClr val="FFFFFF"/>
                </a:solidFill>
              </a:rPr>
              <a:t>3</a:t>
            </a:r>
          </a:p>
        </p:txBody>
      </p:sp>
      <p:sp>
        <p:nvSpPr>
          <p:cNvPr id="15" name="Text"/>
          <p:cNvSpPr txBox="1"/>
          <p:nvPr/>
        </p:nvSpPr>
        <p:spPr>
          <a:xfrm>
            <a:off x="1097280" y="2788920"/>
            <a:ext cx="4937760" cy="384048"/>
          </a:xfrm>
          <a:prstGeom prst="rect">
            <a:avLst/>
          </a:prstGeom>
          <a:noFill/>
        </p:spPr>
        <p:txBody>
          <a:bodyPr wrap="square" lIns="0" rIns="0" tIns="0" bIns="0" anchor="ctr">
            <a:spAutoFit/>
          </a:bodyPr>
          <a:lstStyle/>
          <a:p>
            <a:pPr algn="l"/>
            <a:r>
              <a:rPr sz="1500" b="1" i="0">
                <a:solidFill>
                  <a:srgbClr val="0B4A4A"/>
                </a:solidFill>
              </a:rPr>
              <a:t>A read is only a look</a:t>
            </a:r>
          </a:p>
        </p:txBody>
      </p:sp>
      <p:sp>
        <p:nvSpPr>
          <p:cNvPr id="16" name="Text"/>
          <p:cNvSpPr txBox="1"/>
          <p:nvPr/>
        </p:nvSpPr>
        <p:spPr>
          <a:xfrm>
            <a:off x="1097280" y="3209544"/>
            <a:ext cx="4937760" cy="822960"/>
          </a:xfrm>
          <a:prstGeom prst="rect">
            <a:avLst/>
          </a:prstGeom>
          <a:noFill/>
        </p:spPr>
        <p:txBody>
          <a:bodyPr wrap="square" lIns="0" rIns="0" tIns="0" bIns="0" anchor="t">
            <a:spAutoFit/>
          </a:bodyPr>
          <a:lstStyle/>
          <a:p>
            <a:pPr algn="l"/>
            <a:r>
              <a:rPr sz="1250" b="0" i="0">
                <a:solidFill>
                  <a:srgbClr val="1E262B"/>
                </a:solidFill>
              </a:rPr>
              <a:t>If the other context must decide, reserve, guarantee or change something, call its action or its approval.</a:t>
            </a:r>
          </a:p>
        </p:txBody>
      </p:sp>
      <p:sp>
        <p:nvSpPr>
          <p:cNvPr id="17" name="Number"/>
          <p:cNvSpPr/>
          <p:nvPr/>
        </p:nvSpPr>
        <p:spPr>
          <a:xfrm>
            <a:off x="6217920" y="2834639"/>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
          <p:cNvSpPr txBox="1"/>
          <p:nvPr/>
        </p:nvSpPr>
        <p:spPr>
          <a:xfrm>
            <a:off x="6217920" y="2834639"/>
            <a:ext cx="365760" cy="365760"/>
          </a:xfrm>
          <a:prstGeom prst="rect">
            <a:avLst/>
          </a:prstGeom>
          <a:noFill/>
        </p:spPr>
        <p:txBody>
          <a:bodyPr wrap="square" lIns="0" rIns="0" tIns="0" bIns="0" anchor="ctr">
            <a:spAutoFit/>
          </a:bodyPr>
          <a:lstStyle/>
          <a:p>
            <a:pPr algn="ctr"/>
            <a:r>
              <a:rPr sz="1300" b="1" i="0">
                <a:solidFill>
                  <a:srgbClr val="FFFFFF"/>
                </a:solidFill>
              </a:rPr>
              <a:t>4</a:t>
            </a:r>
          </a:p>
        </p:txBody>
      </p:sp>
      <p:sp>
        <p:nvSpPr>
          <p:cNvPr id="19" name="Text"/>
          <p:cNvSpPr txBox="1"/>
          <p:nvPr/>
        </p:nvSpPr>
        <p:spPr>
          <a:xfrm>
            <a:off x="6766559" y="2788920"/>
            <a:ext cx="4937760" cy="384048"/>
          </a:xfrm>
          <a:prstGeom prst="rect">
            <a:avLst/>
          </a:prstGeom>
          <a:noFill/>
        </p:spPr>
        <p:txBody>
          <a:bodyPr wrap="square" lIns="0" rIns="0" tIns="0" bIns="0" anchor="ctr">
            <a:spAutoFit/>
          </a:bodyPr>
          <a:lstStyle/>
          <a:p>
            <a:pPr algn="l"/>
            <a:r>
              <a:rPr sz="1500" b="1" i="0">
                <a:solidFill>
                  <a:srgbClr val="0B4A4A"/>
                </a:solidFill>
              </a:rPr>
              <a:t>Normal authorization applies</a:t>
            </a:r>
          </a:p>
        </p:txBody>
      </p:sp>
      <p:sp>
        <p:nvSpPr>
          <p:cNvPr id="20" name="Text"/>
          <p:cNvSpPr txBox="1"/>
          <p:nvPr/>
        </p:nvSpPr>
        <p:spPr>
          <a:xfrm>
            <a:off x="6766559" y="3209544"/>
            <a:ext cx="4937760" cy="822960"/>
          </a:xfrm>
          <a:prstGeom prst="rect">
            <a:avLst/>
          </a:prstGeom>
          <a:noFill/>
        </p:spPr>
        <p:txBody>
          <a:bodyPr wrap="square" lIns="0" rIns="0" tIns="0" bIns="0" anchor="t">
            <a:spAutoFit/>
          </a:bodyPr>
          <a:lstStyle/>
          <a:p>
            <a:pPr algn="l"/>
            <a:r>
              <a:rPr sz="1250" b="0" i="0">
                <a:solidFill>
                  <a:srgbClr val="1E262B"/>
                </a:solidFill>
              </a:rPr>
              <a:t>Reading is not harmless. Who may see the fact is checked like any other read.</a:t>
            </a:r>
          </a:p>
        </p:txBody>
      </p:sp>
      <p:sp>
        <p:nvSpPr>
          <p:cNvPr id="21" name="Box"/>
          <p:cNvSpPr/>
          <p:nvPr/>
        </p:nvSpPr>
        <p:spPr>
          <a:xfrm>
            <a:off x="548640" y="4297680"/>
            <a:ext cx="11091672" cy="1143000"/>
          </a:xfrm>
          <a:prstGeom prst="roundRect">
            <a:avLst>
              <a:gd name="adj" fmla="val 7199"/>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p:cNvSpPr txBox="1"/>
          <p:nvPr/>
        </p:nvSpPr>
        <p:spPr>
          <a:xfrm>
            <a:off x="822960" y="4389120"/>
            <a:ext cx="10543032" cy="274320"/>
          </a:xfrm>
          <a:prstGeom prst="rect">
            <a:avLst/>
          </a:prstGeom>
          <a:noFill/>
        </p:spPr>
        <p:txBody>
          <a:bodyPr wrap="square" lIns="0" rIns="0" tIns="0" bIns="0" anchor="t">
            <a:spAutoFit/>
          </a:bodyPr>
          <a:lstStyle/>
          <a:p>
            <a:pPr algn="l"/>
            <a:r>
              <a:rPr sz="950" b="1" i="0">
                <a:solidFill>
                  <a:srgbClr val="5E6A71"/>
                </a:solidFill>
              </a:rPr>
              <a:t>IN OUR EXAMPLE</a:t>
            </a:r>
          </a:p>
        </p:txBody>
      </p:sp>
      <p:sp>
        <p:nvSpPr>
          <p:cNvPr id="23" name="Text"/>
          <p:cNvSpPr txBox="1"/>
          <p:nvPr/>
        </p:nvSpPr>
        <p:spPr>
          <a:xfrm>
            <a:off x="822960" y="4663440"/>
            <a:ext cx="10543032" cy="731520"/>
          </a:xfrm>
          <a:prstGeom prst="rect">
            <a:avLst/>
          </a:prstGeom>
          <a:noFill/>
        </p:spPr>
        <p:txBody>
          <a:bodyPr wrap="square" lIns="0" rIns="0" tIns="0" bIns="0" anchor="t">
            <a:spAutoFit/>
          </a:bodyPr>
          <a:lstStyle/>
          <a:p>
            <a:pPr algn="l"/>
            <a:r>
              <a:rPr sz="1300" b="1" i="0">
                <a:solidFill>
                  <a:srgbClr val="0B6463"/>
                </a:solidFill>
              </a:rPr>
              <a:t>MatchServiceInvoice</a:t>
            </a:r>
            <a:r>
              <a:rPr sz="1300" b="0" i="0">
                <a:solidFill>
                  <a:srgbClr val="1E262B"/>
                </a:solidFill>
              </a:rPr>
              <a:t> reads the Works Order, the confirmation and the captured invoice. It records the match, or the variance with its reason, in Procurement. It does not post the invoice: Finance's action does, when the Accounts Executive runs it.</a:t>
            </a:r>
          </a:p>
        </p:txBody>
      </p:sp>
      <p:sp>
        <p:nvSpPr>
          <p:cNvPr id="24" name="Finding"/>
          <p:cNvSpPr/>
          <p:nvPr/>
        </p:nvSpPr>
        <p:spPr>
          <a:xfrm>
            <a:off x="548640" y="5577840"/>
            <a:ext cx="11091672" cy="475488"/>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p:cNvSpPr txBox="1"/>
          <p:nvPr/>
        </p:nvSpPr>
        <p:spPr>
          <a:xfrm>
            <a:off x="822960" y="5577840"/>
            <a:ext cx="10543032" cy="475488"/>
          </a:xfrm>
          <a:prstGeom prst="rect">
            <a:avLst/>
          </a:prstGeom>
          <a:noFill/>
        </p:spPr>
        <p:txBody>
          <a:bodyPr wrap="square" lIns="0" rIns="0" tIns="0" bIns="0" anchor="ctr">
            <a:spAutoFit/>
          </a:bodyPr>
          <a:lstStyle/>
          <a:p>
            <a:pPr algn="l"/>
            <a:r>
              <a:rPr sz="1350" b="1" i="0">
                <a:solidFill>
                  <a:srgbClr val="1E262B"/>
                </a:solidFill>
              </a:rPr>
              <a:t>Keep this.  </a:t>
            </a:r>
            <a:r>
              <a:rPr sz="1350" b="0" i="0">
                <a:solidFill>
                  <a:srgbClr val="1E262B"/>
                </a:solidFill>
              </a:rPr>
              <a:t>Reading another context's fact is fine. Deciding for it is not.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Event</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CONCEPTS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13</a:t>
            </a:r>
          </a:p>
        </p:txBody>
      </p:sp>
      <p:sp>
        <p:nvSpPr>
          <p:cNvPr id="5" name="Text"/>
          <p:cNvSpPr txBox="1"/>
          <p:nvPr/>
        </p:nvSpPr>
        <p:spPr>
          <a:xfrm>
            <a:off x="548640" y="1298448"/>
            <a:ext cx="11091672" cy="868680"/>
          </a:xfrm>
          <a:prstGeom prst="rect">
            <a:avLst/>
          </a:prstGeom>
          <a:noFill/>
        </p:spPr>
        <p:txBody>
          <a:bodyPr wrap="square" lIns="0" rIns="0" tIns="0" bIns="0" anchor="ctr">
            <a:spAutoFit/>
          </a:bodyPr>
          <a:lstStyle/>
          <a:p>
            <a:pPr algn="l"/>
            <a:r>
              <a:rPr sz="1900" b="0" i="0">
                <a:solidFill>
                  <a:srgbClr val="0B4A4A"/>
                </a:solidFill>
              </a:rPr>
              <a:t>An event is a fact that happened, named in the past tense. Once published it never changes. Corrections are new facts.</a:t>
            </a:r>
          </a:p>
        </p:txBody>
      </p:sp>
      <p:sp>
        <p:nvSpPr>
          <p:cNvPr id="6" name="Card"/>
          <p:cNvSpPr/>
          <p:nvPr/>
        </p:nvSpPr>
        <p:spPr>
          <a:xfrm>
            <a:off x="548640" y="2286000"/>
            <a:ext cx="5486400" cy="3063240"/>
          </a:xfrm>
          <a:prstGeom prst="roundRect">
            <a:avLst>
              <a:gd name="adj" fmla="val 2686"/>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450592"/>
            <a:ext cx="5029200" cy="329184"/>
          </a:xfrm>
          <a:prstGeom prst="rect">
            <a:avLst/>
          </a:prstGeom>
          <a:noFill/>
        </p:spPr>
        <p:txBody>
          <a:bodyPr wrap="square" lIns="0" rIns="0" tIns="0" bIns="0" anchor="t">
            <a:spAutoFit/>
          </a:bodyPr>
          <a:lstStyle/>
          <a:p>
            <a:pPr algn="l"/>
            <a:r>
              <a:rPr sz="1400" b="1" i="0">
                <a:solidFill>
                  <a:srgbClr val="0B6463"/>
                </a:solidFill>
              </a:rPr>
              <a:t>In our example</a:t>
            </a:r>
          </a:p>
        </p:txBody>
      </p:sp>
      <p:sp>
        <p:nvSpPr>
          <p:cNvPr id="8" name="Text"/>
          <p:cNvSpPr txBox="1"/>
          <p:nvPr/>
        </p:nvSpPr>
        <p:spPr>
          <a:xfrm>
            <a:off x="777240" y="2816352"/>
            <a:ext cx="5029200" cy="2423160"/>
          </a:xfrm>
          <a:prstGeom prst="rect">
            <a:avLst/>
          </a:prstGeom>
          <a:noFill/>
        </p:spPr>
        <p:txBody>
          <a:bodyPr wrap="square" lIns="0" rIns="0" tIns="0" bIns="0" anchor="t">
            <a:spAutoFit/>
          </a:bodyPr>
          <a:lstStyle/>
          <a:p>
            <a:pPr algn="l">
              <a:spcAft>
                <a:spcPts val="500"/>
              </a:spcAft>
            </a:pPr>
            <a:r>
              <a:rPr sz="1300" b="1" i="0">
                <a:solidFill>
                  <a:srgbClr val="0B6463"/>
                </a:solidFill>
              </a:rPr>
              <a:t>WorksOrderSubmitted</a:t>
            </a:r>
            <a:r>
              <a:rPr sz="1300" b="0" i="0">
                <a:solidFill>
                  <a:srgbClr val="1E262B"/>
                </a:solidFill>
              </a:rPr>
              <a:t>  ·  </a:t>
            </a:r>
            <a:r>
              <a:rPr sz="1300" b="1" i="0">
                <a:solidFill>
                  <a:srgbClr val="0B6463"/>
                </a:solidFill>
              </a:rPr>
              <a:t>WorksOrderApproved</a:t>
            </a:r>
          </a:p>
          <a:p>
            <a:pPr algn="l">
              <a:spcAft>
                <a:spcPts val="500"/>
              </a:spcAft>
            </a:pPr>
            <a:r>
              <a:rPr sz="1300" b="1" i="0">
                <a:solidFill>
                  <a:srgbClr val="0B6463"/>
                </a:solidFill>
              </a:rPr>
              <a:t>ServiceCompletionConfirmed</a:t>
            </a:r>
          </a:p>
          <a:p>
            <a:pPr algn="l">
              <a:spcAft>
                <a:spcPts val="500"/>
              </a:spcAft>
            </a:pPr>
            <a:r>
              <a:rPr sz="1300" b="1" i="0">
                <a:solidFill>
                  <a:srgbClr val="0B6463"/>
                </a:solidFill>
              </a:rPr>
              <a:t>ServiceInvoiceCaptured</a:t>
            </a:r>
            <a:r>
              <a:rPr sz="1300" b="0" i="0">
                <a:solidFill>
                  <a:srgbClr val="5E6A71"/>
                </a:solidFill>
              </a:rPr>
              <a:t>  (published by Finance)</a:t>
            </a:r>
          </a:p>
          <a:p>
            <a:pPr algn="l">
              <a:spcAft>
                <a:spcPts val="500"/>
              </a:spcAft>
            </a:pPr>
            <a:r>
              <a:rPr sz="1300" b="1" i="0">
                <a:solidFill>
                  <a:srgbClr val="0B6463"/>
                </a:solidFill>
              </a:rPr>
              <a:t>ServiceInvoiceMatched</a:t>
            </a:r>
            <a:r>
              <a:rPr sz="1300" b="0" i="0">
                <a:solidFill>
                  <a:srgbClr val="1E262B"/>
                </a:solidFill>
              </a:rPr>
              <a:t>  ·  </a:t>
            </a:r>
            <a:r>
              <a:rPr sz="1300" b="1" i="0">
                <a:solidFill>
                  <a:srgbClr val="0B6463"/>
                </a:solidFill>
              </a:rPr>
              <a:t>ServiceInvoiceVarianceRaised</a:t>
            </a:r>
          </a:p>
          <a:p>
            <a:pPr algn="l">
              <a:spcAft>
                <a:spcPts val="500"/>
              </a:spcAft>
            </a:pPr>
            <a:r>
              <a:rPr sz="1300" b="0" i="0">
                <a:solidFill>
                  <a:srgbClr val="1E262B"/>
                </a:solidFill>
              </a:rPr>
              <a:t>Each carries its identity and its cause: the action execution that produced it.</a:t>
            </a:r>
          </a:p>
          <a:p>
            <a:pPr algn="l">
              <a:spcAft>
                <a:spcPts val="500"/>
              </a:spcAft>
            </a:pPr>
            <a:r>
              <a:rPr sz="1300" b="0" i="0">
                <a:solidFill>
                  <a:srgbClr val="1E262B"/>
                </a:solidFill>
              </a:rPr>
              <a:t>In the role app, an event is what starts the receiving seat's task.</a:t>
            </a:r>
          </a:p>
        </p:txBody>
      </p:sp>
      <p:sp>
        <p:nvSpPr>
          <p:cNvPr id="9" name="Card"/>
          <p:cNvSpPr/>
          <p:nvPr/>
        </p:nvSpPr>
        <p:spPr>
          <a:xfrm>
            <a:off x="6217920" y="2286000"/>
            <a:ext cx="5422392" cy="3063240"/>
          </a:xfrm>
          <a:prstGeom prst="roundRect">
            <a:avLst>
              <a:gd name="adj" fmla="val 2686"/>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446520" y="2450592"/>
            <a:ext cx="4965192" cy="329184"/>
          </a:xfrm>
          <a:prstGeom prst="rect">
            <a:avLst/>
          </a:prstGeom>
          <a:noFill/>
        </p:spPr>
        <p:txBody>
          <a:bodyPr wrap="square" lIns="0" rIns="0" tIns="0" bIns="0" anchor="t">
            <a:spAutoFit/>
          </a:bodyPr>
          <a:lstStyle/>
          <a:p>
            <a:pPr algn="l"/>
            <a:r>
              <a:rPr sz="1400" b="1" i="0">
                <a:solidFill>
                  <a:srgbClr val="0B6463"/>
                </a:solidFill>
              </a:rPr>
              <a:t>The rules</a:t>
            </a:r>
          </a:p>
        </p:txBody>
      </p:sp>
      <p:sp>
        <p:nvSpPr>
          <p:cNvPr id="11" name="Text"/>
          <p:cNvSpPr txBox="1"/>
          <p:nvPr/>
        </p:nvSpPr>
        <p:spPr>
          <a:xfrm>
            <a:off x="6446520" y="2816352"/>
            <a:ext cx="4965192" cy="2423160"/>
          </a:xfrm>
          <a:prstGeom prst="rect">
            <a:avLst/>
          </a:prstGeom>
          <a:noFill/>
        </p:spPr>
        <p:txBody>
          <a:bodyPr wrap="square" lIns="0" rIns="0" tIns="0" bIns="0" anchor="t">
            <a:spAutoFit/>
          </a:bodyPr>
          <a:lstStyle/>
          <a:p>
            <a:pPr algn="l">
              <a:spcAft>
                <a:spcPts val="500"/>
              </a:spcAft>
            </a:pPr>
            <a:r>
              <a:rPr sz="1300" b="0" i="0">
                <a:solidFill>
                  <a:srgbClr val="1E262B"/>
                </a:solidFill>
              </a:rPr>
              <a:t>· The publisher does not know who listens.</a:t>
            </a:r>
          </a:p>
          <a:p>
            <a:pPr algn="l">
              <a:spcAft>
                <a:spcPts val="500"/>
              </a:spcAft>
            </a:pPr>
            <a:r>
              <a:rPr sz="1300" b="0" i="0">
                <a:solidFill>
                  <a:srgbClr val="1E262B"/>
                </a:solidFill>
              </a:rPr>
              <a:t>· Consuming an event grants no authority. The listener's own action passes its own gates.</a:t>
            </a:r>
          </a:p>
          <a:p>
            <a:pPr algn="l">
              <a:spcAft>
                <a:spcPts val="500"/>
              </a:spcAft>
            </a:pPr>
            <a:r>
              <a:rPr sz="1300" b="0" i="0">
                <a:solidFill>
                  <a:srgbClr val="1E262B"/>
                </a:solidFill>
              </a:rPr>
              <a:t>· It carries a stable identity and its causal source.</a:t>
            </a:r>
          </a:p>
          <a:p>
            <a:pPr algn="l">
              <a:spcAft>
                <a:spcPts val="500"/>
              </a:spcAft>
            </a:pPr>
            <a:r>
              <a:rPr sz="1300" b="0" i="0">
                <a:solidFill>
                  <a:srgbClr val="1E262B"/>
                </a:solidFill>
              </a:rPr>
              <a:t>· It may be delivered more than once. The consumer must cope.</a:t>
            </a:r>
          </a:p>
          <a:p>
            <a:pPr algn="l">
              <a:spcAft>
                <a:spcPts val="500"/>
              </a:spcAft>
            </a:pPr>
            <a:r>
              <a:rPr sz="1300" b="0" i="0">
                <a:solidFill>
                  <a:srgbClr val="1E262B"/>
                </a:solidFill>
              </a:rPr>
              <a:t>· Its definition does not depend on how it is delivered.</a:t>
            </a:r>
          </a:p>
        </p:txBody>
      </p:sp>
      <p:sp>
        <p:nvSpPr>
          <p:cNvPr id="12" name="Finding"/>
          <p:cNvSpPr/>
          <p:nvPr/>
        </p:nvSpPr>
        <p:spPr>
          <a:xfrm>
            <a:off x="548640" y="5532120"/>
            <a:ext cx="11091672" cy="530352"/>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822960" y="5532120"/>
            <a:ext cx="10543032" cy="530352"/>
          </a:xfrm>
          <a:prstGeom prst="rect">
            <a:avLst/>
          </a:prstGeom>
          <a:noFill/>
        </p:spPr>
        <p:txBody>
          <a:bodyPr wrap="square" lIns="0" rIns="0" tIns="0" bIns="0" anchor="ctr">
            <a:spAutoFit/>
          </a:bodyPr>
          <a:lstStyle/>
          <a:p>
            <a:pPr algn="l"/>
            <a:r>
              <a:rPr sz="1350" b="1" i="0">
                <a:solidFill>
                  <a:srgbClr val="1E262B"/>
                </a:solidFill>
              </a:rPr>
              <a:t>Keep this.  </a:t>
            </a:r>
            <a:r>
              <a:rPr sz="1350" b="0" i="0">
                <a:solidFill>
                  <a:srgbClr val="1E262B"/>
                </a:solidFill>
              </a:rPr>
              <a:t>An event tells the world what happened. It is not a command to anyone.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Reaction</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CONCEPTS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14</a:t>
            </a:r>
          </a:p>
        </p:txBody>
      </p:sp>
      <p:sp>
        <p:nvSpPr>
          <p:cNvPr id="5" name="Text"/>
          <p:cNvSpPr txBox="1"/>
          <p:nvPr/>
        </p:nvSpPr>
        <p:spPr>
          <a:xfrm>
            <a:off x="548640" y="1298448"/>
            <a:ext cx="11091672" cy="868680"/>
          </a:xfrm>
          <a:prstGeom prst="rect">
            <a:avLst/>
          </a:prstGeom>
          <a:noFill/>
        </p:spPr>
        <p:txBody>
          <a:bodyPr wrap="square" lIns="0" rIns="0" tIns="0" bIns="0" anchor="ctr">
            <a:spAutoFit/>
          </a:bodyPr>
          <a:lstStyle/>
          <a:p>
            <a:pPr algn="l"/>
            <a:r>
              <a:rPr sz="1900" b="0" i="0">
                <a:solidFill>
                  <a:srgbClr val="0B4A4A"/>
                </a:solidFill>
              </a:rPr>
              <a:t>A reaction is a rule: when this event happens and this condition holds, call that action, under a named automation principal.</a:t>
            </a:r>
          </a:p>
        </p:txBody>
      </p:sp>
      <p:sp>
        <p:nvSpPr>
          <p:cNvPr id="6" name="Card"/>
          <p:cNvSpPr/>
          <p:nvPr/>
        </p:nvSpPr>
        <p:spPr>
          <a:xfrm>
            <a:off x="548640" y="2286000"/>
            <a:ext cx="5486400" cy="3063240"/>
          </a:xfrm>
          <a:prstGeom prst="roundRect">
            <a:avLst>
              <a:gd name="adj" fmla="val 2686"/>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450592"/>
            <a:ext cx="5029200" cy="329184"/>
          </a:xfrm>
          <a:prstGeom prst="rect">
            <a:avLst/>
          </a:prstGeom>
          <a:noFill/>
        </p:spPr>
        <p:txBody>
          <a:bodyPr wrap="square" lIns="0" rIns="0" tIns="0" bIns="0" anchor="t">
            <a:spAutoFit/>
          </a:bodyPr>
          <a:lstStyle/>
          <a:p>
            <a:pPr algn="l"/>
            <a:r>
              <a:rPr sz="1400" b="1" i="0">
                <a:solidFill>
                  <a:srgbClr val="0B6463"/>
                </a:solidFill>
              </a:rPr>
              <a:t>In our example</a:t>
            </a:r>
          </a:p>
        </p:txBody>
      </p:sp>
      <p:sp>
        <p:nvSpPr>
          <p:cNvPr id="8" name="Text"/>
          <p:cNvSpPr txBox="1"/>
          <p:nvPr/>
        </p:nvSpPr>
        <p:spPr>
          <a:xfrm>
            <a:off x="777240" y="2816352"/>
            <a:ext cx="5029200" cy="2423160"/>
          </a:xfrm>
          <a:prstGeom prst="rect">
            <a:avLst/>
          </a:prstGeom>
          <a:noFill/>
        </p:spPr>
        <p:txBody>
          <a:bodyPr wrap="square" lIns="0" rIns="0" tIns="0" bIns="0" anchor="t">
            <a:spAutoFit/>
          </a:bodyPr>
          <a:lstStyle/>
          <a:p>
            <a:pPr algn="l">
              <a:spcAft>
                <a:spcPts val="500"/>
              </a:spcAft>
            </a:pPr>
            <a:r>
              <a:rPr sz="1300" b="0" i="0">
                <a:solidFill>
                  <a:srgbClr val="1E262B"/>
                </a:solidFill>
              </a:rPr>
              <a:t>When </a:t>
            </a:r>
            <a:r>
              <a:rPr sz="1300" b="1" i="0">
                <a:solidFill>
                  <a:srgbClr val="0B6463"/>
                </a:solidFill>
              </a:rPr>
              <a:t>MilestoneDue</a:t>
            </a:r>
            <a:r>
              <a:rPr sz="1300" b="0" i="0">
                <a:solidFill>
                  <a:srgbClr val="1E262B"/>
                </a:solidFill>
              </a:rPr>
              <a:t> on a Works Order in progress</a:t>
            </a:r>
          </a:p>
          <a:p>
            <a:pPr algn="l">
              <a:spcAft>
                <a:spcPts val="500"/>
              </a:spcAft>
            </a:pPr>
            <a:r>
              <a:rPr sz="1300" b="0" i="0">
                <a:solidFill>
                  <a:srgbClr val="1E262B"/>
                </a:solidFill>
              </a:rPr>
              <a:t>→ call </a:t>
            </a:r>
            <a:r>
              <a:rPr sz="1300" b="1" i="0">
                <a:solidFill>
                  <a:srgbClr val="0B6463"/>
                </a:solidFill>
              </a:rPr>
              <a:t>RequestCompletionConfirmation</a:t>
            </a:r>
            <a:r>
              <a:rPr sz="1300" b="0" i="0">
                <a:solidFill>
                  <a:srgbClr val="1E262B"/>
                </a:solidFill>
              </a:rPr>
              <a:t> for the department head</a:t>
            </a:r>
          </a:p>
          <a:p>
            <a:pPr algn="l">
              <a:spcAft>
                <a:spcPts val="500"/>
              </a:spcAft>
            </a:pPr>
            <a:r>
              <a:rPr sz="1300" b="0" i="0">
                <a:solidFill>
                  <a:srgbClr val="1E262B"/>
                </a:solidFill>
              </a:rPr>
              <a:t>as </a:t>
            </a:r>
            <a:r>
              <a:rPr sz="1300" b="1" i="0">
                <a:solidFill>
                  <a:srgbClr val="0B6463"/>
                </a:solidFill>
              </a:rPr>
              <a:t>procurement-reminders</a:t>
            </a:r>
            <a:r>
              <a:rPr sz="1300" b="0" i="0">
                <a:solidFill>
                  <a:srgbClr val="1E262B"/>
                </a:solidFill>
              </a:rPr>
              <a:t>, an automation principal whose grant allows exactly this.</a:t>
            </a:r>
          </a:p>
          <a:p>
            <a:pPr algn="l">
              <a:spcAft>
                <a:spcPts val="500"/>
              </a:spcAft>
            </a:pPr>
            <a:r>
              <a:rPr sz="1300" b="0" i="0">
                <a:solidFill>
                  <a:srgbClr val="1E262B"/>
                </a:solidFill>
              </a:rPr>
              <a:t>The role file already says it: the system sends the request when a milestone falls due. T4 is still the officer's task.</a:t>
            </a:r>
          </a:p>
          <a:p>
            <a:pPr algn="l">
              <a:spcAft>
                <a:spcPts val="500"/>
              </a:spcAft>
            </a:pPr>
            <a:r>
              <a:rPr sz="1300" b="1" i="0">
                <a:solidFill>
                  <a:srgbClr val="1E262B"/>
                </a:solidFill>
              </a:rPr>
              <a:t>Not a reaction: the match. </a:t>
            </a:r>
            <a:r>
              <a:rPr sz="1300" b="1" i="0">
                <a:solidFill>
                  <a:srgbClr val="0B6463"/>
                </a:solidFill>
              </a:rPr>
              <a:t>ServiceInvoiceCaptured</a:t>
            </a:r>
            <a:r>
              <a:rPr sz="1300" b="0" i="0">
                <a:solidFill>
                  <a:srgbClr val="1E262B"/>
                </a:solidFill>
              </a:rPr>
              <a:t> starts a person's task, because matching is a judgement.</a:t>
            </a:r>
          </a:p>
        </p:txBody>
      </p:sp>
      <p:sp>
        <p:nvSpPr>
          <p:cNvPr id="9" name="Card"/>
          <p:cNvSpPr/>
          <p:nvPr/>
        </p:nvSpPr>
        <p:spPr>
          <a:xfrm>
            <a:off x="6217920" y="2286000"/>
            <a:ext cx="5422392" cy="3063240"/>
          </a:xfrm>
          <a:prstGeom prst="roundRect">
            <a:avLst>
              <a:gd name="adj" fmla="val 2686"/>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446520" y="2450592"/>
            <a:ext cx="4965192" cy="329184"/>
          </a:xfrm>
          <a:prstGeom prst="rect">
            <a:avLst/>
          </a:prstGeom>
          <a:noFill/>
        </p:spPr>
        <p:txBody>
          <a:bodyPr wrap="square" lIns="0" rIns="0" tIns="0" bIns="0" anchor="t">
            <a:spAutoFit/>
          </a:bodyPr>
          <a:lstStyle/>
          <a:p>
            <a:pPr algn="l"/>
            <a:r>
              <a:rPr sz="1400" b="1" i="0">
                <a:solidFill>
                  <a:srgbClr val="0B6463"/>
                </a:solidFill>
              </a:rPr>
              <a:t>The rules</a:t>
            </a:r>
          </a:p>
        </p:txBody>
      </p:sp>
      <p:sp>
        <p:nvSpPr>
          <p:cNvPr id="11" name="Text"/>
          <p:cNvSpPr txBox="1"/>
          <p:nvPr/>
        </p:nvSpPr>
        <p:spPr>
          <a:xfrm>
            <a:off x="6446520" y="2816352"/>
            <a:ext cx="4965192" cy="2423160"/>
          </a:xfrm>
          <a:prstGeom prst="rect">
            <a:avLst/>
          </a:prstGeom>
          <a:noFill/>
        </p:spPr>
        <p:txBody>
          <a:bodyPr wrap="square" lIns="0" rIns="0" tIns="0" bIns="0" anchor="t">
            <a:spAutoFit/>
          </a:bodyPr>
          <a:lstStyle/>
          <a:p>
            <a:pPr algn="l">
              <a:spcAft>
                <a:spcPts val="500"/>
              </a:spcAft>
            </a:pPr>
            <a:r>
              <a:rPr sz="1300" b="0" i="0">
                <a:solidFill>
                  <a:srgbClr val="1E262B"/>
                </a:solidFill>
              </a:rPr>
              <a:t>· A reaction belongs to the listening context.</a:t>
            </a:r>
          </a:p>
          <a:p>
            <a:pPr algn="l">
              <a:spcAft>
                <a:spcPts val="500"/>
              </a:spcAft>
            </a:pPr>
            <a:r>
              <a:rPr sz="1300" b="0" i="0">
                <a:solidFill>
                  <a:srgbClr val="1E262B"/>
                </a:solidFill>
              </a:rPr>
              <a:t>· Exactly one logical call of the action per event occurrence.</a:t>
            </a:r>
          </a:p>
          <a:p>
            <a:pPr algn="l">
              <a:spcAft>
                <a:spcPts val="500"/>
              </a:spcAft>
            </a:pPr>
            <a:r>
              <a:rPr sz="1300" b="0" i="0">
                <a:solidFill>
                  <a:srgbClr val="1E262B"/>
                </a:solidFill>
              </a:rPr>
              <a:t>· Retry and redelivery reuse that same call. No duplicate effect.</a:t>
            </a:r>
          </a:p>
          <a:p>
            <a:pPr algn="l">
              <a:spcAft>
                <a:spcPts val="500"/>
              </a:spcAft>
            </a:pPr>
            <a:r>
              <a:rPr sz="1300" b="0" i="0">
                <a:solidFill>
                  <a:srgbClr val="1E262B"/>
                </a:solidFill>
              </a:rPr>
              <a:t>· A failure is visible and retryable. Never silent.</a:t>
            </a:r>
          </a:p>
          <a:p>
            <a:pPr algn="l">
              <a:spcAft>
                <a:spcPts val="500"/>
              </a:spcAft>
            </a:pPr>
            <a:r>
              <a:rPr sz="1300" b="0" i="0">
                <a:solidFill>
                  <a:srgbClr val="1E262B"/>
                </a:solidFill>
              </a:rPr>
              <a:t>· The called action's gates fully apply. A reaction has no side-door authority.</a:t>
            </a:r>
          </a:p>
        </p:txBody>
      </p:sp>
      <p:sp>
        <p:nvSpPr>
          <p:cNvPr id="12" name="Finding"/>
          <p:cNvSpPr/>
          <p:nvPr/>
        </p:nvSpPr>
        <p:spPr>
          <a:xfrm>
            <a:off x="548640" y="5532120"/>
            <a:ext cx="11091672" cy="530352"/>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822960" y="5532120"/>
            <a:ext cx="10543032" cy="530352"/>
          </a:xfrm>
          <a:prstGeom prst="rect">
            <a:avLst/>
          </a:prstGeom>
          <a:noFill/>
        </p:spPr>
        <p:txBody>
          <a:bodyPr wrap="square" lIns="0" rIns="0" tIns="0" bIns="0" anchor="ctr">
            <a:spAutoFit/>
          </a:bodyPr>
          <a:lstStyle/>
          <a:p>
            <a:pPr algn="l"/>
            <a:r>
              <a:rPr sz="1350" b="1" i="0">
                <a:solidFill>
                  <a:srgbClr val="1E262B"/>
                </a:solidFill>
              </a:rPr>
              <a:t>Keep this.  </a:t>
            </a:r>
            <a:r>
              <a:rPr sz="1350" b="0" i="0">
                <a:solidFill>
                  <a:srgbClr val="1E262B"/>
                </a:solidFill>
              </a:rPr>
              <a:t>Work the system does is a reaction. Work a person judges is a task. Only exceptions reach a person.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Approval</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CONCEPTS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15</a:t>
            </a:r>
          </a:p>
        </p:txBody>
      </p:sp>
      <p:sp>
        <p:nvSpPr>
          <p:cNvPr id="5" name="Text"/>
          <p:cNvSpPr txBox="1"/>
          <p:nvPr/>
        </p:nvSpPr>
        <p:spPr>
          <a:xfrm>
            <a:off x="548640" y="1298448"/>
            <a:ext cx="11091672" cy="868680"/>
          </a:xfrm>
          <a:prstGeom prst="rect">
            <a:avLst/>
          </a:prstGeom>
          <a:noFill/>
        </p:spPr>
        <p:txBody>
          <a:bodyPr wrap="square" lIns="0" rIns="0" tIns="0" bIns="0" anchor="ctr">
            <a:spAutoFit/>
          </a:bodyPr>
          <a:lstStyle/>
          <a:p>
            <a:pPr algn="l"/>
            <a:r>
              <a:rPr sz="1900" b="0" i="0">
                <a:solidFill>
                  <a:srgbClr val="0B4A4A"/>
                </a:solidFill>
              </a:rPr>
              <a:t>An approval is a gate, an authority and a clock. The gated action has no effect until the decision concludes.</a:t>
            </a:r>
          </a:p>
        </p:txBody>
      </p:sp>
      <p:sp>
        <p:nvSpPr>
          <p:cNvPr id="6" name="Card"/>
          <p:cNvSpPr/>
          <p:nvPr/>
        </p:nvSpPr>
        <p:spPr>
          <a:xfrm>
            <a:off x="548640" y="2286000"/>
            <a:ext cx="5486400" cy="3063240"/>
          </a:xfrm>
          <a:prstGeom prst="roundRect">
            <a:avLst>
              <a:gd name="adj" fmla="val 2686"/>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450592"/>
            <a:ext cx="5029200" cy="329184"/>
          </a:xfrm>
          <a:prstGeom prst="rect">
            <a:avLst/>
          </a:prstGeom>
          <a:noFill/>
        </p:spPr>
        <p:txBody>
          <a:bodyPr wrap="square" lIns="0" rIns="0" tIns="0" bIns="0" anchor="t">
            <a:spAutoFit/>
          </a:bodyPr>
          <a:lstStyle/>
          <a:p>
            <a:pPr algn="l"/>
            <a:r>
              <a:rPr sz="1400" b="1" i="0">
                <a:solidFill>
                  <a:srgbClr val="0B6463"/>
                </a:solidFill>
              </a:rPr>
              <a:t>In our example</a:t>
            </a:r>
          </a:p>
        </p:txBody>
      </p:sp>
      <p:sp>
        <p:nvSpPr>
          <p:cNvPr id="8" name="Text"/>
          <p:cNvSpPr txBox="1"/>
          <p:nvPr/>
        </p:nvSpPr>
        <p:spPr>
          <a:xfrm>
            <a:off x="777240" y="2816352"/>
            <a:ext cx="5029200" cy="2423160"/>
          </a:xfrm>
          <a:prstGeom prst="rect">
            <a:avLst/>
          </a:prstGeom>
          <a:noFill/>
        </p:spPr>
        <p:txBody>
          <a:bodyPr wrap="square" lIns="0" rIns="0" tIns="0" bIns="0" anchor="t">
            <a:spAutoFit/>
          </a:bodyPr>
          <a:lstStyle/>
          <a:p>
            <a:pPr algn="l">
              <a:spcAft>
                <a:spcPts val="500"/>
              </a:spcAft>
            </a:pPr>
            <a:r>
              <a:rPr sz="1300" b="0" i="0">
                <a:solidFill>
                  <a:srgbClr val="1E262B"/>
                </a:solidFill>
              </a:rPr>
              <a:t>Every Works Order is approved commercially by the </a:t>
            </a:r>
            <a:r>
              <a:rPr sz="1300" b="1" i="0">
                <a:solidFill>
                  <a:srgbClr val="0B6463"/>
                </a:solidFill>
              </a:rPr>
              <a:t>Procurement Manager</a:t>
            </a:r>
            <a:r>
              <a:rPr sz="1300" b="0" i="0">
                <a:solidFill>
                  <a:srgbClr val="1E262B"/>
                </a:solidFill>
              </a:rPr>
              <a:t>.</a:t>
            </a:r>
          </a:p>
          <a:p>
            <a:pPr algn="l">
              <a:spcAft>
                <a:spcPts val="500"/>
              </a:spcAft>
            </a:pPr>
            <a:r>
              <a:rPr sz="1300" b="0" i="0">
                <a:solidFill>
                  <a:srgbClr val="1E262B"/>
                </a:solidFill>
              </a:rPr>
              <a:t>The approval gates </a:t>
            </a:r>
            <a:r>
              <a:rPr sz="1300" b="1" i="0">
                <a:solidFill>
                  <a:srgbClr val="0B6463"/>
                </a:solidFill>
              </a:rPr>
              <a:t>ReleaseWorksOrder</a:t>
            </a:r>
            <a:r>
              <a:rPr sz="1300" b="0" i="0">
                <a:solidFill>
                  <a:srgbClr val="1E262B"/>
                </a:solidFill>
              </a:rPr>
              <a:t>: the order has no effect on the contractor until the decision concludes.</a:t>
            </a:r>
          </a:p>
          <a:p>
            <a:pPr algn="l">
              <a:spcAft>
                <a:spcPts val="500"/>
              </a:spcAft>
            </a:pPr>
            <a:r>
              <a:rPr sz="1300" b="0" i="0">
                <a:solidFill>
                  <a:srgbClr val="1E262B"/>
                </a:solidFill>
              </a:rPr>
              <a:t>The approval instance is an entity: requested → approved | rejected | expired.</a:t>
            </a:r>
          </a:p>
          <a:p>
            <a:pPr algn="l">
              <a:spcAft>
                <a:spcPts val="500"/>
              </a:spcAft>
            </a:pPr>
            <a:r>
              <a:rPr sz="1300" b="0" i="0">
                <a:solidFill>
                  <a:srgbClr val="1E262B"/>
                </a:solidFill>
              </a:rPr>
              <a:t>Whoever occupies Procurement Manager that day decides. If the seat changes hands mid-way, the request moves with the seat.</a:t>
            </a:r>
          </a:p>
          <a:p>
            <a:pPr algn="l">
              <a:spcAft>
                <a:spcPts val="500"/>
              </a:spcAft>
            </a:pPr>
            <a:r>
              <a:rPr sz="1300" b="0" i="0">
                <a:solidFill>
                  <a:srgbClr val="1E262B"/>
                </a:solidFill>
              </a:rPr>
              <a:t>On </a:t>
            </a:r>
            <a:r>
              <a:rPr sz="1300" b="1" i="0">
                <a:solidFill>
                  <a:srgbClr val="0B6463"/>
                </a:solidFill>
              </a:rPr>
              <a:t>ApprovalDeadlineReached</a:t>
            </a:r>
            <a:r>
              <a:rPr sz="1300" b="0" i="0">
                <a:solidFill>
                  <a:srgbClr val="1E262B"/>
                </a:solidFill>
              </a:rPr>
              <a:t>, a reaction escalates. Nothing expires silently.</a:t>
            </a:r>
          </a:p>
        </p:txBody>
      </p:sp>
      <p:sp>
        <p:nvSpPr>
          <p:cNvPr id="9" name="Card"/>
          <p:cNvSpPr/>
          <p:nvPr/>
        </p:nvSpPr>
        <p:spPr>
          <a:xfrm>
            <a:off x="6217920" y="2286000"/>
            <a:ext cx="5422392" cy="3063240"/>
          </a:xfrm>
          <a:prstGeom prst="roundRect">
            <a:avLst>
              <a:gd name="adj" fmla="val 2686"/>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446520" y="2450592"/>
            <a:ext cx="4965192" cy="329184"/>
          </a:xfrm>
          <a:prstGeom prst="rect">
            <a:avLst/>
          </a:prstGeom>
          <a:noFill/>
        </p:spPr>
        <p:txBody>
          <a:bodyPr wrap="square" lIns="0" rIns="0" tIns="0" bIns="0" anchor="t">
            <a:spAutoFit/>
          </a:bodyPr>
          <a:lstStyle/>
          <a:p>
            <a:pPr algn="l"/>
            <a:r>
              <a:rPr sz="1400" b="1" i="0">
                <a:solidFill>
                  <a:srgbClr val="0B6463"/>
                </a:solidFill>
              </a:rPr>
              <a:t>The rules</a:t>
            </a:r>
          </a:p>
        </p:txBody>
      </p:sp>
      <p:sp>
        <p:nvSpPr>
          <p:cNvPr id="11" name="Text"/>
          <p:cNvSpPr txBox="1"/>
          <p:nvPr/>
        </p:nvSpPr>
        <p:spPr>
          <a:xfrm>
            <a:off x="6446520" y="2816352"/>
            <a:ext cx="4965192" cy="2423160"/>
          </a:xfrm>
          <a:prstGeom prst="rect">
            <a:avLst/>
          </a:prstGeom>
          <a:noFill/>
        </p:spPr>
        <p:txBody>
          <a:bodyPr wrap="square" lIns="0" rIns="0" tIns="0" bIns="0" anchor="t">
            <a:spAutoFit/>
          </a:bodyPr>
          <a:lstStyle/>
          <a:p>
            <a:pPr algn="l">
              <a:spcAft>
                <a:spcPts val="500"/>
              </a:spcAft>
            </a:pPr>
            <a:r>
              <a:rPr sz="1300" b="0" i="0">
                <a:solidFill>
                  <a:srgbClr val="1E262B"/>
                </a:solidFill>
              </a:rPr>
              <a:t>· A position decides, not a person. Resolved at decision time.</a:t>
            </a:r>
          </a:p>
          <a:p>
            <a:pPr algn="l">
              <a:spcAft>
                <a:spcPts val="500"/>
              </a:spcAft>
            </a:pPr>
            <a:r>
              <a:rPr sz="1300" b="0" i="0">
                <a:solidFill>
                  <a:srgbClr val="1E262B"/>
                </a:solidFill>
              </a:rPr>
              <a:t>· Declared: what is decided, the consequence of each outcome, whether rejection needs a reason, the deadline, the escalation.</a:t>
            </a:r>
          </a:p>
          <a:p>
            <a:pPr algn="l">
              <a:spcAft>
                <a:spcPts val="500"/>
              </a:spcAft>
            </a:pPr>
            <a:r>
              <a:rPr sz="1300" b="0" i="0">
                <a:solidFill>
                  <a:srgbClr val="1E262B"/>
                </a:solidFill>
              </a:rPr>
              <a:t>· The instance is an ordinary entity in the deciding context.</a:t>
            </a:r>
          </a:p>
          <a:p>
            <a:pPr algn="l">
              <a:spcAft>
                <a:spcPts val="500"/>
              </a:spcAft>
            </a:pPr>
            <a:r>
              <a:rPr sz="1300" b="0" i="0">
                <a:solidFill>
                  <a:srgbClr val="1E262B"/>
                </a:solidFill>
              </a:rPr>
              <a:t>· Expiry is an explicit state.</a:t>
            </a:r>
          </a:p>
          <a:p>
            <a:pPr algn="l">
              <a:spcAft>
                <a:spcPts val="500"/>
              </a:spcAft>
            </a:pPr>
            <a:r>
              <a:rPr sz="1300" b="0" i="0">
                <a:solidFill>
                  <a:srgbClr val="1E262B"/>
                </a:solidFill>
              </a:rPr>
              <a:t>· Escalation is a reaction on the deadline event.</a:t>
            </a:r>
          </a:p>
        </p:txBody>
      </p:sp>
      <p:sp>
        <p:nvSpPr>
          <p:cNvPr id="12" name="Finding"/>
          <p:cNvSpPr/>
          <p:nvPr/>
        </p:nvSpPr>
        <p:spPr>
          <a:xfrm>
            <a:off x="548640" y="5532120"/>
            <a:ext cx="11091672" cy="530352"/>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822960" y="5532120"/>
            <a:ext cx="10543032" cy="530352"/>
          </a:xfrm>
          <a:prstGeom prst="rect">
            <a:avLst/>
          </a:prstGeom>
          <a:noFill/>
        </p:spPr>
        <p:txBody>
          <a:bodyPr wrap="square" lIns="0" rIns="0" tIns="0" bIns="0" anchor="ctr">
            <a:spAutoFit/>
          </a:bodyPr>
          <a:lstStyle/>
          <a:p>
            <a:pPr algn="l"/>
            <a:r>
              <a:rPr sz="1350" b="1" i="0">
                <a:solidFill>
                  <a:srgbClr val="1E262B"/>
                </a:solidFill>
              </a:rPr>
              <a:t>Keep this.  </a:t>
            </a:r>
            <a:r>
              <a:rPr sz="1350" b="0" i="0">
                <a:solidFill>
                  <a:srgbClr val="1E262B"/>
                </a:solidFill>
              </a:rPr>
              <a:t>No workflow engine. A lifecycle, a gate, a timer and a reaction are enough.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Timer</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CONCEPTS  ·  APPROVAL AND TIMER</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16</a:t>
            </a:r>
          </a:p>
        </p:txBody>
      </p:sp>
      <p:sp>
        <p:nvSpPr>
          <p:cNvPr id="5" name="Text"/>
          <p:cNvSpPr txBox="1"/>
          <p:nvPr/>
        </p:nvSpPr>
        <p:spPr>
          <a:xfrm>
            <a:off x="548640" y="1298448"/>
            <a:ext cx="11091672" cy="868680"/>
          </a:xfrm>
          <a:prstGeom prst="rect">
            <a:avLst/>
          </a:prstGeom>
          <a:noFill/>
        </p:spPr>
        <p:txBody>
          <a:bodyPr wrap="square" lIns="0" rIns="0" tIns="0" bIns="0" anchor="ctr">
            <a:spAutoFit/>
          </a:bodyPr>
          <a:lstStyle/>
          <a:p>
            <a:pPr algn="l"/>
            <a:r>
              <a:rPr sz="1900" b="0" i="0">
                <a:solidFill>
                  <a:srgbClr val="0B4A4A"/>
                </a:solidFill>
              </a:rPr>
              <a:t>A timer is a declared point in time that the system turns into an event. Nothing in the business waits in silence.</a:t>
            </a:r>
          </a:p>
        </p:txBody>
      </p:sp>
      <p:sp>
        <p:nvSpPr>
          <p:cNvPr id="6" name="Card"/>
          <p:cNvSpPr/>
          <p:nvPr/>
        </p:nvSpPr>
        <p:spPr>
          <a:xfrm>
            <a:off x="548640" y="2286000"/>
            <a:ext cx="5486400" cy="3063240"/>
          </a:xfrm>
          <a:prstGeom prst="roundRect">
            <a:avLst>
              <a:gd name="adj" fmla="val 2686"/>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450592"/>
            <a:ext cx="5029200" cy="329184"/>
          </a:xfrm>
          <a:prstGeom prst="rect">
            <a:avLst/>
          </a:prstGeom>
          <a:noFill/>
        </p:spPr>
        <p:txBody>
          <a:bodyPr wrap="square" lIns="0" rIns="0" tIns="0" bIns="0" anchor="t">
            <a:spAutoFit/>
          </a:bodyPr>
          <a:lstStyle/>
          <a:p>
            <a:pPr algn="l"/>
            <a:r>
              <a:rPr sz="1400" b="1" i="0">
                <a:solidFill>
                  <a:srgbClr val="0B6463"/>
                </a:solidFill>
              </a:rPr>
              <a:t>In our example</a:t>
            </a:r>
          </a:p>
        </p:txBody>
      </p:sp>
      <p:sp>
        <p:nvSpPr>
          <p:cNvPr id="8" name="Text"/>
          <p:cNvSpPr txBox="1"/>
          <p:nvPr/>
        </p:nvSpPr>
        <p:spPr>
          <a:xfrm>
            <a:off x="777240" y="2816352"/>
            <a:ext cx="5029200" cy="2423160"/>
          </a:xfrm>
          <a:prstGeom prst="rect">
            <a:avLst/>
          </a:prstGeom>
          <a:noFill/>
        </p:spPr>
        <p:txBody>
          <a:bodyPr wrap="square" lIns="0" rIns="0" tIns="0" bIns="0" anchor="t">
            <a:spAutoFit/>
          </a:bodyPr>
          <a:lstStyle/>
          <a:p>
            <a:pPr algn="l">
              <a:spcAft>
                <a:spcPts val="500"/>
              </a:spcAft>
            </a:pPr>
            <a:r>
              <a:rPr sz="1300" b="1" i="0">
                <a:solidFill>
                  <a:srgbClr val="0B6463"/>
                </a:solidFill>
              </a:rPr>
              <a:t>MilestoneDue</a:t>
            </a:r>
            <a:r>
              <a:rPr sz="1300" b="0" i="0">
                <a:solidFill>
                  <a:srgbClr val="1E262B"/>
                </a:solidFill>
              </a:rPr>
              <a:t>: a milestone on a Works Order falls due. The reaction asks for the confirmation.</a:t>
            </a:r>
          </a:p>
          <a:p>
            <a:pPr algn="l">
              <a:spcAft>
                <a:spcPts val="500"/>
              </a:spcAft>
            </a:pPr>
            <a:r>
              <a:rPr sz="1300" b="0" i="0">
                <a:solidFill>
                  <a:srgbClr val="1E262B"/>
                </a:solidFill>
              </a:rPr>
              <a:t>The confirmation request's reminder and escalation at the company's limits.</a:t>
            </a:r>
          </a:p>
          <a:p>
            <a:pPr algn="l">
              <a:spcAft>
                <a:spcPts val="500"/>
              </a:spcAft>
            </a:pPr>
            <a:r>
              <a:rPr sz="1300" b="1" i="0">
                <a:solidFill>
                  <a:srgbClr val="0B6463"/>
                </a:solidFill>
              </a:rPr>
              <a:t>ApprovalDeadlineReached</a:t>
            </a:r>
            <a:r>
              <a:rPr sz="1300" b="0" i="0">
                <a:solidFill>
                  <a:srgbClr val="1E262B"/>
                </a:solidFill>
              </a:rPr>
              <a:t>: the Procurement Manager has not decided in time.</a:t>
            </a:r>
          </a:p>
          <a:p>
            <a:pPr algn="l">
              <a:spcAft>
                <a:spcPts val="500"/>
              </a:spcAft>
            </a:pPr>
            <a:r>
              <a:rPr sz="1300" b="0" i="0">
                <a:solidFill>
                  <a:srgbClr val="1E262B"/>
                </a:solidFill>
              </a:rPr>
              <a:t>A Works Order's end date comes within the company's window: the renewal review.</a:t>
            </a:r>
          </a:p>
          <a:p>
            <a:pPr algn="l">
              <a:spcAft>
                <a:spcPts val="500"/>
              </a:spcAft>
            </a:pPr>
            <a:r>
              <a:rPr sz="1300" b="0" i="0">
                <a:solidFill>
                  <a:srgbClr val="1E262B"/>
                </a:solidFill>
              </a:rPr>
              <a:t>The limits are parameters: a named number the business sets, with a seat that owns it.</a:t>
            </a:r>
          </a:p>
        </p:txBody>
      </p:sp>
      <p:sp>
        <p:nvSpPr>
          <p:cNvPr id="9" name="Card"/>
          <p:cNvSpPr/>
          <p:nvPr/>
        </p:nvSpPr>
        <p:spPr>
          <a:xfrm>
            <a:off x="6217920" y="2286000"/>
            <a:ext cx="5422392" cy="3063240"/>
          </a:xfrm>
          <a:prstGeom prst="roundRect">
            <a:avLst>
              <a:gd name="adj" fmla="val 2686"/>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446520" y="2450592"/>
            <a:ext cx="4965192" cy="329184"/>
          </a:xfrm>
          <a:prstGeom prst="rect">
            <a:avLst/>
          </a:prstGeom>
          <a:noFill/>
        </p:spPr>
        <p:txBody>
          <a:bodyPr wrap="square" lIns="0" rIns="0" tIns="0" bIns="0" anchor="t">
            <a:spAutoFit/>
          </a:bodyPr>
          <a:lstStyle/>
          <a:p>
            <a:pPr algn="l"/>
            <a:r>
              <a:rPr sz="1400" b="1" i="0">
                <a:solidFill>
                  <a:srgbClr val="0B6463"/>
                </a:solidFill>
              </a:rPr>
              <a:t>The rules</a:t>
            </a:r>
          </a:p>
        </p:txBody>
      </p:sp>
      <p:sp>
        <p:nvSpPr>
          <p:cNvPr id="11" name="Text"/>
          <p:cNvSpPr txBox="1"/>
          <p:nvPr/>
        </p:nvSpPr>
        <p:spPr>
          <a:xfrm>
            <a:off x="6446520" y="2816352"/>
            <a:ext cx="4965192" cy="2423160"/>
          </a:xfrm>
          <a:prstGeom prst="rect">
            <a:avLst/>
          </a:prstGeom>
          <a:noFill/>
        </p:spPr>
        <p:txBody>
          <a:bodyPr wrap="square" lIns="0" rIns="0" tIns="0" bIns="0" anchor="t">
            <a:spAutoFit/>
          </a:bodyPr>
          <a:lstStyle/>
          <a:p>
            <a:pPr algn="l">
              <a:spcAft>
                <a:spcPts val="500"/>
              </a:spcAft>
            </a:pPr>
            <a:r>
              <a:rPr sz="1300" b="0" i="0">
                <a:solidFill>
                  <a:srgbClr val="1E262B"/>
                </a:solidFill>
              </a:rPr>
              <a:t>· Time is declared, not improvised.</a:t>
            </a:r>
          </a:p>
          <a:p>
            <a:pPr algn="l">
              <a:spcAft>
                <a:spcPts val="500"/>
              </a:spcAft>
            </a:pPr>
            <a:r>
              <a:rPr sz="1300" b="0" i="0">
                <a:solidFill>
                  <a:srgbClr val="1E262B"/>
                </a:solidFill>
              </a:rPr>
              <a:t>· The platform publishes the occurrence as an event. In the POC: the scheduler.</a:t>
            </a:r>
          </a:p>
          <a:p>
            <a:pPr algn="l">
              <a:spcAft>
                <a:spcPts val="500"/>
              </a:spcAft>
            </a:pPr>
            <a:r>
              <a:rPr sz="1300" b="0" i="0">
                <a:solidFill>
                  <a:srgbClr val="1E262B"/>
                </a:solidFill>
              </a:rPr>
              <a:t>· A reaction decides what happens next.</a:t>
            </a:r>
          </a:p>
          <a:p>
            <a:pPr algn="l">
              <a:spcAft>
                <a:spcPts val="500"/>
              </a:spcAft>
            </a:pPr>
            <a:r>
              <a:rPr sz="1300" b="0" i="0">
                <a:solidFill>
                  <a:srgbClr val="1E262B"/>
                </a:solidFill>
              </a:rPr>
              <a:t>· Expiry lands in an explicit state.</a:t>
            </a:r>
          </a:p>
          <a:p>
            <a:pPr algn="l">
              <a:spcAft>
                <a:spcPts val="500"/>
              </a:spcAft>
            </a:pPr>
            <a:r>
              <a:rPr sz="1300" b="0" i="0">
                <a:solidFill>
                  <a:srgbClr val="1E262B"/>
                </a:solidFill>
              </a:rPr>
              <a:t>· Every limit has an owner. A number with no owner is a fault.</a:t>
            </a:r>
          </a:p>
        </p:txBody>
      </p:sp>
      <p:sp>
        <p:nvSpPr>
          <p:cNvPr id="12" name="Finding"/>
          <p:cNvSpPr/>
          <p:nvPr/>
        </p:nvSpPr>
        <p:spPr>
          <a:xfrm>
            <a:off x="548640" y="5532120"/>
            <a:ext cx="11091672" cy="530352"/>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822960" y="5532120"/>
            <a:ext cx="10543032" cy="530352"/>
          </a:xfrm>
          <a:prstGeom prst="rect">
            <a:avLst/>
          </a:prstGeom>
          <a:noFill/>
        </p:spPr>
        <p:txBody>
          <a:bodyPr wrap="square" lIns="0" rIns="0" tIns="0" bIns="0" anchor="ctr">
            <a:spAutoFit/>
          </a:bodyPr>
          <a:lstStyle/>
          <a:p>
            <a:pPr algn="l"/>
            <a:r>
              <a:rPr sz="1350" b="1" i="0">
                <a:solidFill>
                  <a:srgbClr val="1E262B"/>
                </a:solidFill>
              </a:rPr>
              <a:t>Keep this.  </a:t>
            </a:r>
            <a:r>
              <a:rPr sz="1350" b="0" i="0">
                <a:solidFill>
                  <a:srgbClr val="1E262B"/>
                </a:solidFill>
              </a:rPr>
              <a:t>Dates and waits are the system's clock speaking. On the screen they are the cues the checks call N2.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Query</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CONCEPTS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17</a:t>
            </a:r>
          </a:p>
        </p:txBody>
      </p:sp>
      <p:sp>
        <p:nvSpPr>
          <p:cNvPr id="5" name="Text"/>
          <p:cNvSpPr txBox="1"/>
          <p:nvPr/>
        </p:nvSpPr>
        <p:spPr>
          <a:xfrm>
            <a:off x="548640" y="1298448"/>
            <a:ext cx="11091672" cy="868680"/>
          </a:xfrm>
          <a:prstGeom prst="rect">
            <a:avLst/>
          </a:prstGeom>
          <a:noFill/>
        </p:spPr>
        <p:txBody>
          <a:bodyPr wrap="square" lIns="0" rIns="0" tIns="0" bIns="0" anchor="ctr">
            <a:spAutoFit/>
          </a:bodyPr>
          <a:lstStyle/>
          <a:p>
            <a:pPr algn="l"/>
            <a:r>
              <a:rPr sz="1900" b="0" i="0">
                <a:solidFill>
                  <a:srgbClr val="0B4A4A"/>
                </a:solidFill>
              </a:rPr>
              <a:t>A query reads facts and changes nothing. It declares who may read, and how fresh the answer is.</a:t>
            </a:r>
          </a:p>
        </p:txBody>
      </p:sp>
      <p:sp>
        <p:nvSpPr>
          <p:cNvPr id="6" name="Card"/>
          <p:cNvSpPr/>
          <p:nvPr/>
        </p:nvSpPr>
        <p:spPr>
          <a:xfrm>
            <a:off x="548640" y="2286000"/>
            <a:ext cx="5486400" cy="3063240"/>
          </a:xfrm>
          <a:prstGeom prst="roundRect">
            <a:avLst>
              <a:gd name="adj" fmla="val 2686"/>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450592"/>
            <a:ext cx="5029200" cy="329184"/>
          </a:xfrm>
          <a:prstGeom prst="rect">
            <a:avLst/>
          </a:prstGeom>
          <a:noFill/>
        </p:spPr>
        <p:txBody>
          <a:bodyPr wrap="square" lIns="0" rIns="0" tIns="0" bIns="0" anchor="t">
            <a:spAutoFit/>
          </a:bodyPr>
          <a:lstStyle/>
          <a:p>
            <a:pPr algn="l"/>
            <a:r>
              <a:rPr sz="1400" b="1" i="0">
                <a:solidFill>
                  <a:srgbClr val="0B6463"/>
                </a:solidFill>
              </a:rPr>
              <a:t>In our example</a:t>
            </a:r>
          </a:p>
        </p:txBody>
      </p:sp>
      <p:sp>
        <p:nvSpPr>
          <p:cNvPr id="8" name="Text"/>
          <p:cNvSpPr txBox="1"/>
          <p:nvPr/>
        </p:nvSpPr>
        <p:spPr>
          <a:xfrm>
            <a:off x="777240" y="2816352"/>
            <a:ext cx="5029200" cy="2423160"/>
          </a:xfrm>
          <a:prstGeom prst="rect">
            <a:avLst/>
          </a:prstGeom>
          <a:noFill/>
        </p:spPr>
        <p:txBody>
          <a:bodyPr wrap="square" lIns="0" rIns="0" tIns="0" bIns="0" anchor="t">
            <a:spAutoFit/>
          </a:bodyPr>
          <a:lstStyle/>
          <a:p>
            <a:pPr algn="l">
              <a:spcAft>
                <a:spcPts val="500"/>
              </a:spcAft>
            </a:pPr>
            <a:r>
              <a:rPr sz="1300" b="0" i="0">
                <a:solidFill>
                  <a:srgbClr val="1E262B"/>
                </a:solidFill>
              </a:rPr>
              <a:t>The officer's queue: </a:t>
            </a:r>
            <a:r>
              <a:rPr sz="1300" b="0" i="0">
                <a:solidFill>
                  <a:srgbClr val="1E262B"/>
                </a:solidFill>
              </a:rPr>
              <a:t>Works Orders and service invoices in a state this seat holds, grouped by whose move it is.</a:t>
            </a:r>
          </a:p>
          <a:p>
            <a:pPr algn="l">
              <a:spcAft>
                <a:spcPts val="500"/>
              </a:spcAft>
            </a:pPr>
            <a:r>
              <a:rPr sz="1300" b="0" i="0">
                <a:solidFill>
                  <a:srgbClr val="1E262B"/>
                </a:solidFill>
              </a:rPr>
              <a:t>It reads Procurement and Finance by declared identifiers. It never joins another capability's tables.</a:t>
            </a:r>
          </a:p>
          <a:p>
            <a:pPr algn="l">
              <a:spcAft>
                <a:spcPts val="500"/>
              </a:spcAft>
            </a:pPr>
            <a:r>
              <a:rPr sz="1300" b="0" i="0">
                <a:solidFill>
                  <a:srgbClr val="1E262B"/>
                </a:solidFill>
              </a:rPr>
              <a:t>One question, one query. The task home chooses the columns and the order; the engine generates the shape.</a:t>
            </a:r>
          </a:p>
          <a:p>
            <a:pPr algn="l">
              <a:spcAft>
                <a:spcPts val="500"/>
              </a:spcAft>
            </a:pPr>
            <a:r>
              <a:rPr sz="1300" b="0" i="0">
                <a:solidFill>
                  <a:srgbClr val="1E262B"/>
                </a:solidFill>
              </a:rPr>
              <a:t>Other queries in the thread: the Works Order's view; the department head's pending confirmations; the Accounts Manager's variances.</a:t>
            </a:r>
          </a:p>
        </p:txBody>
      </p:sp>
      <p:sp>
        <p:nvSpPr>
          <p:cNvPr id="9" name="Card"/>
          <p:cNvSpPr/>
          <p:nvPr/>
        </p:nvSpPr>
        <p:spPr>
          <a:xfrm>
            <a:off x="6217920" y="2286000"/>
            <a:ext cx="5422392" cy="3063240"/>
          </a:xfrm>
          <a:prstGeom prst="roundRect">
            <a:avLst>
              <a:gd name="adj" fmla="val 2686"/>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446520" y="2450592"/>
            <a:ext cx="4965192" cy="329184"/>
          </a:xfrm>
          <a:prstGeom prst="rect">
            <a:avLst/>
          </a:prstGeom>
          <a:noFill/>
        </p:spPr>
        <p:txBody>
          <a:bodyPr wrap="square" lIns="0" rIns="0" tIns="0" bIns="0" anchor="t">
            <a:spAutoFit/>
          </a:bodyPr>
          <a:lstStyle/>
          <a:p>
            <a:pPr algn="l"/>
            <a:r>
              <a:rPr sz="1400" b="1" i="0">
                <a:solidFill>
                  <a:srgbClr val="0B6463"/>
                </a:solidFill>
              </a:rPr>
              <a:t>The rules</a:t>
            </a:r>
          </a:p>
        </p:txBody>
      </p:sp>
      <p:sp>
        <p:nvSpPr>
          <p:cNvPr id="11" name="Text"/>
          <p:cNvSpPr txBox="1"/>
          <p:nvPr/>
        </p:nvSpPr>
        <p:spPr>
          <a:xfrm>
            <a:off x="6446520" y="2816352"/>
            <a:ext cx="4965192" cy="2423160"/>
          </a:xfrm>
          <a:prstGeom prst="rect">
            <a:avLst/>
          </a:prstGeom>
          <a:noFill/>
        </p:spPr>
        <p:txBody>
          <a:bodyPr wrap="square" lIns="0" rIns="0" tIns="0" bIns="0" anchor="t">
            <a:spAutoFit/>
          </a:bodyPr>
          <a:lstStyle/>
          <a:p>
            <a:pPr algn="l">
              <a:spcAft>
                <a:spcPts val="500"/>
              </a:spcAft>
            </a:pPr>
            <a:r>
              <a:rPr sz="1300" b="0" i="0">
                <a:solidFill>
                  <a:srgbClr val="1E262B"/>
                </a:solidFill>
              </a:rPr>
              <a:t>· Side-effect free.</a:t>
            </a:r>
          </a:p>
          <a:p>
            <a:pPr algn="l">
              <a:spcAft>
                <a:spcPts val="500"/>
              </a:spcAft>
            </a:pPr>
            <a:r>
              <a:rPr sz="1300" b="0" i="0">
                <a:solidFill>
                  <a:srgbClr val="1E262B"/>
                </a:solidFill>
              </a:rPr>
              <a:t>· Authorized at the contract. Read-only is not harmless.</a:t>
            </a:r>
          </a:p>
          <a:p>
            <a:pPr algn="l">
              <a:spcAft>
                <a:spcPts val="500"/>
              </a:spcAft>
            </a:pPr>
            <a:r>
              <a:rPr sz="1300" b="0" i="0">
                <a:solidFill>
                  <a:srgbClr val="1E262B"/>
                </a:solidFill>
              </a:rPr>
              <a:t>· Declared freshness: current, as of a time, or with a stated lag.</a:t>
            </a:r>
          </a:p>
          <a:p>
            <a:pPr algn="l">
              <a:spcAft>
                <a:spcPts val="500"/>
              </a:spcAft>
            </a:pPr>
            <a:r>
              <a:rPr sz="1300" b="0" i="0">
                <a:solidFill>
                  <a:srgbClr val="1E262B"/>
                </a:solidFill>
              </a:rPr>
              <a:t>· Crosses contexts by declared identifiers, never by another's tables.</a:t>
            </a:r>
          </a:p>
          <a:p>
            <a:pPr algn="l">
              <a:spcAft>
                <a:spcPts val="500"/>
              </a:spcAft>
            </a:pPr>
            <a:r>
              <a:rPr sz="1300" b="0" i="0">
                <a:solidFill>
                  <a:srgbClr val="1E262B"/>
                </a:solidFill>
              </a:rPr>
              <a:t>· One business question per query. The screen's shape is derived from it.</a:t>
            </a:r>
          </a:p>
        </p:txBody>
      </p:sp>
      <p:sp>
        <p:nvSpPr>
          <p:cNvPr id="12" name="Finding"/>
          <p:cNvSpPr/>
          <p:nvPr/>
        </p:nvSpPr>
        <p:spPr>
          <a:xfrm>
            <a:off x="548640" y="5532120"/>
            <a:ext cx="11091672" cy="530352"/>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822960" y="5532120"/>
            <a:ext cx="10543032" cy="530352"/>
          </a:xfrm>
          <a:prstGeom prst="rect">
            <a:avLst/>
          </a:prstGeom>
          <a:noFill/>
        </p:spPr>
        <p:txBody>
          <a:bodyPr wrap="square" lIns="0" rIns="0" tIns="0" bIns="0" anchor="ctr">
            <a:spAutoFit/>
          </a:bodyPr>
          <a:lstStyle/>
          <a:p>
            <a:pPr algn="l"/>
            <a:r>
              <a:rPr sz="1350" b="1" i="0">
                <a:solidFill>
                  <a:srgbClr val="1E262B"/>
                </a:solidFill>
              </a:rPr>
              <a:t>Keep this.  </a:t>
            </a:r>
            <a:r>
              <a:rPr sz="1350" b="0" i="0">
                <a:solidFill>
                  <a:srgbClr val="1E262B"/>
                </a:solidFill>
              </a:rPr>
              <a:t>A task home is a query. A report is a query. A cue is a query.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Authority</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CONCEPTS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18</a:t>
            </a:r>
          </a:p>
        </p:txBody>
      </p:sp>
      <p:sp>
        <p:nvSpPr>
          <p:cNvPr id="5" name="Text"/>
          <p:cNvSpPr txBox="1"/>
          <p:nvPr/>
        </p:nvSpPr>
        <p:spPr>
          <a:xfrm>
            <a:off x="548640" y="1298448"/>
            <a:ext cx="11091672" cy="868680"/>
          </a:xfrm>
          <a:prstGeom prst="rect">
            <a:avLst/>
          </a:prstGeom>
          <a:noFill/>
        </p:spPr>
        <p:txBody>
          <a:bodyPr wrap="square" lIns="0" rIns="0" tIns="0" bIns="0" anchor="ctr">
            <a:spAutoFit/>
          </a:bodyPr>
          <a:lstStyle/>
          <a:p>
            <a:pPr algn="l"/>
            <a:r>
              <a:rPr sz="1900" b="0" i="0">
                <a:solidFill>
                  <a:srgbClr val="0B4A4A"/>
                </a:solidFill>
              </a:rPr>
              <a:t>Everything runs under exactly one principal: a person, through the position they occupy; or a named automation with a small, written grant.</a:t>
            </a:r>
          </a:p>
        </p:txBody>
      </p:sp>
      <p:sp>
        <p:nvSpPr>
          <p:cNvPr id="6" name="Card"/>
          <p:cNvSpPr/>
          <p:nvPr/>
        </p:nvSpPr>
        <p:spPr>
          <a:xfrm>
            <a:off x="548640" y="2286000"/>
            <a:ext cx="5486400" cy="3063240"/>
          </a:xfrm>
          <a:prstGeom prst="roundRect">
            <a:avLst>
              <a:gd name="adj" fmla="val 2686"/>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450592"/>
            <a:ext cx="5029200" cy="329184"/>
          </a:xfrm>
          <a:prstGeom prst="rect">
            <a:avLst/>
          </a:prstGeom>
          <a:noFill/>
        </p:spPr>
        <p:txBody>
          <a:bodyPr wrap="square" lIns="0" rIns="0" tIns="0" bIns="0" anchor="t">
            <a:spAutoFit/>
          </a:bodyPr>
          <a:lstStyle/>
          <a:p>
            <a:pPr algn="l"/>
            <a:r>
              <a:rPr sz="1400" b="1" i="0">
                <a:solidFill>
                  <a:srgbClr val="0B6463"/>
                </a:solidFill>
              </a:rPr>
              <a:t>In our example</a:t>
            </a:r>
          </a:p>
        </p:txBody>
      </p:sp>
      <p:sp>
        <p:nvSpPr>
          <p:cNvPr id="8" name="Text"/>
          <p:cNvSpPr txBox="1"/>
          <p:nvPr/>
        </p:nvSpPr>
        <p:spPr>
          <a:xfrm>
            <a:off x="777240" y="2816352"/>
            <a:ext cx="5029200" cy="2423160"/>
          </a:xfrm>
          <a:prstGeom prst="rect">
            <a:avLst/>
          </a:prstGeom>
          <a:noFill/>
        </p:spPr>
        <p:txBody>
          <a:bodyPr wrap="square" lIns="0" rIns="0" tIns="0" bIns="0" anchor="t">
            <a:spAutoFit/>
          </a:bodyPr>
          <a:lstStyle/>
          <a:p>
            <a:pPr algn="l">
              <a:spcAft>
                <a:spcPts val="500"/>
              </a:spcAft>
            </a:pPr>
            <a:r>
              <a:rPr sz="1300" b="0" i="0">
                <a:solidFill>
                  <a:srgbClr val="1E262B"/>
                </a:solidFill>
              </a:rPr>
              <a:t>The officer raises and matches because they occupy the </a:t>
            </a:r>
            <a:r>
              <a:rPr sz="1300" b="1" i="0">
                <a:solidFill>
                  <a:srgbClr val="0B6463"/>
                </a:solidFill>
              </a:rPr>
              <a:t>Contracts &amp; Services Procurement Officer</a:t>
            </a:r>
            <a:r>
              <a:rPr sz="1300" b="0" i="0">
                <a:solidFill>
                  <a:srgbClr val="1E262B"/>
                </a:solidFill>
              </a:rPr>
              <a:t> seat.</a:t>
            </a:r>
          </a:p>
          <a:p>
            <a:pPr algn="l">
              <a:spcAft>
                <a:spcPts val="500"/>
              </a:spcAft>
            </a:pPr>
            <a:r>
              <a:rPr sz="1300" b="0" i="0">
                <a:solidFill>
                  <a:srgbClr val="1E262B"/>
                </a:solidFill>
              </a:rPr>
              <a:t>The department head confirms under their own position. The Procurement Manager approves under theirs.</a:t>
            </a:r>
          </a:p>
          <a:p>
            <a:pPr algn="l">
              <a:spcAft>
                <a:spcPts val="500"/>
              </a:spcAft>
            </a:pPr>
            <a:r>
              <a:rPr sz="1300" b="1" i="0">
                <a:solidFill>
                  <a:srgbClr val="0B6463"/>
                </a:solidFill>
              </a:rPr>
              <a:t>procurement-reminders</a:t>
            </a:r>
            <a:r>
              <a:rPr sz="1300" b="0" i="0">
                <a:solidFill>
                  <a:srgbClr val="1E262B"/>
                </a:solidFill>
              </a:rPr>
              <a:t> may listen to MilestoneDue and call RequestCompletionConfirmation. Nothing else.</a:t>
            </a:r>
          </a:p>
          <a:p>
            <a:pPr algn="l">
              <a:spcAft>
                <a:spcPts val="500"/>
              </a:spcAft>
            </a:pPr>
            <a:r>
              <a:rPr sz="1300" b="1" i="0">
                <a:solidFill>
                  <a:srgbClr val="1E262B"/>
                </a:solidFill>
              </a:rPr>
              <a:t>"Changed by System" becomes a named principal with a grant we can read.</a:t>
            </a:r>
          </a:p>
        </p:txBody>
      </p:sp>
      <p:sp>
        <p:nvSpPr>
          <p:cNvPr id="9" name="Card"/>
          <p:cNvSpPr/>
          <p:nvPr/>
        </p:nvSpPr>
        <p:spPr>
          <a:xfrm>
            <a:off x="6217920" y="2286000"/>
            <a:ext cx="5422392" cy="3063240"/>
          </a:xfrm>
          <a:prstGeom prst="roundRect">
            <a:avLst>
              <a:gd name="adj" fmla="val 2686"/>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446520" y="2450592"/>
            <a:ext cx="4965192" cy="329184"/>
          </a:xfrm>
          <a:prstGeom prst="rect">
            <a:avLst/>
          </a:prstGeom>
          <a:noFill/>
        </p:spPr>
        <p:txBody>
          <a:bodyPr wrap="square" lIns="0" rIns="0" tIns="0" bIns="0" anchor="t">
            <a:spAutoFit/>
          </a:bodyPr>
          <a:lstStyle/>
          <a:p>
            <a:pPr algn="l"/>
            <a:r>
              <a:rPr sz="1400" b="1" i="0">
                <a:solidFill>
                  <a:srgbClr val="0B6463"/>
                </a:solidFill>
              </a:rPr>
              <a:t>The rules</a:t>
            </a:r>
          </a:p>
        </p:txBody>
      </p:sp>
      <p:sp>
        <p:nvSpPr>
          <p:cNvPr id="11" name="Text"/>
          <p:cNvSpPr txBox="1"/>
          <p:nvPr/>
        </p:nvSpPr>
        <p:spPr>
          <a:xfrm>
            <a:off x="6446520" y="2816352"/>
            <a:ext cx="4965192" cy="2423160"/>
          </a:xfrm>
          <a:prstGeom prst="rect">
            <a:avLst/>
          </a:prstGeom>
          <a:noFill/>
        </p:spPr>
        <p:txBody>
          <a:bodyPr wrap="square" lIns="0" rIns="0" tIns="0" bIns="0" anchor="t">
            <a:spAutoFit/>
          </a:bodyPr>
          <a:lstStyle/>
          <a:p>
            <a:pPr algn="l">
              <a:spcAft>
                <a:spcPts val="500"/>
              </a:spcAft>
            </a:pPr>
            <a:r>
              <a:rPr sz="1300" b="0" i="0">
                <a:solidFill>
                  <a:srgbClr val="1E262B"/>
                </a:solidFill>
              </a:rPr>
              <a:t>· Two kinds of principal only: a person by position, or a named automation.</a:t>
            </a:r>
          </a:p>
          <a:p>
            <a:pPr algn="l">
              <a:spcAft>
                <a:spcPts val="500"/>
              </a:spcAft>
            </a:pPr>
            <a:r>
              <a:rPr sz="1300" b="0" i="0">
                <a:solidFill>
                  <a:srgbClr val="1E262B"/>
                </a:solidFill>
              </a:rPr>
              <a:t>· Authority is computed at each call: occupancy or grant, intersected with policy and current state. Never stored.</a:t>
            </a:r>
          </a:p>
          <a:p>
            <a:pPr algn="l">
              <a:spcAft>
                <a:spcPts val="500"/>
              </a:spcAft>
            </a:pPr>
            <a:r>
              <a:rPr sz="1300" b="0" i="0">
                <a:solidFill>
                  <a:srgbClr val="1E262B"/>
                </a:solidFill>
              </a:rPr>
              <a:t>· Every channel may only narrow it. The app grants nothing.</a:t>
            </a:r>
          </a:p>
          <a:p>
            <a:pPr algn="l">
              <a:spcAft>
                <a:spcPts val="500"/>
              </a:spcAft>
            </a:pPr>
            <a:r>
              <a:rPr sz="1300" b="0" i="0">
                <a:solidFill>
                  <a:srgbClr val="1E262B"/>
                </a:solidFill>
              </a:rPr>
              <a:t>· AI never originates authority. It uses the person's, or a named automation's.</a:t>
            </a:r>
          </a:p>
          <a:p>
            <a:pPr algn="l">
              <a:spcAft>
                <a:spcPts val="500"/>
              </a:spcAft>
            </a:pPr>
            <a:r>
              <a:rPr sz="1300" b="0" i="0">
                <a:solidFill>
                  <a:srgbClr val="1E262B"/>
                </a:solidFill>
              </a:rPr>
              <a:t>· Delegation is explicit: scoped, time-boxed, recorded on both sides.</a:t>
            </a:r>
          </a:p>
        </p:txBody>
      </p:sp>
      <p:sp>
        <p:nvSpPr>
          <p:cNvPr id="12" name="Finding"/>
          <p:cNvSpPr/>
          <p:nvPr/>
        </p:nvSpPr>
        <p:spPr>
          <a:xfrm>
            <a:off x="548640" y="5532120"/>
            <a:ext cx="11091672" cy="530352"/>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822960" y="5532120"/>
            <a:ext cx="10543032" cy="530352"/>
          </a:xfrm>
          <a:prstGeom prst="rect">
            <a:avLst/>
          </a:prstGeom>
          <a:noFill/>
        </p:spPr>
        <p:txBody>
          <a:bodyPr wrap="square" lIns="0" rIns="0" tIns="0" bIns="0" anchor="ctr">
            <a:spAutoFit/>
          </a:bodyPr>
          <a:lstStyle/>
          <a:p>
            <a:pPr algn="l"/>
            <a:r>
              <a:rPr sz="1350" b="1" i="0">
                <a:solidFill>
                  <a:srgbClr val="1E262B"/>
                </a:solidFill>
              </a:rPr>
              <a:t>Keep this.  </a:t>
            </a:r>
            <a:r>
              <a:rPr sz="1350" b="0" i="0">
                <a:solidFill>
                  <a:srgbClr val="1E262B"/>
                </a:solidFill>
              </a:rPr>
              <a:t>The app grants nothing. The position does. Automation acts under a name and a grant.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State and history</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CONCEPTS  ·  HISTORY</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19</a:t>
            </a:r>
          </a:p>
        </p:txBody>
      </p:sp>
      <p:sp>
        <p:nvSpPr>
          <p:cNvPr id="5" name="Text"/>
          <p:cNvSpPr txBox="1"/>
          <p:nvPr/>
        </p:nvSpPr>
        <p:spPr>
          <a:xfrm>
            <a:off x="548640" y="1298448"/>
            <a:ext cx="11091672" cy="868680"/>
          </a:xfrm>
          <a:prstGeom prst="rect">
            <a:avLst/>
          </a:prstGeom>
          <a:noFill/>
        </p:spPr>
        <p:txBody>
          <a:bodyPr wrap="square" lIns="0" rIns="0" tIns="0" bIns="0" anchor="ctr">
            <a:spAutoFit/>
          </a:bodyPr>
          <a:lstStyle/>
          <a:p>
            <a:pPr algn="l"/>
            <a:r>
              <a:rPr sz="1900" b="0" i="0">
                <a:solidFill>
                  <a:srgbClr val="0B4A4A"/>
                </a:solidFill>
              </a:rPr>
              <a:t>A context keeps current state in a register and every change in a trail. One commit writes the state, the receipt, the trail, and the event to be delivered.</a:t>
            </a:r>
          </a:p>
        </p:txBody>
      </p:sp>
      <p:sp>
        <p:nvSpPr>
          <p:cNvPr id="6" name="Card"/>
          <p:cNvSpPr/>
          <p:nvPr/>
        </p:nvSpPr>
        <p:spPr>
          <a:xfrm>
            <a:off x="548640" y="2286000"/>
            <a:ext cx="5486400" cy="3063240"/>
          </a:xfrm>
          <a:prstGeom prst="roundRect">
            <a:avLst>
              <a:gd name="adj" fmla="val 2686"/>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p:cNvSpPr txBox="1"/>
          <p:nvPr/>
        </p:nvSpPr>
        <p:spPr>
          <a:xfrm>
            <a:off x="777240" y="2450592"/>
            <a:ext cx="5029200" cy="329184"/>
          </a:xfrm>
          <a:prstGeom prst="rect">
            <a:avLst/>
          </a:prstGeom>
          <a:noFill/>
        </p:spPr>
        <p:txBody>
          <a:bodyPr wrap="square" lIns="0" rIns="0" tIns="0" bIns="0" anchor="t">
            <a:spAutoFit/>
          </a:bodyPr>
          <a:lstStyle/>
          <a:p>
            <a:pPr algn="l"/>
            <a:r>
              <a:rPr sz="1400" b="1" i="0">
                <a:solidFill>
                  <a:srgbClr val="0B6463"/>
                </a:solidFill>
              </a:rPr>
              <a:t>In our example</a:t>
            </a:r>
          </a:p>
        </p:txBody>
      </p:sp>
      <p:sp>
        <p:nvSpPr>
          <p:cNvPr id="8" name="Text"/>
          <p:cNvSpPr txBox="1"/>
          <p:nvPr/>
        </p:nvSpPr>
        <p:spPr>
          <a:xfrm>
            <a:off x="777240" y="2816352"/>
            <a:ext cx="5029200" cy="2423160"/>
          </a:xfrm>
          <a:prstGeom prst="rect">
            <a:avLst/>
          </a:prstGeom>
          <a:noFill/>
        </p:spPr>
        <p:txBody>
          <a:bodyPr wrap="square" lIns="0" rIns="0" tIns="0" bIns="0" anchor="t">
            <a:spAutoFit/>
          </a:bodyPr>
          <a:lstStyle/>
          <a:p>
            <a:pPr algn="l">
              <a:spcAft>
                <a:spcPts val="500"/>
              </a:spcAft>
            </a:pPr>
            <a:r>
              <a:rPr sz="1300" b="1" i="0">
                <a:solidFill>
                  <a:srgbClr val="0B6463"/>
                </a:solidFill>
              </a:rPr>
              <a:t>ConfirmServiceCompletion</a:t>
            </a:r>
            <a:r>
              <a:rPr sz="1300" b="0" i="0">
                <a:solidFill>
                  <a:srgbClr val="1E262B"/>
                </a:solidFill>
              </a:rPr>
              <a:t> commits, together or not at all:</a:t>
            </a:r>
          </a:p>
          <a:p>
            <a:pPr algn="l">
              <a:spcAft>
                <a:spcPts val="500"/>
              </a:spcAft>
            </a:pPr>
            <a:r>
              <a:rPr sz="1300" b="0" i="0">
                <a:solidFill>
                  <a:srgbClr val="1E262B"/>
                </a:solidFill>
              </a:rPr>
              <a:t>· the confirmation's state → confirmed in part</a:t>
            </a:r>
          </a:p>
          <a:p>
            <a:pPr algn="l">
              <a:spcAft>
                <a:spcPts val="500"/>
              </a:spcAft>
            </a:pPr>
            <a:r>
              <a:rPr sz="1300" b="0" i="0">
                <a:solidFill>
                  <a:srgbClr val="1E262B"/>
                </a:solidFill>
              </a:rPr>
              <a:t>· the receipt: who, under which position, at which version</a:t>
            </a:r>
          </a:p>
          <a:p>
            <a:pPr algn="l">
              <a:spcAft>
                <a:spcPts val="500"/>
              </a:spcAft>
            </a:pPr>
            <a:r>
              <a:rPr sz="1300" b="0" i="0">
                <a:solidFill>
                  <a:srgbClr val="1E262B"/>
                </a:solidFill>
              </a:rPr>
              <a:t>· the trail entry: what changed on the confirmation</a:t>
            </a:r>
          </a:p>
          <a:p>
            <a:pPr algn="l">
              <a:spcAft>
                <a:spcPts val="500"/>
              </a:spcAft>
            </a:pPr>
            <a:r>
              <a:rPr sz="1300" b="0" i="0">
                <a:solidFill>
                  <a:srgbClr val="1E262B"/>
                </a:solidFill>
              </a:rPr>
              <a:t>· the outbox row: </a:t>
            </a:r>
            <a:r>
              <a:rPr sz="1300" b="1" i="0">
                <a:solidFill>
                  <a:srgbClr val="0B6463"/>
                </a:solidFill>
              </a:rPr>
              <a:t>ServiceCompletionConfirmed</a:t>
            </a:r>
            <a:r>
              <a:rPr sz="1300" b="0" i="0">
                <a:solidFill>
                  <a:srgbClr val="1E262B"/>
                </a:solidFill>
              </a:rPr>
              <a:t>, to be delivered</a:t>
            </a:r>
          </a:p>
          <a:p>
            <a:pPr algn="l">
              <a:spcAft>
                <a:spcPts val="500"/>
              </a:spcAft>
            </a:pPr>
            <a:r>
              <a:rPr sz="1300" b="0" i="0">
                <a:solidFill>
                  <a:srgbClr val="1E262B"/>
                </a:solidFill>
              </a:rPr>
              <a:t>If any one of the four fails, none of them happens.</a:t>
            </a:r>
          </a:p>
        </p:txBody>
      </p:sp>
      <p:sp>
        <p:nvSpPr>
          <p:cNvPr id="9" name="Card"/>
          <p:cNvSpPr/>
          <p:nvPr/>
        </p:nvSpPr>
        <p:spPr>
          <a:xfrm>
            <a:off x="6217920" y="2286000"/>
            <a:ext cx="5422392" cy="3063240"/>
          </a:xfrm>
          <a:prstGeom prst="roundRect">
            <a:avLst>
              <a:gd name="adj" fmla="val 2686"/>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
          <p:cNvSpPr txBox="1"/>
          <p:nvPr/>
        </p:nvSpPr>
        <p:spPr>
          <a:xfrm>
            <a:off x="6446520" y="2450592"/>
            <a:ext cx="4965192" cy="329184"/>
          </a:xfrm>
          <a:prstGeom prst="rect">
            <a:avLst/>
          </a:prstGeom>
          <a:noFill/>
        </p:spPr>
        <p:txBody>
          <a:bodyPr wrap="square" lIns="0" rIns="0" tIns="0" bIns="0" anchor="t">
            <a:spAutoFit/>
          </a:bodyPr>
          <a:lstStyle/>
          <a:p>
            <a:pPr algn="l"/>
            <a:r>
              <a:rPr sz="1400" b="1" i="0">
                <a:solidFill>
                  <a:srgbClr val="0B6463"/>
                </a:solidFill>
              </a:rPr>
              <a:t>The rules</a:t>
            </a:r>
          </a:p>
        </p:txBody>
      </p:sp>
      <p:sp>
        <p:nvSpPr>
          <p:cNvPr id="11" name="Text"/>
          <p:cNvSpPr txBox="1"/>
          <p:nvPr/>
        </p:nvSpPr>
        <p:spPr>
          <a:xfrm>
            <a:off x="6446520" y="2816352"/>
            <a:ext cx="4965192" cy="2423160"/>
          </a:xfrm>
          <a:prstGeom prst="rect">
            <a:avLst/>
          </a:prstGeom>
          <a:noFill/>
        </p:spPr>
        <p:txBody>
          <a:bodyPr wrap="square" lIns="0" rIns="0" tIns="0" bIns="0" anchor="t">
            <a:spAutoFit/>
          </a:bodyPr>
          <a:lstStyle/>
          <a:p>
            <a:pPr algn="l">
              <a:spcAft>
                <a:spcPts val="500"/>
              </a:spcAft>
            </a:pPr>
            <a:r>
              <a:rPr sz="1300" b="0" i="0">
                <a:solidFill>
                  <a:srgbClr val="1E262B"/>
                </a:solidFill>
              </a:rPr>
              <a:t>· Current state is authoritative. The trail explains it; it never replays it.</a:t>
            </a:r>
          </a:p>
          <a:p>
            <a:pPr algn="l">
              <a:spcAft>
                <a:spcPts val="500"/>
              </a:spcAft>
            </a:pPr>
            <a:r>
              <a:rPr sz="1300" b="0" i="0">
                <a:solidFill>
                  <a:srgbClr val="1E262B"/>
                </a:solidFill>
              </a:rPr>
              <a:t>· The trail is never rewritten.</a:t>
            </a:r>
          </a:p>
          <a:p>
            <a:pPr algn="l">
              <a:spcAft>
                <a:spcPts val="500"/>
              </a:spcAft>
            </a:pPr>
            <a:r>
              <a:rPr sz="1300" b="0" i="0">
                <a:solidFill>
                  <a:srgbClr val="1E262B"/>
                </a:solidFill>
              </a:rPr>
              <a:t>· A committed record is never edited. A correction is a new record.</a:t>
            </a:r>
          </a:p>
          <a:p>
            <a:pPr algn="l">
              <a:spcAft>
                <a:spcPts val="500"/>
              </a:spcAft>
            </a:pPr>
            <a:r>
              <a:rPr sz="1300" b="0" i="0">
                <a:solidFill>
                  <a:srgbClr val="1E262B"/>
                </a:solidFill>
              </a:rPr>
              <a:t>· The event is written in the same transaction, then delivered from there.</a:t>
            </a:r>
          </a:p>
          <a:p>
            <a:pPr algn="l">
              <a:spcAft>
                <a:spcPts val="500"/>
              </a:spcAft>
            </a:pPr>
            <a:r>
              <a:rPr sz="1300" b="0" i="0">
                <a:solidFill>
                  <a:srgbClr val="1E262B"/>
                </a:solidFill>
              </a:rPr>
              <a:t>· Event sourcing is allowed in law, and not built.</a:t>
            </a:r>
          </a:p>
        </p:txBody>
      </p:sp>
      <p:sp>
        <p:nvSpPr>
          <p:cNvPr id="12" name="Finding"/>
          <p:cNvSpPr/>
          <p:nvPr/>
        </p:nvSpPr>
        <p:spPr>
          <a:xfrm>
            <a:off x="548640" y="5532120"/>
            <a:ext cx="11091672" cy="530352"/>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p:cNvSpPr txBox="1"/>
          <p:nvPr/>
        </p:nvSpPr>
        <p:spPr>
          <a:xfrm>
            <a:off x="822960" y="5532120"/>
            <a:ext cx="10543032" cy="530352"/>
          </a:xfrm>
          <a:prstGeom prst="rect">
            <a:avLst/>
          </a:prstGeom>
          <a:noFill/>
        </p:spPr>
        <p:txBody>
          <a:bodyPr wrap="square" lIns="0" rIns="0" tIns="0" bIns="0" anchor="ctr">
            <a:spAutoFit/>
          </a:bodyPr>
          <a:lstStyle/>
          <a:p>
            <a:pPr algn="l"/>
            <a:r>
              <a:rPr sz="1350" b="1" i="0">
                <a:solidFill>
                  <a:srgbClr val="1E262B"/>
                </a:solidFill>
              </a:rPr>
              <a:t>Keep this.  </a:t>
            </a:r>
            <a:r>
              <a:rPr sz="1350" b="0" i="0">
                <a:solidFill>
                  <a:srgbClr val="1E262B"/>
                </a:solidFill>
              </a:rPr>
              <a:t>Four things, one transaction. This is the atomic commit the whole design leans 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service spine, with every arrow named</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THREAD</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20</a:t>
            </a:r>
          </a:p>
        </p:txBody>
      </p:sp>
      <p:sp>
        <p:nvSpPr>
          <p:cNvPr id="5" name="Box"/>
          <p:cNvSpPr/>
          <p:nvPr/>
        </p:nvSpPr>
        <p:spPr>
          <a:xfrm>
            <a:off x="548640" y="1371600"/>
            <a:ext cx="3566160" cy="1920240"/>
          </a:xfrm>
          <a:prstGeom prst="roundRect">
            <a:avLst>
              <a:gd name="adj" fmla="val 4285"/>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Number"/>
          <p:cNvSpPr/>
          <p:nvPr/>
        </p:nvSpPr>
        <p:spPr>
          <a:xfrm>
            <a:off x="731520" y="1536192"/>
            <a:ext cx="310896" cy="310896"/>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Number"/>
          <p:cNvSpPr txBox="1"/>
          <p:nvPr/>
        </p:nvSpPr>
        <p:spPr>
          <a:xfrm>
            <a:off x="731520" y="1536192"/>
            <a:ext cx="310896" cy="310896"/>
          </a:xfrm>
          <a:prstGeom prst="rect">
            <a:avLst/>
          </a:prstGeom>
          <a:noFill/>
        </p:spPr>
        <p:txBody>
          <a:bodyPr wrap="square" lIns="0" rIns="0" tIns="0" bIns="0" anchor="ctr">
            <a:spAutoFit/>
          </a:bodyPr>
          <a:lstStyle/>
          <a:p>
            <a:pPr algn="ctr"/>
            <a:r>
              <a:rPr sz="1100" b="1" i="0">
                <a:solidFill>
                  <a:srgbClr val="FFFFFF"/>
                </a:solidFill>
              </a:rPr>
              <a:t>1</a:t>
            </a:r>
          </a:p>
        </p:txBody>
      </p:sp>
      <p:sp>
        <p:nvSpPr>
          <p:cNvPr id="8" name="Text"/>
          <p:cNvSpPr txBox="1"/>
          <p:nvPr/>
        </p:nvSpPr>
        <p:spPr>
          <a:xfrm>
            <a:off x="1143000" y="1499616"/>
            <a:ext cx="1828800" cy="384048"/>
          </a:xfrm>
          <a:prstGeom prst="rect">
            <a:avLst/>
          </a:prstGeom>
          <a:noFill/>
        </p:spPr>
        <p:txBody>
          <a:bodyPr wrap="square" lIns="0" rIns="0" tIns="0" bIns="0" anchor="ctr">
            <a:spAutoFit/>
          </a:bodyPr>
          <a:lstStyle/>
          <a:p>
            <a:pPr algn="l"/>
            <a:r>
              <a:rPr sz="1400" b="1" i="0">
                <a:solidFill>
                  <a:srgbClr val="0B4A4A"/>
                </a:solidFill>
              </a:rPr>
              <a:t>Raise</a:t>
            </a:r>
          </a:p>
        </p:txBody>
      </p:sp>
      <p:sp>
        <p:nvSpPr>
          <p:cNvPr id="9" name="Chip"/>
          <p:cNvSpPr/>
          <p:nvPr/>
        </p:nvSpPr>
        <p:spPr>
          <a:xfrm>
            <a:off x="2651760" y="1554480"/>
            <a:ext cx="1280160"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hip"/>
          <p:cNvSpPr txBox="1"/>
          <p:nvPr/>
        </p:nvSpPr>
        <p:spPr>
          <a:xfrm>
            <a:off x="2651760" y="1554480"/>
            <a:ext cx="1280160" cy="274320"/>
          </a:xfrm>
          <a:prstGeom prst="rect">
            <a:avLst/>
          </a:prstGeom>
          <a:noFill/>
        </p:spPr>
        <p:txBody>
          <a:bodyPr wrap="square" lIns="0" rIns="0" tIns="0" bIns="0" anchor="ctr">
            <a:spAutoFit/>
          </a:bodyPr>
          <a:lstStyle/>
          <a:p>
            <a:pPr algn="ctr"/>
            <a:r>
              <a:rPr sz="900" b="1" i="0">
                <a:solidFill>
                  <a:srgbClr val="FFFFFF"/>
                </a:solidFill>
              </a:rPr>
              <a:t>Procurement</a:t>
            </a:r>
          </a:p>
        </p:txBody>
      </p:sp>
      <p:sp>
        <p:nvSpPr>
          <p:cNvPr id="11" name="Text"/>
          <p:cNvSpPr txBox="1"/>
          <p:nvPr/>
        </p:nvSpPr>
        <p:spPr>
          <a:xfrm>
            <a:off x="731520" y="1993392"/>
            <a:ext cx="3200400" cy="201168"/>
          </a:xfrm>
          <a:prstGeom prst="rect">
            <a:avLst/>
          </a:prstGeom>
          <a:noFill/>
        </p:spPr>
        <p:txBody>
          <a:bodyPr wrap="square" lIns="0" rIns="0" tIns="0" bIns="0" anchor="t">
            <a:spAutoFit/>
          </a:bodyPr>
          <a:lstStyle/>
          <a:p>
            <a:pPr algn="l"/>
            <a:r>
              <a:rPr sz="900" b="1" i="0">
                <a:solidFill>
                  <a:srgbClr val="5E6A71"/>
                </a:solidFill>
              </a:rPr>
              <a:t>ACTION</a:t>
            </a:r>
          </a:p>
        </p:txBody>
      </p:sp>
      <p:sp>
        <p:nvSpPr>
          <p:cNvPr id="12" name="Text"/>
          <p:cNvSpPr txBox="1"/>
          <p:nvPr/>
        </p:nvSpPr>
        <p:spPr>
          <a:xfrm>
            <a:off x="731520" y="2176272"/>
            <a:ext cx="3200400" cy="274320"/>
          </a:xfrm>
          <a:prstGeom prst="rect">
            <a:avLst/>
          </a:prstGeom>
          <a:noFill/>
        </p:spPr>
        <p:txBody>
          <a:bodyPr wrap="square" lIns="0" rIns="0" tIns="0" bIns="0" anchor="t">
            <a:spAutoFit/>
          </a:bodyPr>
          <a:lstStyle/>
          <a:p>
            <a:pPr algn="l"/>
            <a:r>
              <a:rPr sz="1200" b="1" i="0">
                <a:solidFill>
                  <a:srgbClr val="0B6463"/>
                </a:solidFill>
              </a:rPr>
              <a:t>RaiseWorksOrder</a:t>
            </a:r>
          </a:p>
        </p:txBody>
      </p:sp>
      <p:sp>
        <p:nvSpPr>
          <p:cNvPr id="13" name="Text"/>
          <p:cNvSpPr txBox="1"/>
          <p:nvPr/>
        </p:nvSpPr>
        <p:spPr>
          <a:xfrm>
            <a:off x="731520" y="2468880"/>
            <a:ext cx="3200400" cy="201168"/>
          </a:xfrm>
          <a:prstGeom prst="rect">
            <a:avLst/>
          </a:prstGeom>
          <a:noFill/>
        </p:spPr>
        <p:txBody>
          <a:bodyPr wrap="square" lIns="0" rIns="0" tIns="0" bIns="0" anchor="t">
            <a:spAutoFit/>
          </a:bodyPr>
          <a:lstStyle/>
          <a:p>
            <a:pPr algn="l"/>
            <a:r>
              <a:rPr sz="900" b="1" i="0">
                <a:solidFill>
                  <a:srgbClr val="5E6A71"/>
                </a:solidFill>
              </a:rPr>
              <a:t>WHO</a:t>
            </a:r>
          </a:p>
        </p:txBody>
      </p:sp>
      <p:sp>
        <p:nvSpPr>
          <p:cNvPr id="14" name="Text"/>
          <p:cNvSpPr txBox="1"/>
          <p:nvPr/>
        </p:nvSpPr>
        <p:spPr>
          <a:xfrm>
            <a:off x="731520" y="2633472"/>
            <a:ext cx="3200400" cy="256032"/>
          </a:xfrm>
          <a:prstGeom prst="rect">
            <a:avLst/>
          </a:prstGeom>
          <a:noFill/>
        </p:spPr>
        <p:txBody>
          <a:bodyPr wrap="square" lIns="0" rIns="0" tIns="0" bIns="0" anchor="t">
            <a:spAutoFit/>
          </a:bodyPr>
          <a:lstStyle/>
          <a:p>
            <a:pPr algn="l"/>
            <a:r>
              <a:rPr sz="1100" b="0" i="0">
                <a:solidFill>
                  <a:srgbClr val="1E262B"/>
                </a:solidFill>
              </a:rPr>
              <a:t>the officer, by position</a:t>
            </a:r>
          </a:p>
        </p:txBody>
      </p:sp>
      <p:sp>
        <p:nvSpPr>
          <p:cNvPr id="15" name="Text"/>
          <p:cNvSpPr txBox="1"/>
          <p:nvPr/>
        </p:nvSpPr>
        <p:spPr>
          <a:xfrm>
            <a:off x="731520" y="2889504"/>
            <a:ext cx="3200400" cy="201168"/>
          </a:xfrm>
          <a:prstGeom prst="rect">
            <a:avLst/>
          </a:prstGeom>
          <a:noFill/>
        </p:spPr>
        <p:txBody>
          <a:bodyPr wrap="square" lIns="0" rIns="0" tIns="0" bIns="0" anchor="t">
            <a:spAutoFit/>
          </a:bodyPr>
          <a:lstStyle/>
          <a:p>
            <a:pPr algn="l"/>
            <a:r>
              <a:rPr sz="900" b="1" i="0">
                <a:solidFill>
                  <a:srgbClr val="5E6A71"/>
                </a:solidFill>
              </a:rPr>
              <a:t>PUBLISHES</a:t>
            </a:r>
          </a:p>
        </p:txBody>
      </p:sp>
      <p:sp>
        <p:nvSpPr>
          <p:cNvPr id="16" name="Text"/>
          <p:cNvSpPr txBox="1"/>
          <p:nvPr/>
        </p:nvSpPr>
        <p:spPr>
          <a:xfrm>
            <a:off x="731520" y="3054096"/>
            <a:ext cx="3291840" cy="237744"/>
          </a:xfrm>
          <a:prstGeom prst="rect">
            <a:avLst/>
          </a:prstGeom>
          <a:noFill/>
        </p:spPr>
        <p:txBody>
          <a:bodyPr wrap="square" lIns="0" rIns="0" tIns="0" bIns="0" anchor="t">
            <a:spAutoFit/>
          </a:bodyPr>
          <a:lstStyle/>
          <a:p>
            <a:pPr algn="l"/>
            <a:r>
              <a:rPr sz="1050" b="1" i="0">
                <a:solidFill>
                  <a:srgbClr val="0B4A4A"/>
                </a:solidFill>
              </a:rPr>
              <a:t>WorksOrderSubmitted</a:t>
            </a:r>
          </a:p>
        </p:txBody>
      </p:sp>
      <p:cxnSp>
        <p:nvCxnSpPr>
          <p:cNvPr id="17" name="Connector 16"/>
          <p:cNvCxnSpPr/>
          <p:nvPr/>
        </p:nvCxnSpPr>
        <p:spPr>
          <a:xfrm>
            <a:off x="4114800" y="2331720"/>
            <a:ext cx="182879" cy="0"/>
          </a:xfrm>
          <a:prstGeom prst="line">
            <a:avLst/>
          </a:prstGeom>
          <a:ln w="19050">
            <a:solidFill>
              <a:srgbClr val="0B64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Box"/>
          <p:cNvSpPr/>
          <p:nvPr/>
        </p:nvSpPr>
        <p:spPr>
          <a:xfrm>
            <a:off x="4297679" y="1371600"/>
            <a:ext cx="3566160" cy="1920240"/>
          </a:xfrm>
          <a:prstGeom prst="roundRect">
            <a:avLst>
              <a:gd name="adj" fmla="val 4285"/>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Number"/>
          <p:cNvSpPr/>
          <p:nvPr/>
        </p:nvSpPr>
        <p:spPr>
          <a:xfrm>
            <a:off x="4480559" y="1536192"/>
            <a:ext cx="310896" cy="310896"/>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Number"/>
          <p:cNvSpPr txBox="1"/>
          <p:nvPr/>
        </p:nvSpPr>
        <p:spPr>
          <a:xfrm>
            <a:off x="4480559" y="1536192"/>
            <a:ext cx="310896" cy="310896"/>
          </a:xfrm>
          <a:prstGeom prst="rect">
            <a:avLst/>
          </a:prstGeom>
          <a:noFill/>
        </p:spPr>
        <p:txBody>
          <a:bodyPr wrap="square" lIns="0" rIns="0" tIns="0" bIns="0" anchor="ctr">
            <a:spAutoFit/>
          </a:bodyPr>
          <a:lstStyle/>
          <a:p>
            <a:pPr algn="ctr"/>
            <a:r>
              <a:rPr sz="1100" b="1" i="0">
                <a:solidFill>
                  <a:srgbClr val="FFFFFF"/>
                </a:solidFill>
              </a:rPr>
              <a:t>2</a:t>
            </a:r>
          </a:p>
        </p:txBody>
      </p:sp>
      <p:sp>
        <p:nvSpPr>
          <p:cNvPr id="21" name="Text"/>
          <p:cNvSpPr txBox="1"/>
          <p:nvPr/>
        </p:nvSpPr>
        <p:spPr>
          <a:xfrm>
            <a:off x="4892040" y="1499616"/>
            <a:ext cx="1828800" cy="384048"/>
          </a:xfrm>
          <a:prstGeom prst="rect">
            <a:avLst/>
          </a:prstGeom>
          <a:noFill/>
        </p:spPr>
        <p:txBody>
          <a:bodyPr wrap="square" lIns="0" rIns="0" tIns="0" bIns="0" anchor="ctr">
            <a:spAutoFit/>
          </a:bodyPr>
          <a:lstStyle/>
          <a:p>
            <a:pPr algn="l"/>
            <a:r>
              <a:rPr sz="1400" b="1" i="0">
                <a:solidFill>
                  <a:srgbClr val="0B4A4A"/>
                </a:solidFill>
              </a:rPr>
              <a:t>Approve</a:t>
            </a:r>
          </a:p>
        </p:txBody>
      </p:sp>
      <p:sp>
        <p:nvSpPr>
          <p:cNvPr id="22" name="Chip"/>
          <p:cNvSpPr/>
          <p:nvPr/>
        </p:nvSpPr>
        <p:spPr>
          <a:xfrm>
            <a:off x="6400799" y="1554480"/>
            <a:ext cx="1280160"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hip"/>
          <p:cNvSpPr txBox="1"/>
          <p:nvPr/>
        </p:nvSpPr>
        <p:spPr>
          <a:xfrm>
            <a:off x="6400799" y="1554480"/>
            <a:ext cx="1280160" cy="274320"/>
          </a:xfrm>
          <a:prstGeom prst="rect">
            <a:avLst/>
          </a:prstGeom>
          <a:noFill/>
        </p:spPr>
        <p:txBody>
          <a:bodyPr wrap="square" lIns="0" rIns="0" tIns="0" bIns="0" anchor="ctr">
            <a:spAutoFit/>
          </a:bodyPr>
          <a:lstStyle/>
          <a:p>
            <a:pPr algn="ctr"/>
            <a:r>
              <a:rPr sz="900" b="1" i="0">
                <a:solidFill>
                  <a:srgbClr val="FFFFFF"/>
                </a:solidFill>
              </a:rPr>
              <a:t>Procurement</a:t>
            </a:r>
          </a:p>
        </p:txBody>
      </p:sp>
      <p:sp>
        <p:nvSpPr>
          <p:cNvPr id="24" name="Text"/>
          <p:cNvSpPr txBox="1"/>
          <p:nvPr/>
        </p:nvSpPr>
        <p:spPr>
          <a:xfrm>
            <a:off x="4480559" y="1993392"/>
            <a:ext cx="3200400" cy="201168"/>
          </a:xfrm>
          <a:prstGeom prst="rect">
            <a:avLst/>
          </a:prstGeom>
          <a:noFill/>
        </p:spPr>
        <p:txBody>
          <a:bodyPr wrap="square" lIns="0" rIns="0" tIns="0" bIns="0" anchor="t">
            <a:spAutoFit/>
          </a:bodyPr>
          <a:lstStyle/>
          <a:p>
            <a:pPr algn="l"/>
            <a:r>
              <a:rPr sz="900" b="1" i="0">
                <a:solidFill>
                  <a:srgbClr val="5E6A71"/>
                </a:solidFill>
              </a:rPr>
              <a:t>ACTION</a:t>
            </a:r>
          </a:p>
        </p:txBody>
      </p:sp>
      <p:sp>
        <p:nvSpPr>
          <p:cNvPr id="25" name="Text"/>
          <p:cNvSpPr txBox="1"/>
          <p:nvPr/>
        </p:nvSpPr>
        <p:spPr>
          <a:xfrm>
            <a:off x="4480559" y="2176272"/>
            <a:ext cx="3200400" cy="274320"/>
          </a:xfrm>
          <a:prstGeom prst="rect">
            <a:avLst/>
          </a:prstGeom>
          <a:noFill/>
        </p:spPr>
        <p:txBody>
          <a:bodyPr wrap="square" lIns="0" rIns="0" tIns="0" bIns="0" anchor="t">
            <a:spAutoFit/>
          </a:bodyPr>
          <a:lstStyle/>
          <a:p>
            <a:pPr algn="l"/>
            <a:r>
              <a:rPr sz="1200" b="1" i="0">
                <a:solidFill>
                  <a:srgbClr val="0B6463"/>
                </a:solidFill>
              </a:rPr>
              <a:t>approval → ReleaseWorksOrder</a:t>
            </a:r>
          </a:p>
        </p:txBody>
      </p:sp>
      <p:sp>
        <p:nvSpPr>
          <p:cNvPr id="26" name="Text"/>
          <p:cNvSpPr txBox="1"/>
          <p:nvPr/>
        </p:nvSpPr>
        <p:spPr>
          <a:xfrm>
            <a:off x="4480559" y="2468880"/>
            <a:ext cx="3200400" cy="201168"/>
          </a:xfrm>
          <a:prstGeom prst="rect">
            <a:avLst/>
          </a:prstGeom>
          <a:noFill/>
        </p:spPr>
        <p:txBody>
          <a:bodyPr wrap="square" lIns="0" rIns="0" tIns="0" bIns="0" anchor="t">
            <a:spAutoFit/>
          </a:bodyPr>
          <a:lstStyle/>
          <a:p>
            <a:pPr algn="l"/>
            <a:r>
              <a:rPr sz="900" b="1" i="0">
                <a:solidFill>
                  <a:srgbClr val="5E6A71"/>
                </a:solidFill>
              </a:rPr>
              <a:t>WHO</a:t>
            </a:r>
          </a:p>
        </p:txBody>
      </p:sp>
      <p:sp>
        <p:nvSpPr>
          <p:cNvPr id="27" name="Text"/>
          <p:cNvSpPr txBox="1"/>
          <p:nvPr/>
        </p:nvSpPr>
        <p:spPr>
          <a:xfrm>
            <a:off x="4480559" y="2633472"/>
            <a:ext cx="3200400" cy="256032"/>
          </a:xfrm>
          <a:prstGeom prst="rect">
            <a:avLst/>
          </a:prstGeom>
          <a:noFill/>
        </p:spPr>
        <p:txBody>
          <a:bodyPr wrap="square" lIns="0" rIns="0" tIns="0" bIns="0" anchor="t">
            <a:spAutoFit/>
          </a:bodyPr>
          <a:lstStyle/>
          <a:p>
            <a:pPr algn="l"/>
            <a:r>
              <a:rPr sz="1100" b="0" i="0">
                <a:solidFill>
                  <a:srgbClr val="1E262B"/>
                </a:solidFill>
              </a:rPr>
              <a:t>the Procurement Manager, by position</a:t>
            </a:r>
          </a:p>
        </p:txBody>
      </p:sp>
      <p:sp>
        <p:nvSpPr>
          <p:cNvPr id="28" name="Text"/>
          <p:cNvSpPr txBox="1"/>
          <p:nvPr/>
        </p:nvSpPr>
        <p:spPr>
          <a:xfrm>
            <a:off x="4480559" y="2889504"/>
            <a:ext cx="3200400" cy="201168"/>
          </a:xfrm>
          <a:prstGeom prst="rect">
            <a:avLst/>
          </a:prstGeom>
          <a:noFill/>
        </p:spPr>
        <p:txBody>
          <a:bodyPr wrap="square" lIns="0" rIns="0" tIns="0" bIns="0" anchor="t">
            <a:spAutoFit/>
          </a:bodyPr>
          <a:lstStyle/>
          <a:p>
            <a:pPr algn="l"/>
            <a:r>
              <a:rPr sz="900" b="1" i="0">
                <a:solidFill>
                  <a:srgbClr val="5E6A71"/>
                </a:solidFill>
              </a:rPr>
              <a:t>PUBLISHES</a:t>
            </a:r>
          </a:p>
        </p:txBody>
      </p:sp>
      <p:sp>
        <p:nvSpPr>
          <p:cNvPr id="29" name="Text"/>
          <p:cNvSpPr txBox="1"/>
          <p:nvPr/>
        </p:nvSpPr>
        <p:spPr>
          <a:xfrm>
            <a:off x="4480559" y="3054096"/>
            <a:ext cx="3291840" cy="237744"/>
          </a:xfrm>
          <a:prstGeom prst="rect">
            <a:avLst/>
          </a:prstGeom>
          <a:noFill/>
        </p:spPr>
        <p:txBody>
          <a:bodyPr wrap="square" lIns="0" rIns="0" tIns="0" bIns="0" anchor="t">
            <a:spAutoFit/>
          </a:bodyPr>
          <a:lstStyle/>
          <a:p>
            <a:pPr algn="l"/>
            <a:r>
              <a:rPr sz="1050" b="1" i="0">
                <a:solidFill>
                  <a:srgbClr val="0B4A4A"/>
                </a:solidFill>
              </a:rPr>
              <a:t>WorksOrderApproved</a:t>
            </a:r>
          </a:p>
        </p:txBody>
      </p:sp>
      <p:cxnSp>
        <p:nvCxnSpPr>
          <p:cNvPr id="30" name="Connector 29"/>
          <p:cNvCxnSpPr/>
          <p:nvPr/>
        </p:nvCxnSpPr>
        <p:spPr>
          <a:xfrm>
            <a:off x="7863840" y="2331720"/>
            <a:ext cx="182879" cy="0"/>
          </a:xfrm>
          <a:prstGeom prst="line">
            <a:avLst/>
          </a:prstGeom>
          <a:ln w="19050">
            <a:solidFill>
              <a:srgbClr val="0B64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Box"/>
          <p:cNvSpPr/>
          <p:nvPr/>
        </p:nvSpPr>
        <p:spPr>
          <a:xfrm>
            <a:off x="8046719" y="1371600"/>
            <a:ext cx="3566160" cy="1920240"/>
          </a:xfrm>
          <a:prstGeom prst="roundRect">
            <a:avLst>
              <a:gd name="adj" fmla="val 4285"/>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Number"/>
          <p:cNvSpPr/>
          <p:nvPr/>
        </p:nvSpPr>
        <p:spPr>
          <a:xfrm>
            <a:off x="8229599" y="1536192"/>
            <a:ext cx="310896" cy="310896"/>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Number"/>
          <p:cNvSpPr txBox="1"/>
          <p:nvPr/>
        </p:nvSpPr>
        <p:spPr>
          <a:xfrm>
            <a:off x="8229599" y="1536192"/>
            <a:ext cx="310896" cy="310896"/>
          </a:xfrm>
          <a:prstGeom prst="rect">
            <a:avLst/>
          </a:prstGeom>
          <a:noFill/>
        </p:spPr>
        <p:txBody>
          <a:bodyPr wrap="square" lIns="0" rIns="0" tIns="0" bIns="0" anchor="ctr">
            <a:spAutoFit/>
          </a:bodyPr>
          <a:lstStyle/>
          <a:p>
            <a:pPr algn="ctr"/>
            <a:r>
              <a:rPr sz="1100" b="1" i="0">
                <a:solidFill>
                  <a:srgbClr val="FFFFFF"/>
                </a:solidFill>
              </a:rPr>
              <a:t>3</a:t>
            </a:r>
          </a:p>
        </p:txBody>
      </p:sp>
      <p:sp>
        <p:nvSpPr>
          <p:cNvPr id="34" name="Text"/>
          <p:cNvSpPr txBox="1"/>
          <p:nvPr/>
        </p:nvSpPr>
        <p:spPr>
          <a:xfrm>
            <a:off x="8641080" y="1499616"/>
            <a:ext cx="1828800" cy="384048"/>
          </a:xfrm>
          <a:prstGeom prst="rect">
            <a:avLst/>
          </a:prstGeom>
          <a:noFill/>
        </p:spPr>
        <p:txBody>
          <a:bodyPr wrap="square" lIns="0" rIns="0" tIns="0" bIns="0" anchor="ctr">
            <a:spAutoFit/>
          </a:bodyPr>
          <a:lstStyle/>
          <a:p>
            <a:pPr algn="l"/>
            <a:r>
              <a:rPr sz="1400" b="1" i="0">
                <a:solidFill>
                  <a:srgbClr val="0B4A4A"/>
                </a:solidFill>
              </a:rPr>
              <a:t>Milestone due</a:t>
            </a:r>
          </a:p>
        </p:txBody>
      </p:sp>
      <p:sp>
        <p:nvSpPr>
          <p:cNvPr id="35" name="Chip"/>
          <p:cNvSpPr/>
          <p:nvPr/>
        </p:nvSpPr>
        <p:spPr>
          <a:xfrm>
            <a:off x="10149839" y="1554480"/>
            <a:ext cx="1280160" cy="274320"/>
          </a:xfrm>
          <a:prstGeom prst="roundRect">
            <a:avLst>
              <a:gd name="adj" fmla="val 50000"/>
            </a:avLst>
          </a:prstGeom>
          <a:solidFill>
            <a:srgbClr val="8A5A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hip"/>
          <p:cNvSpPr txBox="1"/>
          <p:nvPr/>
        </p:nvSpPr>
        <p:spPr>
          <a:xfrm>
            <a:off x="10149839" y="1554480"/>
            <a:ext cx="1280160" cy="274320"/>
          </a:xfrm>
          <a:prstGeom prst="rect">
            <a:avLst/>
          </a:prstGeom>
          <a:noFill/>
        </p:spPr>
        <p:txBody>
          <a:bodyPr wrap="square" lIns="0" rIns="0" tIns="0" bIns="0" anchor="ctr">
            <a:spAutoFit/>
          </a:bodyPr>
          <a:lstStyle/>
          <a:p>
            <a:pPr algn="ctr"/>
            <a:r>
              <a:rPr sz="900" b="1" i="0">
                <a:solidFill>
                  <a:srgbClr val="FFFFFF"/>
                </a:solidFill>
              </a:rPr>
              <a:t>timer → reaction</a:t>
            </a:r>
          </a:p>
        </p:txBody>
      </p:sp>
      <p:sp>
        <p:nvSpPr>
          <p:cNvPr id="37" name="Text"/>
          <p:cNvSpPr txBox="1"/>
          <p:nvPr/>
        </p:nvSpPr>
        <p:spPr>
          <a:xfrm>
            <a:off x="8229599" y="1993392"/>
            <a:ext cx="3200400" cy="201168"/>
          </a:xfrm>
          <a:prstGeom prst="rect">
            <a:avLst/>
          </a:prstGeom>
          <a:noFill/>
        </p:spPr>
        <p:txBody>
          <a:bodyPr wrap="square" lIns="0" rIns="0" tIns="0" bIns="0" anchor="t">
            <a:spAutoFit/>
          </a:bodyPr>
          <a:lstStyle/>
          <a:p>
            <a:pPr algn="l"/>
            <a:r>
              <a:rPr sz="900" b="1" i="0">
                <a:solidFill>
                  <a:srgbClr val="5E6A71"/>
                </a:solidFill>
              </a:rPr>
              <a:t>ACTION</a:t>
            </a:r>
          </a:p>
        </p:txBody>
      </p:sp>
      <p:sp>
        <p:nvSpPr>
          <p:cNvPr id="38" name="Text"/>
          <p:cNvSpPr txBox="1"/>
          <p:nvPr/>
        </p:nvSpPr>
        <p:spPr>
          <a:xfrm>
            <a:off x="8229599" y="2176272"/>
            <a:ext cx="3200400" cy="274320"/>
          </a:xfrm>
          <a:prstGeom prst="rect">
            <a:avLst/>
          </a:prstGeom>
          <a:noFill/>
        </p:spPr>
        <p:txBody>
          <a:bodyPr wrap="square" lIns="0" rIns="0" tIns="0" bIns="0" anchor="t">
            <a:spAutoFit/>
          </a:bodyPr>
          <a:lstStyle/>
          <a:p>
            <a:pPr algn="l"/>
            <a:r>
              <a:rPr sz="1200" b="1" i="0">
                <a:solidFill>
                  <a:srgbClr val="0B6463"/>
                </a:solidFill>
              </a:rPr>
              <a:t>RequestCompletionConfirmation</a:t>
            </a:r>
          </a:p>
        </p:txBody>
      </p:sp>
      <p:sp>
        <p:nvSpPr>
          <p:cNvPr id="39" name="Text"/>
          <p:cNvSpPr txBox="1"/>
          <p:nvPr/>
        </p:nvSpPr>
        <p:spPr>
          <a:xfrm>
            <a:off x="8229599" y="2468880"/>
            <a:ext cx="3200400" cy="201168"/>
          </a:xfrm>
          <a:prstGeom prst="rect">
            <a:avLst/>
          </a:prstGeom>
          <a:noFill/>
        </p:spPr>
        <p:txBody>
          <a:bodyPr wrap="square" lIns="0" rIns="0" tIns="0" bIns="0" anchor="t">
            <a:spAutoFit/>
          </a:bodyPr>
          <a:lstStyle/>
          <a:p>
            <a:pPr algn="l"/>
            <a:r>
              <a:rPr sz="900" b="1" i="0">
                <a:solidFill>
                  <a:srgbClr val="5E6A71"/>
                </a:solidFill>
              </a:rPr>
              <a:t>WHO</a:t>
            </a:r>
          </a:p>
        </p:txBody>
      </p:sp>
      <p:sp>
        <p:nvSpPr>
          <p:cNvPr id="40" name="Text"/>
          <p:cNvSpPr txBox="1"/>
          <p:nvPr/>
        </p:nvSpPr>
        <p:spPr>
          <a:xfrm>
            <a:off x="8229599" y="2633472"/>
            <a:ext cx="3200400" cy="256032"/>
          </a:xfrm>
          <a:prstGeom prst="rect">
            <a:avLst/>
          </a:prstGeom>
          <a:noFill/>
        </p:spPr>
        <p:txBody>
          <a:bodyPr wrap="square" lIns="0" rIns="0" tIns="0" bIns="0" anchor="t">
            <a:spAutoFit/>
          </a:bodyPr>
          <a:lstStyle/>
          <a:p>
            <a:pPr algn="l"/>
            <a:r>
              <a:rPr sz="1100" b="0" i="0">
                <a:solidFill>
                  <a:srgbClr val="1E262B"/>
                </a:solidFill>
              </a:rPr>
              <a:t>procurement-reminders, by grant</a:t>
            </a:r>
          </a:p>
        </p:txBody>
      </p:sp>
      <p:sp>
        <p:nvSpPr>
          <p:cNvPr id="41" name="Text"/>
          <p:cNvSpPr txBox="1"/>
          <p:nvPr/>
        </p:nvSpPr>
        <p:spPr>
          <a:xfrm>
            <a:off x="8229599" y="2889504"/>
            <a:ext cx="3200400" cy="201168"/>
          </a:xfrm>
          <a:prstGeom prst="rect">
            <a:avLst/>
          </a:prstGeom>
          <a:noFill/>
        </p:spPr>
        <p:txBody>
          <a:bodyPr wrap="square" lIns="0" rIns="0" tIns="0" bIns="0" anchor="t">
            <a:spAutoFit/>
          </a:bodyPr>
          <a:lstStyle/>
          <a:p>
            <a:pPr algn="l"/>
            <a:r>
              <a:rPr sz="900" b="1" i="0">
                <a:solidFill>
                  <a:srgbClr val="5E6A71"/>
                </a:solidFill>
              </a:rPr>
              <a:t>PUBLISHES</a:t>
            </a:r>
          </a:p>
        </p:txBody>
      </p:sp>
      <p:sp>
        <p:nvSpPr>
          <p:cNvPr id="42" name="Text"/>
          <p:cNvSpPr txBox="1"/>
          <p:nvPr/>
        </p:nvSpPr>
        <p:spPr>
          <a:xfrm>
            <a:off x="8229599" y="3054096"/>
            <a:ext cx="3291840" cy="237744"/>
          </a:xfrm>
          <a:prstGeom prst="rect">
            <a:avLst/>
          </a:prstGeom>
          <a:noFill/>
        </p:spPr>
        <p:txBody>
          <a:bodyPr wrap="square" lIns="0" rIns="0" tIns="0" bIns="0" anchor="t">
            <a:spAutoFit/>
          </a:bodyPr>
          <a:lstStyle/>
          <a:p>
            <a:pPr algn="l"/>
            <a:r>
              <a:rPr sz="1050" b="1" i="0">
                <a:solidFill>
                  <a:srgbClr val="0B4A4A"/>
                </a:solidFill>
              </a:rPr>
              <a:t>CompletionRequested</a:t>
            </a:r>
          </a:p>
        </p:txBody>
      </p:sp>
      <p:sp>
        <p:nvSpPr>
          <p:cNvPr id="43" name="Box"/>
          <p:cNvSpPr/>
          <p:nvPr/>
        </p:nvSpPr>
        <p:spPr>
          <a:xfrm>
            <a:off x="548640" y="3611880"/>
            <a:ext cx="3566160" cy="1920240"/>
          </a:xfrm>
          <a:prstGeom prst="roundRect">
            <a:avLst>
              <a:gd name="adj" fmla="val 4285"/>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Number"/>
          <p:cNvSpPr/>
          <p:nvPr/>
        </p:nvSpPr>
        <p:spPr>
          <a:xfrm>
            <a:off x="731520" y="3776472"/>
            <a:ext cx="310896" cy="310896"/>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Number"/>
          <p:cNvSpPr txBox="1"/>
          <p:nvPr/>
        </p:nvSpPr>
        <p:spPr>
          <a:xfrm>
            <a:off x="731520" y="3776472"/>
            <a:ext cx="310896" cy="310896"/>
          </a:xfrm>
          <a:prstGeom prst="rect">
            <a:avLst/>
          </a:prstGeom>
          <a:noFill/>
        </p:spPr>
        <p:txBody>
          <a:bodyPr wrap="square" lIns="0" rIns="0" tIns="0" bIns="0" anchor="ctr">
            <a:spAutoFit/>
          </a:bodyPr>
          <a:lstStyle/>
          <a:p>
            <a:pPr algn="ctr"/>
            <a:r>
              <a:rPr sz="1100" b="1" i="0">
                <a:solidFill>
                  <a:srgbClr val="FFFFFF"/>
                </a:solidFill>
              </a:rPr>
              <a:t>4</a:t>
            </a:r>
          </a:p>
        </p:txBody>
      </p:sp>
      <p:sp>
        <p:nvSpPr>
          <p:cNvPr id="46" name="Text"/>
          <p:cNvSpPr txBox="1"/>
          <p:nvPr/>
        </p:nvSpPr>
        <p:spPr>
          <a:xfrm>
            <a:off x="1143000" y="3739896"/>
            <a:ext cx="1828800" cy="384048"/>
          </a:xfrm>
          <a:prstGeom prst="rect">
            <a:avLst/>
          </a:prstGeom>
          <a:noFill/>
        </p:spPr>
        <p:txBody>
          <a:bodyPr wrap="square" lIns="0" rIns="0" tIns="0" bIns="0" anchor="ctr">
            <a:spAutoFit/>
          </a:bodyPr>
          <a:lstStyle/>
          <a:p>
            <a:pPr algn="l"/>
            <a:r>
              <a:rPr sz="1400" b="1" i="0">
                <a:solidFill>
                  <a:srgbClr val="0B4A4A"/>
                </a:solidFill>
              </a:rPr>
              <a:t>Confirm</a:t>
            </a:r>
          </a:p>
        </p:txBody>
      </p:sp>
      <p:sp>
        <p:nvSpPr>
          <p:cNvPr id="47" name="Chip"/>
          <p:cNvSpPr/>
          <p:nvPr/>
        </p:nvSpPr>
        <p:spPr>
          <a:xfrm>
            <a:off x="2651760" y="3794760"/>
            <a:ext cx="1280160"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hip"/>
          <p:cNvSpPr txBox="1"/>
          <p:nvPr/>
        </p:nvSpPr>
        <p:spPr>
          <a:xfrm>
            <a:off x="2651760" y="3794760"/>
            <a:ext cx="1280160" cy="274320"/>
          </a:xfrm>
          <a:prstGeom prst="rect">
            <a:avLst/>
          </a:prstGeom>
          <a:noFill/>
        </p:spPr>
        <p:txBody>
          <a:bodyPr wrap="square" lIns="0" rIns="0" tIns="0" bIns="0" anchor="ctr">
            <a:spAutoFit/>
          </a:bodyPr>
          <a:lstStyle/>
          <a:p>
            <a:pPr algn="ctr"/>
            <a:r>
              <a:rPr sz="900" b="1" i="0">
                <a:solidFill>
                  <a:srgbClr val="FFFFFF"/>
                </a:solidFill>
              </a:rPr>
              <a:t>Procurement</a:t>
            </a:r>
          </a:p>
        </p:txBody>
      </p:sp>
      <p:sp>
        <p:nvSpPr>
          <p:cNvPr id="49" name="Text"/>
          <p:cNvSpPr txBox="1"/>
          <p:nvPr/>
        </p:nvSpPr>
        <p:spPr>
          <a:xfrm>
            <a:off x="731520" y="4233672"/>
            <a:ext cx="3200400" cy="201168"/>
          </a:xfrm>
          <a:prstGeom prst="rect">
            <a:avLst/>
          </a:prstGeom>
          <a:noFill/>
        </p:spPr>
        <p:txBody>
          <a:bodyPr wrap="square" lIns="0" rIns="0" tIns="0" bIns="0" anchor="t">
            <a:spAutoFit/>
          </a:bodyPr>
          <a:lstStyle/>
          <a:p>
            <a:pPr algn="l"/>
            <a:r>
              <a:rPr sz="900" b="1" i="0">
                <a:solidFill>
                  <a:srgbClr val="5E6A71"/>
                </a:solidFill>
              </a:rPr>
              <a:t>ACTION</a:t>
            </a:r>
          </a:p>
        </p:txBody>
      </p:sp>
      <p:sp>
        <p:nvSpPr>
          <p:cNvPr id="50" name="Text"/>
          <p:cNvSpPr txBox="1"/>
          <p:nvPr/>
        </p:nvSpPr>
        <p:spPr>
          <a:xfrm>
            <a:off x="731520" y="4416552"/>
            <a:ext cx="3200400" cy="274320"/>
          </a:xfrm>
          <a:prstGeom prst="rect">
            <a:avLst/>
          </a:prstGeom>
          <a:noFill/>
        </p:spPr>
        <p:txBody>
          <a:bodyPr wrap="square" lIns="0" rIns="0" tIns="0" bIns="0" anchor="t">
            <a:spAutoFit/>
          </a:bodyPr>
          <a:lstStyle/>
          <a:p>
            <a:pPr algn="l"/>
            <a:r>
              <a:rPr sz="1200" b="1" i="0">
                <a:solidFill>
                  <a:srgbClr val="0B6463"/>
                </a:solidFill>
              </a:rPr>
              <a:t>ConfirmServiceCompletion</a:t>
            </a:r>
          </a:p>
        </p:txBody>
      </p:sp>
      <p:sp>
        <p:nvSpPr>
          <p:cNvPr id="51" name="Text"/>
          <p:cNvSpPr txBox="1"/>
          <p:nvPr/>
        </p:nvSpPr>
        <p:spPr>
          <a:xfrm>
            <a:off x="731520" y="4709160"/>
            <a:ext cx="3200400" cy="201168"/>
          </a:xfrm>
          <a:prstGeom prst="rect">
            <a:avLst/>
          </a:prstGeom>
          <a:noFill/>
        </p:spPr>
        <p:txBody>
          <a:bodyPr wrap="square" lIns="0" rIns="0" tIns="0" bIns="0" anchor="t">
            <a:spAutoFit/>
          </a:bodyPr>
          <a:lstStyle/>
          <a:p>
            <a:pPr algn="l"/>
            <a:r>
              <a:rPr sz="900" b="1" i="0">
                <a:solidFill>
                  <a:srgbClr val="5E6A71"/>
                </a:solidFill>
              </a:rPr>
              <a:t>WHO</a:t>
            </a:r>
          </a:p>
        </p:txBody>
      </p:sp>
      <p:sp>
        <p:nvSpPr>
          <p:cNvPr id="52" name="Text"/>
          <p:cNvSpPr txBox="1"/>
          <p:nvPr/>
        </p:nvSpPr>
        <p:spPr>
          <a:xfrm>
            <a:off x="731520" y="4873752"/>
            <a:ext cx="3200400" cy="256032"/>
          </a:xfrm>
          <a:prstGeom prst="rect">
            <a:avLst/>
          </a:prstGeom>
          <a:noFill/>
        </p:spPr>
        <p:txBody>
          <a:bodyPr wrap="square" lIns="0" rIns="0" tIns="0" bIns="0" anchor="t">
            <a:spAutoFit/>
          </a:bodyPr>
          <a:lstStyle/>
          <a:p>
            <a:pPr algn="l"/>
            <a:r>
              <a:rPr sz="1100" b="0" i="0">
                <a:solidFill>
                  <a:srgbClr val="1E262B"/>
                </a:solidFill>
              </a:rPr>
              <a:t>the department head, by position</a:t>
            </a:r>
          </a:p>
        </p:txBody>
      </p:sp>
      <p:sp>
        <p:nvSpPr>
          <p:cNvPr id="53" name="Text"/>
          <p:cNvSpPr txBox="1"/>
          <p:nvPr/>
        </p:nvSpPr>
        <p:spPr>
          <a:xfrm>
            <a:off x="731520" y="5129784"/>
            <a:ext cx="3200400" cy="201168"/>
          </a:xfrm>
          <a:prstGeom prst="rect">
            <a:avLst/>
          </a:prstGeom>
          <a:noFill/>
        </p:spPr>
        <p:txBody>
          <a:bodyPr wrap="square" lIns="0" rIns="0" tIns="0" bIns="0" anchor="t">
            <a:spAutoFit/>
          </a:bodyPr>
          <a:lstStyle/>
          <a:p>
            <a:pPr algn="l"/>
            <a:r>
              <a:rPr sz="900" b="1" i="0">
                <a:solidFill>
                  <a:srgbClr val="5E6A71"/>
                </a:solidFill>
              </a:rPr>
              <a:t>PUBLISHES</a:t>
            </a:r>
          </a:p>
        </p:txBody>
      </p:sp>
      <p:sp>
        <p:nvSpPr>
          <p:cNvPr id="54" name="Text"/>
          <p:cNvSpPr txBox="1"/>
          <p:nvPr/>
        </p:nvSpPr>
        <p:spPr>
          <a:xfrm>
            <a:off x="731520" y="5294376"/>
            <a:ext cx="3291840" cy="237744"/>
          </a:xfrm>
          <a:prstGeom prst="rect">
            <a:avLst/>
          </a:prstGeom>
          <a:noFill/>
        </p:spPr>
        <p:txBody>
          <a:bodyPr wrap="square" lIns="0" rIns="0" tIns="0" bIns="0" anchor="t">
            <a:spAutoFit/>
          </a:bodyPr>
          <a:lstStyle/>
          <a:p>
            <a:pPr algn="l"/>
            <a:r>
              <a:rPr sz="1050" b="1" i="0">
                <a:solidFill>
                  <a:srgbClr val="0B4A4A"/>
                </a:solidFill>
              </a:rPr>
              <a:t>ServiceCompletionConfirmed</a:t>
            </a:r>
          </a:p>
        </p:txBody>
      </p:sp>
      <p:cxnSp>
        <p:nvCxnSpPr>
          <p:cNvPr id="55" name="Connector 54"/>
          <p:cNvCxnSpPr/>
          <p:nvPr/>
        </p:nvCxnSpPr>
        <p:spPr>
          <a:xfrm>
            <a:off x="4114800" y="4572000"/>
            <a:ext cx="182879" cy="0"/>
          </a:xfrm>
          <a:prstGeom prst="line">
            <a:avLst/>
          </a:prstGeom>
          <a:ln w="19050">
            <a:solidFill>
              <a:srgbClr val="0B64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Box"/>
          <p:cNvSpPr/>
          <p:nvPr/>
        </p:nvSpPr>
        <p:spPr>
          <a:xfrm>
            <a:off x="4297679" y="3611880"/>
            <a:ext cx="3566160" cy="1920240"/>
          </a:xfrm>
          <a:prstGeom prst="roundRect">
            <a:avLst>
              <a:gd name="adj" fmla="val 4285"/>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Number"/>
          <p:cNvSpPr/>
          <p:nvPr/>
        </p:nvSpPr>
        <p:spPr>
          <a:xfrm>
            <a:off x="4480559" y="3776472"/>
            <a:ext cx="310896" cy="310896"/>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umber"/>
          <p:cNvSpPr txBox="1"/>
          <p:nvPr/>
        </p:nvSpPr>
        <p:spPr>
          <a:xfrm>
            <a:off x="4480559" y="3776472"/>
            <a:ext cx="310896" cy="310896"/>
          </a:xfrm>
          <a:prstGeom prst="rect">
            <a:avLst/>
          </a:prstGeom>
          <a:noFill/>
        </p:spPr>
        <p:txBody>
          <a:bodyPr wrap="square" lIns="0" rIns="0" tIns="0" bIns="0" anchor="ctr">
            <a:spAutoFit/>
          </a:bodyPr>
          <a:lstStyle/>
          <a:p>
            <a:pPr algn="ctr"/>
            <a:r>
              <a:rPr sz="1100" b="1" i="0">
                <a:solidFill>
                  <a:srgbClr val="FFFFFF"/>
                </a:solidFill>
              </a:rPr>
              <a:t>5</a:t>
            </a:r>
          </a:p>
        </p:txBody>
      </p:sp>
      <p:sp>
        <p:nvSpPr>
          <p:cNvPr id="59" name="Text"/>
          <p:cNvSpPr txBox="1"/>
          <p:nvPr/>
        </p:nvSpPr>
        <p:spPr>
          <a:xfrm>
            <a:off x="4892040" y="3739896"/>
            <a:ext cx="1828800" cy="384048"/>
          </a:xfrm>
          <a:prstGeom prst="rect">
            <a:avLst/>
          </a:prstGeom>
          <a:noFill/>
        </p:spPr>
        <p:txBody>
          <a:bodyPr wrap="square" lIns="0" rIns="0" tIns="0" bIns="0" anchor="ctr">
            <a:spAutoFit/>
          </a:bodyPr>
          <a:lstStyle/>
          <a:p>
            <a:pPr algn="l"/>
            <a:r>
              <a:rPr sz="1400" b="1" i="0">
                <a:solidFill>
                  <a:srgbClr val="0B4A4A"/>
                </a:solidFill>
              </a:rPr>
              <a:t>Capture</a:t>
            </a:r>
          </a:p>
        </p:txBody>
      </p:sp>
      <p:sp>
        <p:nvSpPr>
          <p:cNvPr id="60" name="Chip"/>
          <p:cNvSpPr/>
          <p:nvPr/>
        </p:nvSpPr>
        <p:spPr>
          <a:xfrm>
            <a:off x="6400799" y="3794760"/>
            <a:ext cx="1280160"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Chip"/>
          <p:cNvSpPr txBox="1"/>
          <p:nvPr/>
        </p:nvSpPr>
        <p:spPr>
          <a:xfrm>
            <a:off x="6400799" y="3794760"/>
            <a:ext cx="1280160" cy="274320"/>
          </a:xfrm>
          <a:prstGeom prst="rect">
            <a:avLst/>
          </a:prstGeom>
          <a:noFill/>
        </p:spPr>
        <p:txBody>
          <a:bodyPr wrap="square" lIns="0" rIns="0" tIns="0" bIns="0" anchor="ctr">
            <a:spAutoFit/>
          </a:bodyPr>
          <a:lstStyle/>
          <a:p>
            <a:pPr algn="ctr"/>
            <a:r>
              <a:rPr sz="900" b="1" i="0">
                <a:solidFill>
                  <a:srgbClr val="FFFFFF"/>
                </a:solidFill>
              </a:rPr>
              <a:t>Finance</a:t>
            </a:r>
          </a:p>
        </p:txBody>
      </p:sp>
      <p:sp>
        <p:nvSpPr>
          <p:cNvPr id="62" name="Text"/>
          <p:cNvSpPr txBox="1"/>
          <p:nvPr/>
        </p:nvSpPr>
        <p:spPr>
          <a:xfrm>
            <a:off x="4480559" y="4233672"/>
            <a:ext cx="3200400" cy="201168"/>
          </a:xfrm>
          <a:prstGeom prst="rect">
            <a:avLst/>
          </a:prstGeom>
          <a:noFill/>
        </p:spPr>
        <p:txBody>
          <a:bodyPr wrap="square" lIns="0" rIns="0" tIns="0" bIns="0" anchor="t">
            <a:spAutoFit/>
          </a:bodyPr>
          <a:lstStyle/>
          <a:p>
            <a:pPr algn="l"/>
            <a:r>
              <a:rPr sz="900" b="1" i="0">
                <a:solidFill>
                  <a:srgbClr val="5E6A71"/>
                </a:solidFill>
              </a:rPr>
              <a:t>ACTION</a:t>
            </a:r>
          </a:p>
        </p:txBody>
      </p:sp>
      <p:sp>
        <p:nvSpPr>
          <p:cNvPr id="63" name="Text"/>
          <p:cNvSpPr txBox="1"/>
          <p:nvPr/>
        </p:nvSpPr>
        <p:spPr>
          <a:xfrm>
            <a:off x="4480559" y="4416552"/>
            <a:ext cx="3200400" cy="274320"/>
          </a:xfrm>
          <a:prstGeom prst="rect">
            <a:avLst/>
          </a:prstGeom>
          <a:noFill/>
        </p:spPr>
        <p:txBody>
          <a:bodyPr wrap="square" lIns="0" rIns="0" tIns="0" bIns="0" anchor="t">
            <a:spAutoFit/>
          </a:bodyPr>
          <a:lstStyle/>
          <a:p>
            <a:pPr algn="l"/>
            <a:r>
              <a:rPr sz="1200" b="1" i="0">
                <a:solidFill>
                  <a:srgbClr val="0B6463"/>
                </a:solidFill>
              </a:rPr>
              <a:t>CaptureServiceInvoice</a:t>
            </a:r>
          </a:p>
        </p:txBody>
      </p:sp>
      <p:sp>
        <p:nvSpPr>
          <p:cNvPr id="64" name="Text"/>
          <p:cNvSpPr txBox="1"/>
          <p:nvPr/>
        </p:nvSpPr>
        <p:spPr>
          <a:xfrm>
            <a:off x="4480559" y="4709160"/>
            <a:ext cx="3200400" cy="201168"/>
          </a:xfrm>
          <a:prstGeom prst="rect">
            <a:avLst/>
          </a:prstGeom>
          <a:noFill/>
        </p:spPr>
        <p:txBody>
          <a:bodyPr wrap="square" lIns="0" rIns="0" tIns="0" bIns="0" anchor="t">
            <a:spAutoFit/>
          </a:bodyPr>
          <a:lstStyle/>
          <a:p>
            <a:pPr algn="l"/>
            <a:r>
              <a:rPr sz="900" b="1" i="0">
                <a:solidFill>
                  <a:srgbClr val="5E6A71"/>
                </a:solidFill>
              </a:rPr>
              <a:t>WHO</a:t>
            </a:r>
          </a:p>
        </p:txBody>
      </p:sp>
      <p:sp>
        <p:nvSpPr>
          <p:cNvPr id="65" name="Text"/>
          <p:cNvSpPr txBox="1"/>
          <p:nvPr/>
        </p:nvSpPr>
        <p:spPr>
          <a:xfrm>
            <a:off x="4480559" y="4873752"/>
            <a:ext cx="3200400" cy="256032"/>
          </a:xfrm>
          <a:prstGeom prst="rect">
            <a:avLst/>
          </a:prstGeom>
          <a:noFill/>
        </p:spPr>
        <p:txBody>
          <a:bodyPr wrap="square" lIns="0" rIns="0" tIns="0" bIns="0" anchor="t">
            <a:spAutoFit/>
          </a:bodyPr>
          <a:lstStyle/>
          <a:p>
            <a:pPr algn="l"/>
            <a:r>
              <a:rPr sz="1100" b="0" i="0">
                <a:solidFill>
                  <a:srgbClr val="1E262B"/>
                </a:solidFill>
              </a:rPr>
              <a:t>the Accounts Executive, by position</a:t>
            </a:r>
          </a:p>
        </p:txBody>
      </p:sp>
      <p:sp>
        <p:nvSpPr>
          <p:cNvPr id="66" name="Text"/>
          <p:cNvSpPr txBox="1"/>
          <p:nvPr/>
        </p:nvSpPr>
        <p:spPr>
          <a:xfrm>
            <a:off x="4480559" y="5129784"/>
            <a:ext cx="3200400" cy="201168"/>
          </a:xfrm>
          <a:prstGeom prst="rect">
            <a:avLst/>
          </a:prstGeom>
          <a:noFill/>
        </p:spPr>
        <p:txBody>
          <a:bodyPr wrap="square" lIns="0" rIns="0" tIns="0" bIns="0" anchor="t">
            <a:spAutoFit/>
          </a:bodyPr>
          <a:lstStyle/>
          <a:p>
            <a:pPr algn="l"/>
            <a:r>
              <a:rPr sz="900" b="1" i="0">
                <a:solidFill>
                  <a:srgbClr val="5E6A71"/>
                </a:solidFill>
              </a:rPr>
              <a:t>PUBLISHES</a:t>
            </a:r>
          </a:p>
        </p:txBody>
      </p:sp>
      <p:sp>
        <p:nvSpPr>
          <p:cNvPr id="67" name="Text"/>
          <p:cNvSpPr txBox="1"/>
          <p:nvPr/>
        </p:nvSpPr>
        <p:spPr>
          <a:xfrm>
            <a:off x="4480559" y="5294376"/>
            <a:ext cx="3291840" cy="237744"/>
          </a:xfrm>
          <a:prstGeom prst="rect">
            <a:avLst/>
          </a:prstGeom>
          <a:noFill/>
        </p:spPr>
        <p:txBody>
          <a:bodyPr wrap="square" lIns="0" rIns="0" tIns="0" bIns="0" anchor="t">
            <a:spAutoFit/>
          </a:bodyPr>
          <a:lstStyle/>
          <a:p>
            <a:pPr algn="l"/>
            <a:r>
              <a:rPr sz="1050" b="1" i="0">
                <a:solidFill>
                  <a:srgbClr val="0B4A4A"/>
                </a:solidFill>
              </a:rPr>
              <a:t>ServiceInvoiceCaptured</a:t>
            </a:r>
          </a:p>
        </p:txBody>
      </p:sp>
      <p:cxnSp>
        <p:nvCxnSpPr>
          <p:cNvPr id="68" name="Connector 67"/>
          <p:cNvCxnSpPr/>
          <p:nvPr/>
        </p:nvCxnSpPr>
        <p:spPr>
          <a:xfrm>
            <a:off x="7863840" y="4572000"/>
            <a:ext cx="182879" cy="0"/>
          </a:xfrm>
          <a:prstGeom prst="line">
            <a:avLst/>
          </a:prstGeom>
          <a:ln w="19050">
            <a:solidFill>
              <a:srgbClr val="0B64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Box"/>
          <p:cNvSpPr/>
          <p:nvPr/>
        </p:nvSpPr>
        <p:spPr>
          <a:xfrm>
            <a:off x="8046719" y="3611880"/>
            <a:ext cx="3566160" cy="1920240"/>
          </a:xfrm>
          <a:prstGeom prst="roundRect">
            <a:avLst>
              <a:gd name="adj" fmla="val 4285"/>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Number"/>
          <p:cNvSpPr/>
          <p:nvPr/>
        </p:nvSpPr>
        <p:spPr>
          <a:xfrm>
            <a:off x="8229599" y="3776472"/>
            <a:ext cx="310896" cy="310896"/>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Number"/>
          <p:cNvSpPr txBox="1"/>
          <p:nvPr/>
        </p:nvSpPr>
        <p:spPr>
          <a:xfrm>
            <a:off x="8229599" y="3776472"/>
            <a:ext cx="310896" cy="310896"/>
          </a:xfrm>
          <a:prstGeom prst="rect">
            <a:avLst/>
          </a:prstGeom>
          <a:noFill/>
        </p:spPr>
        <p:txBody>
          <a:bodyPr wrap="square" lIns="0" rIns="0" tIns="0" bIns="0" anchor="ctr">
            <a:spAutoFit/>
          </a:bodyPr>
          <a:lstStyle/>
          <a:p>
            <a:pPr algn="ctr"/>
            <a:r>
              <a:rPr sz="1100" b="1" i="0">
                <a:solidFill>
                  <a:srgbClr val="FFFFFF"/>
                </a:solidFill>
              </a:rPr>
              <a:t>6</a:t>
            </a:r>
          </a:p>
        </p:txBody>
      </p:sp>
      <p:sp>
        <p:nvSpPr>
          <p:cNvPr id="72" name="Text"/>
          <p:cNvSpPr txBox="1"/>
          <p:nvPr/>
        </p:nvSpPr>
        <p:spPr>
          <a:xfrm>
            <a:off x="8641080" y="3739896"/>
            <a:ext cx="1828800" cy="384048"/>
          </a:xfrm>
          <a:prstGeom prst="rect">
            <a:avLst/>
          </a:prstGeom>
          <a:noFill/>
        </p:spPr>
        <p:txBody>
          <a:bodyPr wrap="square" lIns="0" rIns="0" tIns="0" bIns="0" anchor="ctr">
            <a:spAutoFit/>
          </a:bodyPr>
          <a:lstStyle/>
          <a:p>
            <a:pPr algn="l"/>
            <a:r>
              <a:rPr sz="1400" b="1" i="0">
                <a:solidFill>
                  <a:srgbClr val="0B4A4A"/>
                </a:solidFill>
              </a:rPr>
              <a:t>Match</a:t>
            </a:r>
          </a:p>
        </p:txBody>
      </p:sp>
      <p:sp>
        <p:nvSpPr>
          <p:cNvPr id="73" name="Chip"/>
          <p:cNvSpPr/>
          <p:nvPr/>
        </p:nvSpPr>
        <p:spPr>
          <a:xfrm>
            <a:off x="10149839" y="3794760"/>
            <a:ext cx="1280160" cy="274320"/>
          </a:xfrm>
          <a:prstGeom prst="roundRect">
            <a:avLst>
              <a:gd name="adj" fmla="val 50000"/>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hip"/>
          <p:cNvSpPr txBox="1"/>
          <p:nvPr/>
        </p:nvSpPr>
        <p:spPr>
          <a:xfrm>
            <a:off x="10149839" y="3794760"/>
            <a:ext cx="1280160" cy="274320"/>
          </a:xfrm>
          <a:prstGeom prst="rect">
            <a:avLst/>
          </a:prstGeom>
          <a:noFill/>
        </p:spPr>
        <p:txBody>
          <a:bodyPr wrap="square" lIns="0" rIns="0" tIns="0" bIns="0" anchor="ctr">
            <a:spAutoFit/>
          </a:bodyPr>
          <a:lstStyle/>
          <a:p>
            <a:pPr algn="ctr"/>
            <a:r>
              <a:rPr sz="900" b="1" i="0">
                <a:solidFill>
                  <a:srgbClr val="FFFFFF"/>
                </a:solidFill>
              </a:rPr>
              <a:t>Procurement</a:t>
            </a:r>
          </a:p>
        </p:txBody>
      </p:sp>
      <p:sp>
        <p:nvSpPr>
          <p:cNvPr id="75" name="Text"/>
          <p:cNvSpPr txBox="1"/>
          <p:nvPr/>
        </p:nvSpPr>
        <p:spPr>
          <a:xfrm>
            <a:off x="8229599" y="4233672"/>
            <a:ext cx="3200400" cy="201168"/>
          </a:xfrm>
          <a:prstGeom prst="rect">
            <a:avLst/>
          </a:prstGeom>
          <a:noFill/>
        </p:spPr>
        <p:txBody>
          <a:bodyPr wrap="square" lIns="0" rIns="0" tIns="0" bIns="0" anchor="t">
            <a:spAutoFit/>
          </a:bodyPr>
          <a:lstStyle/>
          <a:p>
            <a:pPr algn="l"/>
            <a:r>
              <a:rPr sz="900" b="1" i="0">
                <a:solidFill>
                  <a:srgbClr val="5E6A71"/>
                </a:solidFill>
              </a:rPr>
              <a:t>ACTION</a:t>
            </a:r>
          </a:p>
        </p:txBody>
      </p:sp>
      <p:sp>
        <p:nvSpPr>
          <p:cNvPr id="76" name="Text"/>
          <p:cNvSpPr txBox="1"/>
          <p:nvPr/>
        </p:nvSpPr>
        <p:spPr>
          <a:xfrm>
            <a:off x="8229599" y="4416552"/>
            <a:ext cx="3200400" cy="274320"/>
          </a:xfrm>
          <a:prstGeom prst="rect">
            <a:avLst/>
          </a:prstGeom>
          <a:noFill/>
        </p:spPr>
        <p:txBody>
          <a:bodyPr wrap="square" lIns="0" rIns="0" tIns="0" bIns="0" anchor="t">
            <a:spAutoFit/>
          </a:bodyPr>
          <a:lstStyle/>
          <a:p>
            <a:pPr algn="l"/>
            <a:r>
              <a:rPr sz="1200" b="1" i="0">
                <a:solidFill>
                  <a:srgbClr val="0B6463"/>
                </a:solidFill>
              </a:rPr>
              <a:t>MatchServiceInvoice</a:t>
            </a:r>
          </a:p>
        </p:txBody>
      </p:sp>
      <p:sp>
        <p:nvSpPr>
          <p:cNvPr id="77" name="Text"/>
          <p:cNvSpPr txBox="1"/>
          <p:nvPr/>
        </p:nvSpPr>
        <p:spPr>
          <a:xfrm>
            <a:off x="8229599" y="4709160"/>
            <a:ext cx="3200400" cy="201168"/>
          </a:xfrm>
          <a:prstGeom prst="rect">
            <a:avLst/>
          </a:prstGeom>
          <a:noFill/>
        </p:spPr>
        <p:txBody>
          <a:bodyPr wrap="square" lIns="0" rIns="0" tIns="0" bIns="0" anchor="t">
            <a:spAutoFit/>
          </a:bodyPr>
          <a:lstStyle/>
          <a:p>
            <a:pPr algn="l"/>
            <a:r>
              <a:rPr sz="900" b="1" i="0">
                <a:solidFill>
                  <a:srgbClr val="5E6A71"/>
                </a:solidFill>
              </a:rPr>
              <a:t>WHO</a:t>
            </a:r>
          </a:p>
        </p:txBody>
      </p:sp>
      <p:sp>
        <p:nvSpPr>
          <p:cNvPr id="78" name="Text"/>
          <p:cNvSpPr txBox="1"/>
          <p:nvPr/>
        </p:nvSpPr>
        <p:spPr>
          <a:xfrm>
            <a:off x="8229599" y="4873752"/>
            <a:ext cx="3200400" cy="256032"/>
          </a:xfrm>
          <a:prstGeom prst="rect">
            <a:avLst/>
          </a:prstGeom>
          <a:noFill/>
        </p:spPr>
        <p:txBody>
          <a:bodyPr wrap="square" lIns="0" rIns="0" tIns="0" bIns="0" anchor="t">
            <a:spAutoFit/>
          </a:bodyPr>
          <a:lstStyle/>
          <a:p>
            <a:pPr algn="l"/>
            <a:r>
              <a:rPr sz="1100" b="0" i="0">
                <a:solidFill>
                  <a:srgbClr val="1E262B"/>
                </a:solidFill>
              </a:rPr>
              <a:t>the officer, by position</a:t>
            </a:r>
          </a:p>
        </p:txBody>
      </p:sp>
      <p:sp>
        <p:nvSpPr>
          <p:cNvPr id="79" name="Text"/>
          <p:cNvSpPr txBox="1"/>
          <p:nvPr/>
        </p:nvSpPr>
        <p:spPr>
          <a:xfrm>
            <a:off x="8229599" y="5129784"/>
            <a:ext cx="3200400" cy="201168"/>
          </a:xfrm>
          <a:prstGeom prst="rect">
            <a:avLst/>
          </a:prstGeom>
          <a:noFill/>
        </p:spPr>
        <p:txBody>
          <a:bodyPr wrap="square" lIns="0" rIns="0" tIns="0" bIns="0" anchor="t">
            <a:spAutoFit/>
          </a:bodyPr>
          <a:lstStyle/>
          <a:p>
            <a:pPr algn="l"/>
            <a:r>
              <a:rPr sz="900" b="1" i="0">
                <a:solidFill>
                  <a:srgbClr val="5E6A71"/>
                </a:solidFill>
              </a:rPr>
              <a:t>PUBLISHES</a:t>
            </a:r>
          </a:p>
        </p:txBody>
      </p:sp>
      <p:sp>
        <p:nvSpPr>
          <p:cNvPr id="80" name="Text"/>
          <p:cNvSpPr txBox="1"/>
          <p:nvPr/>
        </p:nvSpPr>
        <p:spPr>
          <a:xfrm>
            <a:off x="8229599" y="5294376"/>
            <a:ext cx="3291840" cy="237744"/>
          </a:xfrm>
          <a:prstGeom prst="rect">
            <a:avLst/>
          </a:prstGeom>
          <a:noFill/>
        </p:spPr>
        <p:txBody>
          <a:bodyPr wrap="square" lIns="0" rIns="0" tIns="0" bIns="0" anchor="t">
            <a:spAutoFit/>
          </a:bodyPr>
          <a:lstStyle/>
          <a:p>
            <a:pPr algn="l"/>
            <a:r>
              <a:rPr sz="1050" b="1" i="0">
                <a:solidFill>
                  <a:srgbClr val="0B4A4A"/>
                </a:solidFill>
              </a:rPr>
              <a:t>ServiceInvoiceMatched | VarianceRaised</a:t>
            </a:r>
          </a:p>
        </p:txBody>
      </p:sp>
      <p:cxnSp>
        <p:nvCxnSpPr>
          <p:cNvPr id="81" name="Connector 80"/>
          <p:cNvCxnSpPr/>
          <p:nvPr/>
        </p:nvCxnSpPr>
        <p:spPr>
          <a:xfrm>
            <a:off x="11475720" y="3291840"/>
            <a:ext cx="0" cy="320040"/>
          </a:xfrm>
          <a:prstGeom prst="line">
            <a:avLst/>
          </a:prstGeom>
          <a:ln w="19050">
            <a:solidFill>
              <a:srgbClr val="0B646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2" name="Text"/>
          <p:cNvSpPr txBox="1"/>
          <p:nvPr/>
        </p:nvSpPr>
        <p:spPr>
          <a:xfrm>
            <a:off x="548640" y="5897880"/>
            <a:ext cx="11091672" cy="365760"/>
          </a:xfrm>
          <a:prstGeom prst="rect">
            <a:avLst/>
          </a:prstGeom>
          <a:noFill/>
        </p:spPr>
        <p:txBody>
          <a:bodyPr wrap="square" lIns="0" rIns="0" tIns="0" bIns="0" anchor="t">
            <a:spAutoFit/>
          </a:bodyPr>
          <a:lstStyle/>
          <a:p>
            <a:pPr algn="l"/>
            <a:r>
              <a:rPr sz="1100" b="0" i="0">
                <a:solidFill>
                  <a:srgbClr val="5E6A71"/>
                </a:solidFill>
              </a:rPr>
              <a:t>Event names in the past tense; actions in the imperative; the who is a position or a grant. Step 5 starts step 6 as a task, not a reaction: the match is a judgement.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same thread, one row per step</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THREAD</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21</a:t>
            </a:r>
          </a:p>
        </p:txBody>
      </p:sp>
      <p:sp>
        <p:nvSpPr>
          <p:cNvPr id="5" name="Text"/>
          <p:cNvSpPr txBox="1"/>
          <p:nvPr/>
        </p:nvSpPr>
        <p:spPr>
          <a:xfrm>
            <a:off x="548640" y="1371600"/>
            <a:ext cx="1143000" cy="201168"/>
          </a:xfrm>
          <a:prstGeom prst="rect">
            <a:avLst/>
          </a:prstGeom>
          <a:noFill/>
        </p:spPr>
        <p:txBody>
          <a:bodyPr wrap="square" lIns="0" rIns="0" tIns="0" bIns="0" anchor="t">
            <a:spAutoFit/>
          </a:bodyPr>
          <a:lstStyle/>
          <a:p>
            <a:pPr algn="l"/>
            <a:r>
              <a:rPr sz="950" b="1" i="0">
                <a:solidFill>
                  <a:srgbClr val="5E6A71"/>
                </a:solidFill>
              </a:rPr>
              <a:t>STEP</a:t>
            </a:r>
          </a:p>
        </p:txBody>
      </p:sp>
      <p:sp>
        <p:nvSpPr>
          <p:cNvPr id="6" name="Text"/>
          <p:cNvSpPr txBox="1"/>
          <p:nvPr/>
        </p:nvSpPr>
        <p:spPr>
          <a:xfrm>
            <a:off x="1828800" y="1371600"/>
            <a:ext cx="1234440" cy="201168"/>
          </a:xfrm>
          <a:prstGeom prst="rect">
            <a:avLst/>
          </a:prstGeom>
          <a:noFill/>
        </p:spPr>
        <p:txBody>
          <a:bodyPr wrap="square" lIns="0" rIns="0" tIns="0" bIns="0" anchor="t">
            <a:spAutoFit/>
          </a:bodyPr>
          <a:lstStyle/>
          <a:p>
            <a:pPr algn="l"/>
            <a:r>
              <a:rPr sz="950" b="1" i="0">
                <a:solidFill>
                  <a:srgbClr val="5E6A71"/>
                </a:solidFill>
              </a:rPr>
              <a:t>CONTEXT</a:t>
            </a:r>
          </a:p>
        </p:txBody>
      </p:sp>
      <p:sp>
        <p:nvSpPr>
          <p:cNvPr id="7" name="Text"/>
          <p:cNvSpPr txBox="1"/>
          <p:nvPr/>
        </p:nvSpPr>
        <p:spPr>
          <a:xfrm>
            <a:off x="3200400" y="1371600"/>
            <a:ext cx="2194560" cy="201168"/>
          </a:xfrm>
          <a:prstGeom prst="rect">
            <a:avLst/>
          </a:prstGeom>
          <a:noFill/>
        </p:spPr>
        <p:txBody>
          <a:bodyPr wrap="square" lIns="0" rIns="0" tIns="0" bIns="0" anchor="t">
            <a:spAutoFit/>
          </a:bodyPr>
          <a:lstStyle/>
          <a:p>
            <a:pPr algn="l"/>
            <a:r>
              <a:rPr sz="950" b="1" i="0">
                <a:solidFill>
                  <a:srgbClr val="5E6A71"/>
                </a:solidFill>
              </a:rPr>
              <a:t>ACTION</a:t>
            </a:r>
          </a:p>
        </p:txBody>
      </p:sp>
      <p:sp>
        <p:nvSpPr>
          <p:cNvPr id="8" name="Text"/>
          <p:cNvSpPr txBox="1"/>
          <p:nvPr/>
        </p:nvSpPr>
        <p:spPr>
          <a:xfrm>
            <a:off x="5532120" y="1371600"/>
            <a:ext cx="2286000" cy="201168"/>
          </a:xfrm>
          <a:prstGeom prst="rect">
            <a:avLst/>
          </a:prstGeom>
          <a:noFill/>
        </p:spPr>
        <p:txBody>
          <a:bodyPr wrap="square" lIns="0" rIns="0" tIns="0" bIns="0" anchor="t">
            <a:spAutoFit/>
          </a:bodyPr>
          <a:lstStyle/>
          <a:p>
            <a:pPr algn="l"/>
            <a:r>
              <a:rPr sz="950" b="1" i="0">
                <a:solidFill>
                  <a:srgbClr val="5E6A71"/>
                </a:solidFill>
              </a:rPr>
              <a:t>GATES</a:t>
            </a:r>
          </a:p>
        </p:txBody>
      </p:sp>
      <p:sp>
        <p:nvSpPr>
          <p:cNvPr id="9" name="Text"/>
          <p:cNvSpPr txBox="1"/>
          <p:nvPr/>
        </p:nvSpPr>
        <p:spPr>
          <a:xfrm>
            <a:off x="7955279" y="1371600"/>
            <a:ext cx="1691640" cy="201168"/>
          </a:xfrm>
          <a:prstGeom prst="rect">
            <a:avLst/>
          </a:prstGeom>
          <a:noFill/>
        </p:spPr>
        <p:txBody>
          <a:bodyPr wrap="square" lIns="0" rIns="0" tIns="0" bIns="0" anchor="t">
            <a:spAutoFit/>
          </a:bodyPr>
          <a:lstStyle/>
          <a:p>
            <a:pPr algn="l"/>
            <a:r>
              <a:rPr sz="950" b="1" i="0">
                <a:solidFill>
                  <a:srgbClr val="5E6A71"/>
                </a:solidFill>
              </a:rPr>
              <a:t>EVENT</a:t>
            </a:r>
          </a:p>
        </p:txBody>
      </p:sp>
      <p:sp>
        <p:nvSpPr>
          <p:cNvPr id="10" name="Text"/>
          <p:cNvSpPr txBox="1"/>
          <p:nvPr/>
        </p:nvSpPr>
        <p:spPr>
          <a:xfrm>
            <a:off x="9784080" y="1371600"/>
            <a:ext cx="1719072" cy="201168"/>
          </a:xfrm>
          <a:prstGeom prst="rect">
            <a:avLst/>
          </a:prstGeom>
          <a:noFill/>
        </p:spPr>
        <p:txBody>
          <a:bodyPr wrap="square" lIns="0" rIns="0" tIns="0" bIns="0" anchor="t">
            <a:spAutoFit/>
          </a:bodyPr>
          <a:lstStyle/>
          <a:p>
            <a:pPr algn="l"/>
            <a:r>
              <a:rPr sz="950" b="1" i="0">
                <a:solidFill>
                  <a:srgbClr val="5E6A71"/>
                </a:solidFill>
              </a:rPr>
              <a:t>WHO LISTENS</a:t>
            </a:r>
          </a:p>
        </p:txBody>
      </p:sp>
      <p:cxnSp>
        <p:nvCxnSpPr>
          <p:cNvPr id="11" name="Connector 10"/>
          <p:cNvCxnSpPr/>
          <p:nvPr/>
        </p:nvCxnSpPr>
        <p:spPr>
          <a:xfrm>
            <a:off x="548640" y="1645920"/>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2" name="Text"/>
          <p:cNvSpPr txBox="1"/>
          <p:nvPr/>
        </p:nvSpPr>
        <p:spPr>
          <a:xfrm>
            <a:off x="548640" y="1700784"/>
            <a:ext cx="1143000" cy="640080"/>
          </a:xfrm>
          <a:prstGeom prst="rect">
            <a:avLst/>
          </a:prstGeom>
          <a:noFill/>
        </p:spPr>
        <p:txBody>
          <a:bodyPr wrap="square" lIns="0" rIns="0" tIns="0" bIns="0" anchor="ctr">
            <a:spAutoFit/>
          </a:bodyPr>
          <a:lstStyle/>
          <a:p>
            <a:pPr algn="l"/>
            <a:r>
              <a:rPr sz="1100" b="1" i="0">
                <a:solidFill>
                  <a:srgbClr val="1E262B"/>
                </a:solidFill>
              </a:rPr>
              <a:t>Raise</a:t>
            </a:r>
          </a:p>
        </p:txBody>
      </p:sp>
      <p:sp>
        <p:nvSpPr>
          <p:cNvPr id="13" name="Text"/>
          <p:cNvSpPr txBox="1"/>
          <p:nvPr/>
        </p:nvSpPr>
        <p:spPr>
          <a:xfrm>
            <a:off x="1828800" y="1700784"/>
            <a:ext cx="1234440" cy="640080"/>
          </a:xfrm>
          <a:prstGeom prst="rect">
            <a:avLst/>
          </a:prstGeom>
          <a:noFill/>
        </p:spPr>
        <p:txBody>
          <a:bodyPr wrap="square" lIns="0" rIns="0" tIns="0" bIns="0" anchor="ctr">
            <a:spAutoFit/>
          </a:bodyPr>
          <a:lstStyle/>
          <a:p>
            <a:pPr algn="l"/>
            <a:r>
              <a:rPr sz="1100" b="0" i="0">
                <a:solidFill>
                  <a:srgbClr val="1E262B"/>
                </a:solidFill>
              </a:rPr>
              <a:t>Procurement</a:t>
            </a:r>
          </a:p>
        </p:txBody>
      </p:sp>
      <p:sp>
        <p:nvSpPr>
          <p:cNvPr id="14" name="Text"/>
          <p:cNvSpPr txBox="1"/>
          <p:nvPr/>
        </p:nvSpPr>
        <p:spPr>
          <a:xfrm>
            <a:off x="3200400" y="1700784"/>
            <a:ext cx="2194560" cy="640080"/>
          </a:xfrm>
          <a:prstGeom prst="rect">
            <a:avLst/>
          </a:prstGeom>
          <a:noFill/>
        </p:spPr>
        <p:txBody>
          <a:bodyPr wrap="square" lIns="0" rIns="0" tIns="0" bIns="0" anchor="ctr">
            <a:spAutoFit/>
          </a:bodyPr>
          <a:lstStyle/>
          <a:p>
            <a:pPr algn="l"/>
            <a:r>
              <a:rPr sz="1100" b="0" i="0">
                <a:solidFill>
                  <a:srgbClr val="1E262B"/>
                </a:solidFill>
              </a:rPr>
              <a:t>RaiseWorksOrder</a:t>
            </a:r>
          </a:p>
        </p:txBody>
      </p:sp>
      <p:sp>
        <p:nvSpPr>
          <p:cNvPr id="15" name="Text"/>
          <p:cNvSpPr txBox="1"/>
          <p:nvPr/>
        </p:nvSpPr>
        <p:spPr>
          <a:xfrm>
            <a:off x="5532120" y="1700784"/>
            <a:ext cx="2286000" cy="640080"/>
          </a:xfrm>
          <a:prstGeom prst="rect">
            <a:avLst/>
          </a:prstGeom>
          <a:noFill/>
        </p:spPr>
        <p:txBody>
          <a:bodyPr wrap="square" lIns="0" rIns="0" tIns="0" bIns="0" anchor="ctr">
            <a:spAutoFit/>
          </a:bodyPr>
          <a:lstStyle/>
          <a:p>
            <a:pPr algn="l"/>
            <a:r>
              <a:rPr sz="1100" b="0" i="0">
                <a:solidFill>
                  <a:srgbClr val="1E262B"/>
                </a:solidFill>
              </a:rPr>
              <a:t>department asked; contractor active; inputs complete</a:t>
            </a:r>
          </a:p>
        </p:txBody>
      </p:sp>
      <p:sp>
        <p:nvSpPr>
          <p:cNvPr id="16" name="Text"/>
          <p:cNvSpPr txBox="1"/>
          <p:nvPr/>
        </p:nvSpPr>
        <p:spPr>
          <a:xfrm>
            <a:off x="7955279" y="1700784"/>
            <a:ext cx="1691640" cy="640080"/>
          </a:xfrm>
          <a:prstGeom prst="rect">
            <a:avLst/>
          </a:prstGeom>
          <a:noFill/>
        </p:spPr>
        <p:txBody>
          <a:bodyPr wrap="square" lIns="0" rIns="0" tIns="0" bIns="0" anchor="ctr">
            <a:spAutoFit/>
          </a:bodyPr>
          <a:lstStyle/>
          <a:p>
            <a:pPr algn="l"/>
            <a:r>
              <a:rPr sz="1100" b="0" i="0">
                <a:solidFill>
                  <a:srgbClr val="1E262B"/>
                </a:solidFill>
              </a:rPr>
              <a:t>WorksOrderSubmitted</a:t>
            </a:r>
          </a:p>
        </p:txBody>
      </p:sp>
      <p:sp>
        <p:nvSpPr>
          <p:cNvPr id="17" name="Text"/>
          <p:cNvSpPr txBox="1"/>
          <p:nvPr/>
        </p:nvSpPr>
        <p:spPr>
          <a:xfrm>
            <a:off x="9784080" y="1700784"/>
            <a:ext cx="1719072" cy="640080"/>
          </a:xfrm>
          <a:prstGeom prst="rect">
            <a:avLst/>
          </a:prstGeom>
          <a:noFill/>
        </p:spPr>
        <p:txBody>
          <a:bodyPr wrap="square" lIns="0" rIns="0" tIns="0" bIns="0" anchor="ctr">
            <a:spAutoFit/>
          </a:bodyPr>
          <a:lstStyle/>
          <a:p>
            <a:pPr algn="l"/>
            <a:r>
              <a:rPr sz="1100" b="0" i="0">
                <a:solidFill>
                  <a:srgbClr val="1E262B"/>
                </a:solidFill>
              </a:rPr>
              <a:t>the Procurement Manager's approval</a:t>
            </a:r>
          </a:p>
        </p:txBody>
      </p:sp>
      <p:cxnSp>
        <p:nvCxnSpPr>
          <p:cNvPr id="18" name="Connector 17"/>
          <p:cNvCxnSpPr/>
          <p:nvPr/>
        </p:nvCxnSpPr>
        <p:spPr>
          <a:xfrm>
            <a:off x="548640" y="2359152"/>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9" name="Text"/>
          <p:cNvSpPr txBox="1"/>
          <p:nvPr/>
        </p:nvSpPr>
        <p:spPr>
          <a:xfrm>
            <a:off x="548640" y="2414016"/>
            <a:ext cx="1143000" cy="640080"/>
          </a:xfrm>
          <a:prstGeom prst="rect">
            <a:avLst/>
          </a:prstGeom>
          <a:noFill/>
        </p:spPr>
        <p:txBody>
          <a:bodyPr wrap="square" lIns="0" rIns="0" tIns="0" bIns="0" anchor="ctr">
            <a:spAutoFit/>
          </a:bodyPr>
          <a:lstStyle/>
          <a:p>
            <a:pPr algn="l"/>
            <a:r>
              <a:rPr sz="1100" b="1" i="0">
                <a:solidFill>
                  <a:srgbClr val="1E262B"/>
                </a:solidFill>
              </a:rPr>
              <a:t>Approve</a:t>
            </a:r>
          </a:p>
        </p:txBody>
      </p:sp>
      <p:sp>
        <p:nvSpPr>
          <p:cNvPr id="20" name="Text"/>
          <p:cNvSpPr txBox="1"/>
          <p:nvPr/>
        </p:nvSpPr>
        <p:spPr>
          <a:xfrm>
            <a:off x="1828800" y="2414016"/>
            <a:ext cx="1234440" cy="640080"/>
          </a:xfrm>
          <a:prstGeom prst="rect">
            <a:avLst/>
          </a:prstGeom>
          <a:noFill/>
        </p:spPr>
        <p:txBody>
          <a:bodyPr wrap="square" lIns="0" rIns="0" tIns="0" bIns="0" anchor="ctr">
            <a:spAutoFit/>
          </a:bodyPr>
          <a:lstStyle/>
          <a:p>
            <a:pPr algn="l"/>
            <a:r>
              <a:rPr sz="1100" b="0" i="0">
                <a:solidFill>
                  <a:srgbClr val="1E262B"/>
                </a:solidFill>
              </a:rPr>
              <a:t>Procurement</a:t>
            </a:r>
          </a:p>
        </p:txBody>
      </p:sp>
      <p:sp>
        <p:nvSpPr>
          <p:cNvPr id="21" name="Text"/>
          <p:cNvSpPr txBox="1"/>
          <p:nvPr/>
        </p:nvSpPr>
        <p:spPr>
          <a:xfrm>
            <a:off x="3200400" y="2414016"/>
            <a:ext cx="2194560" cy="640080"/>
          </a:xfrm>
          <a:prstGeom prst="rect">
            <a:avLst/>
          </a:prstGeom>
          <a:noFill/>
        </p:spPr>
        <p:txBody>
          <a:bodyPr wrap="square" lIns="0" rIns="0" tIns="0" bIns="0" anchor="ctr">
            <a:spAutoFit/>
          </a:bodyPr>
          <a:lstStyle/>
          <a:p>
            <a:pPr algn="l"/>
            <a:r>
              <a:rPr sz="1100" b="0" i="0">
                <a:solidFill>
                  <a:srgbClr val="1E262B"/>
                </a:solidFill>
              </a:rPr>
              <a:t>ReleaseWorksOrder, gated by the approval</a:t>
            </a:r>
          </a:p>
        </p:txBody>
      </p:sp>
      <p:sp>
        <p:nvSpPr>
          <p:cNvPr id="22" name="Text"/>
          <p:cNvSpPr txBox="1"/>
          <p:nvPr/>
        </p:nvSpPr>
        <p:spPr>
          <a:xfrm>
            <a:off x="5532120" y="2414016"/>
            <a:ext cx="2286000" cy="640080"/>
          </a:xfrm>
          <a:prstGeom prst="rect">
            <a:avLst/>
          </a:prstGeom>
          <a:noFill/>
        </p:spPr>
        <p:txBody>
          <a:bodyPr wrap="square" lIns="0" rIns="0" tIns="0" bIns="0" anchor="ctr">
            <a:spAutoFit/>
          </a:bodyPr>
          <a:lstStyle/>
          <a:p>
            <a:pPr algn="l"/>
            <a:r>
              <a:rPr sz="1100" b="0" i="0">
                <a:solidFill>
                  <a:srgbClr val="1E262B"/>
                </a:solidFill>
              </a:rPr>
              <a:t>the occupant of Procurement Manager decides; deadline declared</a:t>
            </a:r>
          </a:p>
        </p:txBody>
      </p:sp>
      <p:sp>
        <p:nvSpPr>
          <p:cNvPr id="23" name="Text"/>
          <p:cNvSpPr txBox="1"/>
          <p:nvPr/>
        </p:nvSpPr>
        <p:spPr>
          <a:xfrm>
            <a:off x="7955279" y="2414016"/>
            <a:ext cx="1691640" cy="640080"/>
          </a:xfrm>
          <a:prstGeom prst="rect">
            <a:avLst/>
          </a:prstGeom>
          <a:noFill/>
        </p:spPr>
        <p:txBody>
          <a:bodyPr wrap="square" lIns="0" rIns="0" tIns="0" bIns="0" anchor="ctr">
            <a:spAutoFit/>
          </a:bodyPr>
          <a:lstStyle/>
          <a:p>
            <a:pPr algn="l"/>
            <a:r>
              <a:rPr sz="1100" b="0" i="0">
                <a:solidFill>
                  <a:srgbClr val="1E262B"/>
                </a:solidFill>
              </a:rPr>
              <a:t>WorksOrderApproved</a:t>
            </a:r>
          </a:p>
        </p:txBody>
      </p:sp>
      <p:sp>
        <p:nvSpPr>
          <p:cNvPr id="24" name="Text"/>
          <p:cNvSpPr txBox="1"/>
          <p:nvPr/>
        </p:nvSpPr>
        <p:spPr>
          <a:xfrm>
            <a:off x="9784080" y="2414016"/>
            <a:ext cx="1719072" cy="640080"/>
          </a:xfrm>
          <a:prstGeom prst="rect">
            <a:avLst/>
          </a:prstGeom>
          <a:noFill/>
        </p:spPr>
        <p:txBody>
          <a:bodyPr wrap="square" lIns="0" rIns="0" tIns="0" bIns="0" anchor="ctr">
            <a:spAutoFit/>
          </a:bodyPr>
          <a:lstStyle/>
          <a:p>
            <a:pPr algn="l"/>
            <a:r>
              <a:rPr sz="1100" b="0" i="0">
                <a:solidFill>
                  <a:srgbClr val="1E262B"/>
                </a:solidFill>
              </a:rPr>
              <a:t>the contractor's milestones are scheduled</a:t>
            </a:r>
          </a:p>
        </p:txBody>
      </p:sp>
      <p:cxnSp>
        <p:nvCxnSpPr>
          <p:cNvPr id="25" name="Connector 24"/>
          <p:cNvCxnSpPr/>
          <p:nvPr/>
        </p:nvCxnSpPr>
        <p:spPr>
          <a:xfrm>
            <a:off x="548640" y="3072384"/>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6" name="Text"/>
          <p:cNvSpPr txBox="1"/>
          <p:nvPr/>
        </p:nvSpPr>
        <p:spPr>
          <a:xfrm>
            <a:off x="548640" y="3127248"/>
            <a:ext cx="1143000" cy="640080"/>
          </a:xfrm>
          <a:prstGeom prst="rect">
            <a:avLst/>
          </a:prstGeom>
          <a:noFill/>
        </p:spPr>
        <p:txBody>
          <a:bodyPr wrap="square" lIns="0" rIns="0" tIns="0" bIns="0" anchor="ctr">
            <a:spAutoFit/>
          </a:bodyPr>
          <a:lstStyle/>
          <a:p>
            <a:pPr algn="l"/>
            <a:r>
              <a:rPr sz="1100" b="1" i="0">
                <a:solidFill>
                  <a:srgbClr val="1E262B"/>
                </a:solidFill>
              </a:rPr>
              <a:t>Milestone due</a:t>
            </a:r>
          </a:p>
        </p:txBody>
      </p:sp>
      <p:sp>
        <p:nvSpPr>
          <p:cNvPr id="27" name="Text"/>
          <p:cNvSpPr txBox="1"/>
          <p:nvPr/>
        </p:nvSpPr>
        <p:spPr>
          <a:xfrm>
            <a:off x="1828800" y="3127248"/>
            <a:ext cx="1234440" cy="640080"/>
          </a:xfrm>
          <a:prstGeom prst="rect">
            <a:avLst/>
          </a:prstGeom>
          <a:noFill/>
        </p:spPr>
        <p:txBody>
          <a:bodyPr wrap="square" lIns="0" rIns="0" tIns="0" bIns="0" anchor="ctr">
            <a:spAutoFit/>
          </a:bodyPr>
          <a:lstStyle/>
          <a:p>
            <a:pPr algn="l"/>
            <a:r>
              <a:rPr sz="1100" b="0" i="0">
                <a:solidFill>
                  <a:srgbClr val="1E262B"/>
                </a:solidFill>
              </a:rPr>
              <a:t>timer, then Procurement</a:t>
            </a:r>
          </a:p>
        </p:txBody>
      </p:sp>
      <p:sp>
        <p:nvSpPr>
          <p:cNvPr id="28" name="Text"/>
          <p:cNvSpPr txBox="1"/>
          <p:nvPr/>
        </p:nvSpPr>
        <p:spPr>
          <a:xfrm>
            <a:off x="3200400" y="3127248"/>
            <a:ext cx="2194560" cy="640080"/>
          </a:xfrm>
          <a:prstGeom prst="rect">
            <a:avLst/>
          </a:prstGeom>
          <a:noFill/>
        </p:spPr>
        <p:txBody>
          <a:bodyPr wrap="square" lIns="0" rIns="0" tIns="0" bIns="0" anchor="ctr">
            <a:spAutoFit/>
          </a:bodyPr>
          <a:lstStyle/>
          <a:p>
            <a:pPr algn="l"/>
            <a:r>
              <a:rPr sz="1100" b="0" i="0">
                <a:solidFill>
                  <a:srgbClr val="1E262B"/>
                </a:solidFill>
              </a:rPr>
              <a:t>RequestCompletionConfirmation, by reaction</a:t>
            </a:r>
          </a:p>
        </p:txBody>
      </p:sp>
      <p:sp>
        <p:nvSpPr>
          <p:cNvPr id="29" name="Text"/>
          <p:cNvSpPr txBox="1"/>
          <p:nvPr/>
        </p:nvSpPr>
        <p:spPr>
          <a:xfrm>
            <a:off x="5532120" y="3127248"/>
            <a:ext cx="2286000" cy="640080"/>
          </a:xfrm>
          <a:prstGeom prst="rect">
            <a:avLst/>
          </a:prstGeom>
          <a:noFill/>
        </p:spPr>
        <p:txBody>
          <a:bodyPr wrap="square" lIns="0" rIns="0" tIns="0" bIns="0" anchor="ctr">
            <a:spAutoFit/>
          </a:bodyPr>
          <a:lstStyle/>
          <a:p>
            <a:pPr algn="l"/>
            <a:r>
              <a:rPr sz="1100" b="0" i="0">
                <a:solidFill>
                  <a:srgbClr val="1E262B"/>
                </a:solidFill>
              </a:rPr>
              <a:t>the Works Order is in progress; grant of procurement-reminders</a:t>
            </a:r>
          </a:p>
        </p:txBody>
      </p:sp>
      <p:sp>
        <p:nvSpPr>
          <p:cNvPr id="30" name="Text"/>
          <p:cNvSpPr txBox="1"/>
          <p:nvPr/>
        </p:nvSpPr>
        <p:spPr>
          <a:xfrm>
            <a:off x="7955279" y="3127248"/>
            <a:ext cx="1691640" cy="640080"/>
          </a:xfrm>
          <a:prstGeom prst="rect">
            <a:avLst/>
          </a:prstGeom>
          <a:noFill/>
        </p:spPr>
        <p:txBody>
          <a:bodyPr wrap="square" lIns="0" rIns="0" tIns="0" bIns="0" anchor="ctr">
            <a:spAutoFit/>
          </a:bodyPr>
          <a:lstStyle/>
          <a:p>
            <a:pPr algn="l"/>
            <a:r>
              <a:rPr sz="1100" b="0" i="0">
                <a:solidFill>
                  <a:srgbClr val="1E262B"/>
                </a:solidFill>
              </a:rPr>
              <a:t>CompletionRequested</a:t>
            </a:r>
          </a:p>
        </p:txBody>
      </p:sp>
      <p:sp>
        <p:nvSpPr>
          <p:cNvPr id="31" name="Text"/>
          <p:cNvSpPr txBox="1"/>
          <p:nvPr/>
        </p:nvSpPr>
        <p:spPr>
          <a:xfrm>
            <a:off x="9784080" y="3127248"/>
            <a:ext cx="1719072" cy="640080"/>
          </a:xfrm>
          <a:prstGeom prst="rect">
            <a:avLst/>
          </a:prstGeom>
          <a:noFill/>
        </p:spPr>
        <p:txBody>
          <a:bodyPr wrap="square" lIns="0" rIns="0" tIns="0" bIns="0" anchor="ctr">
            <a:spAutoFit/>
          </a:bodyPr>
          <a:lstStyle/>
          <a:p>
            <a:pPr algn="l"/>
            <a:r>
              <a:rPr sz="1100" b="0" i="0">
                <a:solidFill>
                  <a:srgbClr val="1E262B"/>
                </a:solidFill>
              </a:rPr>
              <a:t>the department head's queue</a:t>
            </a:r>
          </a:p>
        </p:txBody>
      </p:sp>
      <p:cxnSp>
        <p:nvCxnSpPr>
          <p:cNvPr id="32" name="Connector 31"/>
          <p:cNvCxnSpPr/>
          <p:nvPr/>
        </p:nvCxnSpPr>
        <p:spPr>
          <a:xfrm>
            <a:off x="548640" y="3785616"/>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3" name="Text"/>
          <p:cNvSpPr txBox="1"/>
          <p:nvPr/>
        </p:nvSpPr>
        <p:spPr>
          <a:xfrm>
            <a:off x="548640" y="3840480"/>
            <a:ext cx="1143000" cy="640080"/>
          </a:xfrm>
          <a:prstGeom prst="rect">
            <a:avLst/>
          </a:prstGeom>
          <a:noFill/>
        </p:spPr>
        <p:txBody>
          <a:bodyPr wrap="square" lIns="0" rIns="0" tIns="0" bIns="0" anchor="ctr">
            <a:spAutoFit/>
          </a:bodyPr>
          <a:lstStyle/>
          <a:p>
            <a:pPr algn="l"/>
            <a:r>
              <a:rPr sz="1100" b="1" i="0">
                <a:solidFill>
                  <a:srgbClr val="1E262B"/>
                </a:solidFill>
              </a:rPr>
              <a:t>Confirm</a:t>
            </a:r>
          </a:p>
        </p:txBody>
      </p:sp>
      <p:sp>
        <p:nvSpPr>
          <p:cNvPr id="34" name="Text"/>
          <p:cNvSpPr txBox="1"/>
          <p:nvPr/>
        </p:nvSpPr>
        <p:spPr>
          <a:xfrm>
            <a:off x="1828800" y="3840480"/>
            <a:ext cx="1234440" cy="640080"/>
          </a:xfrm>
          <a:prstGeom prst="rect">
            <a:avLst/>
          </a:prstGeom>
          <a:noFill/>
        </p:spPr>
        <p:txBody>
          <a:bodyPr wrap="square" lIns="0" rIns="0" tIns="0" bIns="0" anchor="ctr">
            <a:spAutoFit/>
          </a:bodyPr>
          <a:lstStyle/>
          <a:p>
            <a:pPr algn="l"/>
            <a:r>
              <a:rPr sz="1100" b="0" i="0">
                <a:solidFill>
                  <a:srgbClr val="1E262B"/>
                </a:solidFill>
              </a:rPr>
              <a:t>Procurement</a:t>
            </a:r>
          </a:p>
        </p:txBody>
      </p:sp>
      <p:sp>
        <p:nvSpPr>
          <p:cNvPr id="35" name="Text"/>
          <p:cNvSpPr txBox="1"/>
          <p:nvPr/>
        </p:nvSpPr>
        <p:spPr>
          <a:xfrm>
            <a:off x="3200400" y="3840480"/>
            <a:ext cx="2194560" cy="640080"/>
          </a:xfrm>
          <a:prstGeom prst="rect">
            <a:avLst/>
          </a:prstGeom>
          <a:noFill/>
        </p:spPr>
        <p:txBody>
          <a:bodyPr wrap="square" lIns="0" rIns="0" tIns="0" bIns="0" anchor="ctr">
            <a:spAutoFit/>
          </a:bodyPr>
          <a:lstStyle/>
          <a:p>
            <a:pPr algn="l"/>
            <a:r>
              <a:rPr sz="1100" b="0" i="0">
                <a:solidFill>
                  <a:srgbClr val="1E262B"/>
                </a:solidFill>
              </a:rPr>
              <a:t>ConfirmServiceCompletion</a:t>
            </a:r>
          </a:p>
        </p:txBody>
      </p:sp>
      <p:sp>
        <p:nvSpPr>
          <p:cNvPr id="36" name="Text"/>
          <p:cNvSpPr txBox="1"/>
          <p:nvPr/>
        </p:nvSpPr>
        <p:spPr>
          <a:xfrm>
            <a:off x="5532120" y="3840480"/>
            <a:ext cx="2286000" cy="640080"/>
          </a:xfrm>
          <a:prstGeom prst="rect">
            <a:avLst/>
          </a:prstGeom>
          <a:noFill/>
        </p:spPr>
        <p:txBody>
          <a:bodyPr wrap="square" lIns="0" rIns="0" tIns="0" bIns="0" anchor="ctr">
            <a:spAutoFit/>
          </a:bodyPr>
          <a:lstStyle/>
          <a:p>
            <a:pPr algn="l"/>
            <a:r>
              <a:rPr sz="1100" b="0" i="0">
                <a:solidFill>
                  <a:srgbClr val="1E262B"/>
                </a:solidFill>
              </a:rPr>
              <a:t>the occupant of the requesting department head</a:t>
            </a:r>
          </a:p>
        </p:txBody>
      </p:sp>
      <p:sp>
        <p:nvSpPr>
          <p:cNvPr id="37" name="Text"/>
          <p:cNvSpPr txBox="1"/>
          <p:nvPr/>
        </p:nvSpPr>
        <p:spPr>
          <a:xfrm>
            <a:off x="7955279" y="3840480"/>
            <a:ext cx="1691640" cy="640080"/>
          </a:xfrm>
          <a:prstGeom prst="rect">
            <a:avLst/>
          </a:prstGeom>
          <a:noFill/>
        </p:spPr>
        <p:txBody>
          <a:bodyPr wrap="square" lIns="0" rIns="0" tIns="0" bIns="0" anchor="ctr">
            <a:spAutoFit/>
          </a:bodyPr>
          <a:lstStyle/>
          <a:p>
            <a:pPr algn="l"/>
            <a:r>
              <a:rPr sz="1100" b="0" i="0">
                <a:solidFill>
                  <a:srgbClr val="1E262B"/>
                </a:solidFill>
              </a:rPr>
              <a:t>ServiceCompletionConfirmed</a:t>
            </a:r>
          </a:p>
        </p:txBody>
      </p:sp>
      <p:sp>
        <p:nvSpPr>
          <p:cNvPr id="38" name="Text"/>
          <p:cNvSpPr txBox="1"/>
          <p:nvPr/>
        </p:nvSpPr>
        <p:spPr>
          <a:xfrm>
            <a:off x="9784080" y="3840480"/>
            <a:ext cx="1719072" cy="640080"/>
          </a:xfrm>
          <a:prstGeom prst="rect">
            <a:avLst/>
          </a:prstGeom>
          <a:noFill/>
        </p:spPr>
        <p:txBody>
          <a:bodyPr wrap="square" lIns="0" rIns="0" tIns="0" bIns="0" anchor="ctr">
            <a:spAutoFit/>
          </a:bodyPr>
          <a:lstStyle/>
          <a:p>
            <a:pPr algn="l"/>
            <a:r>
              <a:rPr sz="1100" b="0" i="0">
                <a:solidFill>
                  <a:srgbClr val="1E262B"/>
                </a:solidFill>
              </a:rPr>
              <a:t>the officer's queue; the match waits for the bill</a:t>
            </a:r>
          </a:p>
        </p:txBody>
      </p:sp>
      <p:cxnSp>
        <p:nvCxnSpPr>
          <p:cNvPr id="39" name="Connector 38"/>
          <p:cNvCxnSpPr/>
          <p:nvPr/>
        </p:nvCxnSpPr>
        <p:spPr>
          <a:xfrm>
            <a:off x="548640" y="4498848"/>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40" name="Text"/>
          <p:cNvSpPr txBox="1"/>
          <p:nvPr/>
        </p:nvSpPr>
        <p:spPr>
          <a:xfrm>
            <a:off x="548640" y="4553712"/>
            <a:ext cx="1143000" cy="640080"/>
          </a:xfrm>
          <a:prstGeom prst="rect">
            <a:avLst/>
          </a:prstGeom>
          <a:noFill/>
        </p:spPr>
        <p:txBody>
          <a:bodyPr wrap="square" lIns="0" rIns="0" tIns="0" bIns="0" anchor="ctr">
            <a:spAutoFit/>
          </a:bodyPr>
          <a:lstStyle/>
          <a:p>
            <a:pPr algn="l"/>
            <a:r>
              <a:rPr sz="1100" b="1" i="0">
                <a:solidFill>
                  <a:srgbClr val="1E262B"/>
                </a:solidFill>
              </a:rPr>
              <a:t>Capture</a:t>
            </a:r>
          </a:p>
        </p:txBody>
      </p:sp>
      <p:sp>
        <p:nvSpPr>
          <p:cNvPr id="41" name="Text"/>
          <p:cNvSpPr txBox="1"/>
          <p:nvPr/>
        </p:nvSpPr>
        <p:spPr>
          <a:xfrm>
            <a:off x="1828800" y="4553712"/>
            <a:ext cx="1234440" cy="640080"/>
          </a:xfrm>
          <a:prstGeom prst="rect">
            <a:avLst/>
          </a:prstGeom>
          <a:noFill/>
        </p:spPr>
        <p:txBody>
          <a:bodyPr wrap="square" lIns="0" rIns="0" tIns="0" bIns="0" anchor="ctr">
            <a:spAutoFit/>
          </a:bodyPr>
          <a:lstStyle/>
          <a:p>
            <a:pPr algn="l"/>
            <a:r>
              <a:rPr sz="1100" b="0" i="0">
                <a:solidFill>
                  <a:srgbClr val="1E262B"/>
                </a:solidFill>
              </a:rPr>
              <a:t>Finance</a:t>
            </a:r>
          </a:p>
        </p:txBody>
      </p:sp>
      <p:sp>
        <p:nvSpPr>
          <p:cNvPr id="42" name="Text"/>
          <p:cNvSpPr txBox="1"/>
          <p:nvPr/>
        </p:nvSpPr>
        <p:spPr>
          <a:xfrm>
            <a:off x="3200400" y="4553712"/>
            <a:ext cx="2194560" cy="640080"/>
          </a:xfrm>
          <a:prstGeom prst="rect">
            <a:avLst/>
          </a:prstGeom>
          <a:noFill/>
        </p:spPr>
        <p:txBody>
          <a:bodyPr wrap="square" lIns="0" rIns="0" tIns="0" bIns="0" anchor="ctr">
            <a:spAutoFit/>
          </a:bodyPr>
          <a:lstStyle/>
          <a:p>
            <a:pPr algn="l"/>
            <a:r>
              <a:rPr sz="1100" b="0" i="0">
                <a:solidFill>
                  <a:srgbClr val="1E262B"/>
                </a:solidFill>
              </a:rPr>
              <a:t>CaptureServiceInvoice</a:t>
            </a:r>
          </a:p>
        </p:txBody>
      </p:sp>
      <p:sp>
        <p:nvSpPr>
          <p:cNvPr id="43" name="Text"/>
          <p:cNvSpPr txBox="1"/>
          <p:nvPr/>
        </p:nvSpPr>
        <p:spPr>
          <a:xfrm>
            <a:off x="5532120" y="4553712"/>
            <a:ext cx="2286000" cy="640080"/>
          </a:xfrm>
          <a:prstGeom prst="rect">
            <a:avLst/>
          </a:prstGeom>
          <a:noFill/>
        </p:spPr>
        <p:txBody>
          <a:bodyPr wrap="square" lIns="0" rIns="0" tIns="0" bIns="0" anchor="ctr">
            <a:spAutoFit/>
          </a:bodyPr>
          <a:lstStyle/>
          <a:p>
            <a:pPr algn="l"/>
            <a:r>
              <a:rPr sz="1100" b="0" i="0">
                <a:solidFill>
                  <a:srgbClr val="1E262B"/>
                </a:solidFill>
              </a:rPr>
              <a:t>an Accounts Executive; the Works Order exists</a:t>
            </a:r>
          </a:p>
        </p:txBody>
      </p:sp>
      <p:sp>
        <p:nvSpPr>
          <p:cNvPr id="44" name="Text"/>
          <p:cNvSpPr txBox="1"/>
          <p:nvPr/>
        </p:nvSpPr>
        <p:spPr>
          <a:xfrm>
            <a:off x="7955279" y="4553712"/>
            <a:ext cx="1691640" cy="640080"/>
          </a:xfrm>
          <a:prstGeom prst="rect">
            <a:avLst/>
          </a:prstGeom>
          <a:noFill/>
        </p:spPr>
        <p:txBody>
          <a:bodyPr wrap="square" lIns="0" rIns="0" tIns="0" bIns="0" anchor="ctr">
            <a:spAutoFit/>
          </a:bodyPr>
          <a:lstStyle/>
          <a:p>
            <a:pPr algn="l"/>
            <a:r>
              <a:rPr sz="1100" b="0" i="0">
                <a:solidFill>
                  <a:srgbClr val="1E262B"/>
                </a:solidFill>
              </a:rPr>
              <a:t>ServiceInvoiceCaptured</a:t>
            </a:r>
          </a:p>
        </p:txBody>
      </p:sp>
      <p:sp>
        <p:nvSpPr>
          <p:cNvPr id="45" name="Text"/>
          <p:cNvSpPr txBox="1"/>
          <p:nvPr/>
        </p:nvSpPr>
        <p:spPr>
          <a:xfrm>
            <a:off x="9784080" y="4553712"/>
            <a:ext cx="1719072" cy="640080"/>
          </a:xfrm>
          <a:prstGeom prst="rect">
            <a:avLst/>
          </a:prstGeom>
          <a:noFill/>
        </p:spPr>
        <p:txBody>
          <a:bodyPr wrap="square" lIns="0" rIns="0" tIns="0" bIns="0" anchor="ctr">
            <a:spAutoFit/>
          </a:bodyPr>
          <a:lstStyle/>
          <a:p>
            <a:pPr algn="l"/>
            <a:r>
              <a:rPr sz="1100" b="0" i="0">
                <a:solidFill>
                  <a:srgbClr val="1E262B"/>
                </a:solidFill>
              </a:rPr>
              <a:t>the officer's Match task starts</a:t>
            </a:r>
          </a:p>
        </p:txBody>
      </p:sp>
      <p:cxnSp>
        <p:nvCxnSpPr>
          <p:cNvPr id="46" name="Connector 45"/>
          <p:cNvCxnSpPr/>
          <p:nvPr/>
        </p:nvCxnSpPr>
        <p:spPr>
          <a:xfrm>
            <a:off x="548640" y="5212080"/>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47" name="Text"/>
          <p:cNvSpPr txBox="1"/>
          <p:nvPr/>
        </p:nvSpPr>
        <p:spPr>
          <a:xfrm>
            <a:off x="548640" y="5266944"/>
            <a:ext cx="1143000" cy="640080"/>
          </a:xfrm>
          <a:prstGeom prst="rect">
            <a:avLst/>
          </a:prstGeom>
          <a:noFill/>
        </p:spPr>
        <p:txBody>
          <a:bodyPr wrap="square" lIns="0" rIns="0" tIns="0" bIns="0" anchor="ctr">
            <a:spAutoFit/>
          </a:bodyPr>
          <a:lstStyle/>
          <a:p>
            <a:pPr algn="l"/>
            <a:r>
              <a:rPr sz="1100" b="1" i="0">
                <a:solidFill>
                  <a:srgbClr val="1E262B"/>
                </a:solidFill>
              </a:rPr>
              <a:t>Match</a:t>
            </a:r>
          </a:p>
        </p:txBody>
      </p:sp>
      <p:sp>
        <p:nvSpPr>
          <p:cNvPr id="48" name="Text"/>
          <p:cNvSpPr txBox="1"/>
          <p:nvPr/>
        </p:nvSpPr>
        <p:spPr>
          <a:xfrm>
            <a:off x="1828800" y="5266944"/>
            <a:ext cx="1234440" cy="640080"/>
          </a:xfrm>
          <a:prstGeom prst="rect">
            <a:avLst/>
          </a:prstGeom>
          <a:noFill/>
        </p:spPr>
        <p:txBody>
          <a:bodyPr wrap="square" lIns="0" rIns="0" tIns="0" bIns="0" anchor="ctr">
            <a:spAutoFit/>
          </a:bodyPr>
          <a:lstStyle/>
          <a:p>
            <a:pPr algn="l"/>
            <a:r>
              <a:rPr sz="1100" b="0" i="0">
                <a:solidFill>
                  <a:srgbClr val="1E262B"/>
                </a:solidFill>
              </a:rPr>
              <a:t>Procurement</a:t>
            </a:r>
          </a:p>
        </p:txBody>
      </p:sp>
      <p:sp>
        <p:nvSpPr>
          <p:cNvPr id="49" name="Text"/>
          <p:cNvSpPr txBox="1"/>
          <p:nvPr/>
        </p:nvSpPr>
        <p:spPr>
          <a:xfrm>
            <a:off x="3200400" y="5266944"/>
            <a:ext cx="2194560" cy="640080"/>
          </a:xfrm>
          <a:prstGeom prst="rect">
            <a:avLst/>
          </a:prstGeom>
          <a:noFill/>
        </p:spPr>
        <p:txBody>
          <a:bodyPr wrap="square" lIns="0" rIns="0" tIns="0" bIns="0" anchor="ctr">
            <a:spAutoFit/>
          </a:bodyPr>
          <a:lstStyle/>
          <a:p>
            <a:pPr algn="l"/>
            <a:r>
              <a:rPr sz="1100" b="0" i="0">
                <a:solidFill>
                  <a:srgbClr val="1E262B"/>
                </a:solidFill>
              </a:rPr>
              <a:t>MatchServiceInvoice</a:t>
            </a:r>
          </a:p>
        </p:txBody>
      </p:sp>
      <p:sp>
        <p:nvSpPr>
          <p:cNvPr id="50" name="Text"/>
          <p:cNvSpPr txBox="1"/>
          <p:nvPr/>
        </p:nvSpPr>
        <p:spPr>
          <a:xfrm>
            <a:off x="5532120" y="5266944"/>
            <a:ext cx="2286000" cy="640080"/>
          </a:xfrm>
          <a:prstGeom prst="rect">
            <a:avLst/>
          </a:prstGeom>
          <a:noFill/>
        </p:spPr>
        <p:txBody>
          <a:bodyPr wrap="square" lIns="0" rIns="0" tIns="0" bIns="0" anchor="ctr">
            <a:spAutoFit/>
          </a:bodyPr>
          <a:lstStyle/>
          <a:p>
            <a:pPr algn="l"/>
            <a:r>
              <a:rPr sz="1100" b="0" i="0">
                <a:solidFill>
                  <a:srgbClr val="1E262B"/>
                </a:solidFill>
              </a:rPr>
              <a:t>within the confirmed amount and the value left; else a reason</a:t>
            </a:r>
          </a:p>
        </p:txBody>
      </p:sp>
      <p:sp>
        <p:nvSpPr>
          <p:cNvPr id="51" name="Text"/>
          <p:cNvSpPr txBox="1"/>
          <p:nvPr/>
        </p:nvSpPr>
        <p:spPr>
          <a:xfrm>
            <a:off x="7955279" y="5266944"/>
            <a:ext cx="1691640" cy="640080"/>
          </a:xfrm>
          <a:prstGeom prst="rect">
            <a:avLst/>
          </a:prstGeom>
          <a:noFill/>
        </p:spPr>
        <p:txBody>
          <a:bodyPr wrap="square" lIns="0" rIns="0" tIns="0" bIns="0" anchor="ctr">
            <a:spAutoFit/>
          </a:bodyPr>
          <a:lstStyle/>
          <a:p>
            <a:pPr algn="l"/>
            <a:r>
              <a:rPr sz="1100" b="0" i="0">
                <a:solidFill>
                  <a:srgbClr val="1E262B"/>
                </a:solidFill>
              </a:rPr>
              <a:t>ServiceInvoiceMatched | VarianceRaised</a:t>
            </a:r>
          </a:p>
        </p:txBody>
      </p:sp>
      <p:sp>
        <p:nvSpPr>
          <p:cNvPr id="52" name="Text"/>
          <p:cNvSpPr txBox="1"/>
          <p:nvPr/>
        </p:nvSpPr>
        <p:spPr>
          <a:xfrm>
            <a:off x="9784080" y="5266944"/>
            <a:ext cx="1719072" cy="640080"/>
          </a:xfrm>
          <a:prstGeom prst="rect">
            <a:avLst/>
          </a:prstGeom>
          <a:noFill/>
        </p:spPr>
        <p:txBody>
          <a:bodyPr wrap="square" lIns="0" rIns="0" tIns="0" bIns="0" anchor="ctr">
            <a:spAutoFit/>
          </a:bodyPr>
          <a:lstStyle/>
          <a:p>
            <a:pPr algn="l"/>
            <a:r>
              <a:rPr sz="1100" b="0" i="0">
                <a:solidFill>
                  <a:srgbClr val="1E262B"/>
                </a:solidFill>
              </a:rPr>
              <a:t>the Accounts Executive posts; the Accounts Manager decides a variance</a:t>
            </a:r>
          </a:p>
        </p:txBody>
      </p:sp>
      <p:cxnSp>
        <p:nvCxnSpPr>
          <p:cNvPr id="53" name="Connector 52"/>
          <p:cNvCxnSpPr/>
          <p:nvPr/>
        </p:nvCxnSpPr>
        <p:spPr>
          <a:xfrm>
            <a:off x="548640" y="5925312"/>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54" name="Text"/>
          <p:cNvSpPr txBox="1"/>
          <p:nvPr/>
        </p:nvSpPr>
        <p:spPr>
          <a:xfrm>
            <a:off x="548640" y="5989320"/>
            <a:ext cx="11091672" cy="365760"/>
          </a:xfrm>
          <a:prstGeom prst="rect">
            <a:avLst/>
          </a:prstGeom>
          <a:noFill/>
        </p:spPr>
        <p:txBody>
          <a:bodyPr wrap="square" lIns="0" rIns="0" tIns="0" bIns="0" anchor="t">
            <a:spAutoFit/>
          </a:bodyPr>
          <a:lstStyle/>
          <a:p>
            <a:pPr algn="l"/>
            <a:r>
              <a:rPr sz="1100" b="0" i="0">
                <a:solidFill>
                  <a:srgbClr val="5E6A71"/>
                </a:solidFill>
              </a:rPr>
              <a:t>Illustrative names. The gates come from the role file's responsibilities; the listeners from its hand-over column.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What the shared backend does for each word</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IN THE POC</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22</a:t>
            </a:r>
          </a:p>
        </p:txBody>
      </p:sp>
      <p:sp>
        <p:nvSpPr>
          <p:cNvPr id="5" name="Text"/>
          <p:cNvSpPr txBox="1"/>
          <p:nvPr/>
        </p:nvSpPr>
        <p:spPr>
          <a:xfrm>
            <a:off x="548640" y="1371600"/>
            <a:ext cx="1691640" cy="201168"/>
          </a:xfrm>
          <a:prstGeom prst="rect">
            <a:avLst/>
          </a:prstGeom>
          <a:noFill/>
        </p:spPr>
        <p:txBody>
          <a:bodyPr wrap="square" lIns="0" rIns="0" tIns="0" bIns="0" anchor="t">
            <a:spAutoFit/>
          </a:bodyPr>
          <a:lstStyle/>
          <a:p>
            <a:pPr algn="l"/>
            <a:r>
              <a:rPr sz="950" b="1" i="0">
                <a:solidFill>
                  <a:srgbClr val="5E6A71"/>
                </a:solidFill>
              </a:rPr>
              <a:t>WORD</a:t>
            </a:r>
          </a:p>
        </p:txBody>
      </p:sp>
      <p:sp>
        <p:nvSpPr>
          <p:cNvPr id="6" name="Text"/>
          <p:cNvSpPr txBox="1"/>
          <p:nvPr/>
        </p:nvSpPr>
        <p:spPr>
          <a:xfrm>
            <a:off x="2377440" y="1371600"/>
            <a:ext cx="9125712" cy="201168"/>
          </a:xfrm>
          <a:prstGeom prst="rect">
            <a:avLst/>
          </a:prstGeom>
          <a:noFill/>
        </p:spPr>
        <p:txBody>
          <a:bodyPr wrap="square" lIns="0" rIns="0" tIns="0" bIns="0" anchor="t">
            <a:spAutoFit/>
          </a:bodyPr>
          <a:lstStyle/>
          <a:p>
            <a:pPr algn="l"/>
            <a:r>
              <a:rPr sz="950" b="1" i="0">
                <a:solidFill>
                  <a:srgbClr val="5E6A71"/>
                </a:solidFill>
              </a:rPr>
              <a:t>IN THE POC BACKEND, FROM THE ENGINEERING BASELINE</a:t>
            </a:r>
          </a:p>
        </p:txBody>
      </p:sp>
      <p:cxnSp>
        <p:nvCxnSpPr>
          <p:cNvPr id="7" name="Connector 6"/>
          <p:cNvCxnSpPr/>
          <p:nvPr/>
        </p:nvCxnSpPr>
        <p:spPr>
          <a:xfrm>
            <a:off x="548640" y="164592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8" name="Text"/>
          <p:cNvSpPr txBox="1"/>
          <p:nvPr/>
        </p:nvSpPr>
        <p:spPr>
          <a:xfrm>
            <a:off x="548640" y="1700784"/>
            <a:ext cx="1691640" cy="402336"/>
          </a:xfrm>
          <a:prstGeom prst="rect">
            <a:avLst/>
          </a:prstGeom>
          <a:noFill/>
        </p:spPr>
        <p:txBody>
          <a:bodyPr wrap="square" lIns="0" rIns="0" tIns="0" bIns="0" anchor="ctr">
            <a:spAutoFit/>
          </a:bodyPr>
          <a:lstStyle/>
          <a:p>
            <a:pPr algn="l"/>
            <a:r>
              <a:rPr sz="1150" b="1" i="0">
                <a:solidFill>
                  <a:srgbClr val="1E262B"/>
                </a:solidFill>
              </a:rPr>
              <a:t>Context</a:t>
            </a:r>
          </a:p>
        </p:txBody>
      </p:sp>
      <p:sp>
        <p:nvSpPr>
          <p:cNvPr id="9" name="Text"/>
          <p:cNvSpPr txBox="1"/>
          <p:nvPr/>
        </p:nvSpPr>
        <p:spPr>
          <a:xfrm>
            <a:off x="2377440" y="1700784"/>
            <a:ext cx="9125712" cy="402336"/>
          </a:xfrm>
          <a:prstGeom prst="rect">
            <a:avLst/>
          </a:prstGeom>
          <a:noFill/>
        </p:spPr>
        <p:txBody>
          <a:bodyPr wrap="square" lIns="0" rIns="0" tIns="0" bIns="0" anchor="ctr">
            <a:spAutoFit/>
          </a:bodyPr>
          <a:lstStyle/>
          <a:p>
            <a:pPr algn="l"/>
            <a:r>
              <a:rPr sz="1150" b="0" i="0">
                <a:solidFill>
                  <a:srgbClr val="1E262B"/>
                </a:solidFill>
              </a:rPr>
              <a:t>a capability package: capabilities/procurement, finance, parties_and_contacts, hr, …  Each owns its models, actions, queries, events and reactions. None touches another's tables.</a:t>
            </a:r>
          </a:p>
        </p:txBody>
      </p:sp>
      <p:cxnSp>
        <p:nvCxnSpPr>
          <p:cNvPr id="10" name="Connector 9"/>
          <p:cNvCxnSpPr/>
          <p:nvPr/>
        </p:nvCxnSpPr>
        <p:spPr>
          <a:xfrm>
            <a:off x="548640" y="2121408"/>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1" name="Text"/>
          <p:cNvSpPr txBox="1"/>
          <p:nvPr/>
        </p:nvSpPr>
        <p:spPr>
          <a:xfrm>
            <a:off x="548640" y="2176272"/>
            <a:ext cx="1691640" cy="402336"/>
          </a:xfrm>
          <a:prstGeom prst="rect">
            <a:avLst/>
          </a:prstGeom>
          <a:noFill/>
        </p:spPr>
        <p:txBody>
          <a:bodyPr wrap="square" lIns="0" rIns="0" tIns="0" bIns="0" anchor="ctr">
            <a:spAutoFit/>
          </a:bodyPr>
          <a:lstStyle/>
          <a:p>
            <a:pPr algn="l"/>
            <a:r>
              <a:rPr sz="1150" b="1" i="0">
                <a:solidFill>
                  <a:srgbClr val="1E262B"/>
                </a:solidFill>
              </a:rPr>
              <a:t>Action</a:t>
            </a:r>
          </a:p>
        </p:txBody>
      </p:sp>
      <p:sp>
        <p:nvSpPr>
          <p:cNvPr id="12" name="Text"/>
          <p:cNvSpPr txBox="1"/>
          <p:nvPr/>
        </p:nvSpPr>
        <p:spPr>
          <a:xfrm>
            <a:off x="2377440" y="2176272"/>
            <a:ext cx="9125712" cy="402336"/>
          </a:xfrm>
          <a:prstGeom prst="rect">
            <a:avLst/>
          </a:prstGeom>
          <a:noFill/>
        </p:spPr>
        <p:txBody>
          <a:bodyPr wrap="square" lIns="0" rIns="0" tIns="0" bIns="0" anchor="ctr">
            <a:spAutoFit/>
          </a:bodyPr>
          <a:lstStyle/>
          <a:p>
            <a:pPr algn="l"/>
            <a:r>
              <a:rPr sz="1150" b="0" i="0">
                <a:solidFill>
                  <a:srgbClr val="1E262B"/>
                </a:solidFill>
              </a:rPr>
              <a:t>an endpoint in the owning capability: validate authority and business rules; commit business state and the event in one transaction.</a:t>
            </a:r>
          </a:p>
        </p:txBody>
      </p:sp>
      <p:cxnSp>
        <p:nvCxnSpPr>
          <p:cNvPr id="13" name="Connector 12"/>
          <p:cNvCxnSpPr/>
          <p:nvPr/>
        </p:nvCxnSpPr>
        <p:spPr>
          <a:xfrm>
            <a:off x="548640" y="2596896"/>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4" name="Text"/>
          <p:cNvSpPr txBox="1"/>
          <p:nvPr/>
        </p:nvSpPr>
        <p:spPr>
          <a:xfrm>
            <a:off x="548640" y="2651760"/>
            <a:ext cx="1691640" cy="402336"/>
          </a:xfrm>
          <a:prstGeom prst="rect">
            <a:avLst/>
          </a:prstGeom>
          <a:noFill/>
        </p:spPr>
        <p:txBody>
          <a:bodyPr wrap="square" lIns="0" rIns="0" tIns="0" bIns="0" anchor="ctr">
            <a:spAutoFit/>
          </a:bodyPr>
          <a:lstStyle/>
          <a:p>
            <a:pPr algn="l"/>
            <a:r>
              <a:rPr sz="1150" b="1" i="0">
                <a:solidFill>
                  <a:srgbClr val="1E262B"/>
                </a:solidFill>
              </a:rPr>
              <a:t>Event</a:t>
            </a:r>
          </a:p>
        </p:txBody>
      </p:sp>
      <p:sp>
        <p:nvSpPr>
          <p:cNvPr id="15" name="Text"/>
          <p:cNvSpPr txBox="1"/>
          <p:nvPr/>
        </p:nvSpPr>
        <p:spPr>
          <a:xfrm>
            <a:off x="2377440" y="2651760"/>
            <a:ext cx="9125712" cy="402336"/>
          </a:xfrm>
          <a:prstGeom prst="rect">
            <a:avLst/>
          </a:prstGeom>
          <a:noFill/>
        </p:spPr>
        <p:txBody>
          <a:bodyPr wrap="square" lIns="0" rIns="0" tIns="0" bIns="0" anchor="ctr">
            <a:spAutoFit/>
          </a:bodyPr>
          <a:lstStyle/>
          <a:p>
            <a:pPr algn="l"/>
            <a:r>
              <a:rPr sz="1150" b="0" i="0">
                <a:solidFill>
                  <a:srgbClr val="1E262B"/>
                </a:solidFill>
              </a:rPr>
              <a:t>a row in the PostgreSQL event outbox, written in that transaction. Named and versioned; its definition does not depend on delivery.</a:t>
            </a:r>
          </a:p>
        </p:txBody>
      </p:sp>
      <p:cxnSp>
        <p:nvCxnSpPr>
          <p:cNvPr id="16" name="Connector 15"/>
          <p:cNvCxnSpPr/>
          <p:nvPr/>
        </p:nvCxnSpPr>
        <p:spPr>
          <a:xfrm>
            <a:off x="548640" y="3072384"/>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7" name="Text"/>
          <p:cNvSpPr txBox="1"/>
          <p:nvPr/>
        </p:nvSpPr>
        <p:spPr>
          <a:xfrm>
            <a:off x="548640" y="3127248"/>
            <a:ext cx="1691640" cy="402336"/>
          </a:xfrm>
          <a:prstGeom prst="rect">
            <a:avLst/>
          </a:prstGeom>
          <a:noFill/>
        </p:spPr>
        <p:txBody>
          <a:bodyPr wrap="square" lIns="0" rIns="0" tIns="0" bIns="0" anchor="ctr">
            <a:spAutoFit/>
          </a:bodyPr>
          <a:lstStyle/>
          <a:p>
            <a:pPr algn="l"/>
            <a:r>
              <a:rPr sz="1150" b="1" i="0">
                <a:solidFill>
                  <a:srgbClr val="1E262B"/>
                </a:solidFill>
              </a:rPr>
              <a:t>Reaction</a:t>
            </a:r>
          </a:p>
        </p:txBody>
      </p:sp>
      <p:sp>
        <p:nvSpPr>
          <p:cNvPr id="18" name="Text"/>
          <p:cNvSpPr txBox="1"/>
          <p:nvPr/>
        </p:nvSpPr>
        <p:spPr>
          <a:xfrm>
            <a:off x="2377440" y="3127248"/>
            <a:ext cx="9125712" cy="402336"/>
          </a:xfrm>
          <a:prstGeom prst="rect">
            <a:avLst/>
          </a:prstGeom>
          <a:noFill/>
        </p:spPr>
        <p:txBody>
          <a:bodyPr wrap="square" lIns="0" rIns="0" tIns="0" bIns="0" anchor="ctr">
            <a:spAutoFit/>
          </a:bodyPr>
          <a:lstStyle/>
          <a:p>
            <a:pPr algn="l"/>
            <a:r>
              <a:rPr sz="1150" b="0" i="0">
                <a:solidFill>
                  <a:srgbClr val="1E262B"/>
                </a:solidFill>
              </a:rPr>
              <a:t>a handler registered with the dispatcher. The Embedded Event Dispatcher worker reads the outbox, calls each reaction independently, records completion, retries, isolates failures. Handlers are safe to retry.</a:t>
            </a:r>
          </a:p>
        </p:txBody>
      </p:sp>
      <p:cxnSp>
        <p:nvCxnSpPr>
          <p:cNvPr id="19" name="Connector 18"/>
          <p:cNvCxnSpPr/>
          <p:nvPr/>
        </p:nvCxnSpPr>
        <p:spPr>
          <a:xfrm>
            <a:off x="548640" y="3547872"/>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0" name="Text"/>
          <p:cNvSpPr txBox="1"/>
          <p:nvPr/>
        </p:nvSpPr>
        <p:spPr>
          <a:xfrm>
            <a:off x="548640" y="3602736"/>
            <a:ext cx="1691640" cy="402336"/>
          </a:xfrm>
          <a:prstGeom prst="rect">
            <a:avLst/>
          </a:prstGeom>
          <a:noFill/>
        </p:spPr>
        <p:txBody>
          <a:bodyPr wrap="square" lIns="0" rIns="0" tIns="0" bIns="0" anchor="ctr">
            <a:spAutoFit/>
          </a:bodyPr>
          <a:lstStyle/>
          <a:p>
            <a:pPr algn="l"/>
            <a:r>
              <a:rPr sz="1150" b="1" i="0">
                <a:solidFill>
                  <a:srgbClr val="1E262B"/>
                </a:solidFill>
              </a:rPr>
              <a:t>Query</a:t>
            </a:r>
          </a:p>
        </p:txBody>
      </p:sp>
      <p:sp>
        <p:nvSpPr>
          <p:cNvPr id="21" name="Text"/>
          <p:cNvSpPr txBox="1"/>
          <p:nvPr/>
        </p:nvSpPr>
        <p:spPr>
          <a:xfrm>
            <a:off x="2377440" y="3602736"/>
            <a:ext cx="9125712" cy="402336"/>
          </a:xfrm>
          <a:prstGeom prst="rect">
            <a:avLst/>
          </a:prstGeom>
          <a:noFill/>
        </p:spPr>
        <p:txBody>
          <a:bodyPr wrap="square" lIns="0" rIns="0" tIns="0" bIns="0" anchor="ctr">
            <a:spAutoFit/>
          </a:bodyPr>
          <a:lstStyle/>
          <a:p>
            <a:pPr algn="l"/>
            <a:r>
              <a:rPr sz="1150" b="0" i="0">
                <a:solidFill>
                  <a:srgbClr val="1E262B"/>
                </a:solidFill>
              </a:rPr>
              <a:t>a read endpoint in the capability: worklists, lookups, dashboards, reports. Returns a result without changing state.</a:t>
            </a:r>
          </a:p>
        </p:txBody>
      </p:sp>
      <p:cxnSp>
        <p:nvCxnSpPr>
          <p:cNvPr id="22" name="Connector 21"/>
          <p:cNvCxnSpPr/>
          <p:nvPr/>
        </p:nvCxnSpPr>
        <p:spPr>
          <a:xfrm>
            <a:off x="548640" y="402336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3" name="Text"/>
          <p:cNvSpPr txBox="1"/>
          <p:nvPr/>
        </p:nvSpPr>
        <p:spPr>
          <a:xfrm>
            <a:off x="548640" y="4078224"/>
            <a:ext cx="1691640" cy="402336"/>
          </a:xfrm>
          <a:prstGeom prst="rect">
            <a:avLst/>
          </a:prstGeom>
          <a:noFill/>
        </p:spPr>
        <p:txBody>
          <a:bodyPr wrap="square" lIns="0" rIns="0" tIns="0" bIns="0" anchor="ctr">
            <a:spAutoFit/>
          </a:bodyPr>
          <a:lstStyle/>
          <a:p>
            <a:pPr algn="l"/>
            <a:r>
              <a:rPr sz="1150" b="1" i="0">
                <a:solidFill>
                  <a:srgbClr val="1E262B"/>
                </a:solidFill>
              </a:rPr>
              <a:t>Timer</a:t>
            </a:r>
          </a:p>
        </p:txBody>
      </p:sp>
      <p:sp>
        <p:nvSpPr>
          <p:cNvPr id="24" name="Text"/>
          <p:cNvSpPr txBox="1"/>
          <p:nvPr/>
        </p:nvSpPr>
        <p:spPr>
          <a:xfrm>
            <a:off x="2377440" y="4078224"/>
            <a:ext cx="9125712" cy="402336"/>
          </a:xfrm>
          <a:prstGeom prst="rect">
            <a:avLst/>
          </a:prstGeom>
          <a:noFill/>
        </p:spPr>
        <p:txBody>
          <a:bodyPr wrap="square" lIns="0" rIns="0" tIns="0" bIns="0" anchor="ctr">
            <a:spAutoFit/>
          </a:bodyPr>
          <a:lstStyle/>
          <a:p>
            <a:pPr algn="l"/>
            <a:r>
              <a:rPr sz="1150" b="0" i="0">
                <a:solidFill>
                  <a:srgbClr val="1E262B"/>
                </a:solidFill>
              </a:rPr>
              <a:t>the scheduler entrypoint: a cron job that runs and exits.</a:t>
            </a:r>
          </a:p>
        </p:txBody>
      </p:sp>
      <p:cxnSp>
        <p:nvCxnSpPr>
          <p:cNvPr id="25" name="Connector 24"/>
          <p:cNvCxnSpPr/>
          <p:nvPr/>
        </p:nvCxnSpPr>
        <p:spPr>
          <a:xfrm>
            <a:off x="548640" y="4498848"/>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6" name="Text"/>
          <p:cNvSpPr txBox="1"/>
          <p:nvPr/>
        </p:nvSpPr>
        <p:spPr>
          <a:xfrm>
            <a:off x="548640" y="4553712"/>
            <a:ext cx="1691640" cy="402336"/>
          </a:xfrm>
          <a:prstGeom prst="rect">
            <a:avLst/>
          </a:prstGeom>
          <a:noFill/>
        </p:spPr>
        <p:txBody>
          <a:bodyPr wrap="square" lIns="0" rIns="0" tIns="0" bIns="0" anchor="ctr">
            <a:spAutoFit/>
          </a:bodyPr>
          <a:lstStyle/>
          <a:p>
            <a:pPr algn="l"/>
            <a:r>
              <a:rPr sz="1150" b="1" i="0">
                <a:solidFill>
                  <a:srgbClr val="1E262B"/>
                </a:solidFill>
              </a:rPr>
              <a:t>Authority</a:t>
            </a:r>
          </a:p>
        </p:txBody>
      </p:sp>
      <p:sp>
        <p:nvSpPr>
          <p:cNvPr id="27" name="Text"/>
          <p:cNvSpPr txBox="1"/>
          <p:nvPr/>
        </p:nvSpPr>
        <p:spPr>
          <a:xfrm>
            <a:off x="2377440" y="4553712"/>
            <a:ext cx="9125712" cy="402336"/>
          </a:xfrm>
          <a:prstGeom prst="rect">
            <a:avLst/>
          </a:prstGeom>
          <a:noFill/>
        </p:spPr>
        <p:txBody>
          <a:bodyPr wrap="square" lIns="0" rIns="0" tIns="0" bIns="0" anchor="ctr">
            <a:spAutoFit/>
          </a:bodyPr>
          <a:lstStyle/>
          <a:p>
            <a:pPr algn="l"/>
            <a:r>
              <a:rPr sz="1150" b="0" i="0">
                <a:solidFill>
                  <a:srgbClr val="1E262B"/>
                </a:solidFill>
              </a:rPr>
              <a:t>foundation/authority: a package named for it, empty on main today.</a:t>
            </a:r>
          </a:p>
        </p:txBody>
      </p:sp>
      <p:cxnSp>
        <p:nvCxnSpPr>
          <p:cNvPr id="28" name="Connector 27"/>
          <p:cNvCxnSpPr/>
          <p:nvPr/>
        </p:nvCxnSpPr>
        <p:spPr>
          <a:xfrm>
            <a:off x="548640" y="4974336"/>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9" name="Text"/>
          <p:cNvSpPr txBox="1"/>
          <p:nvPr/>
        </p:nvSpPr>
        <p:spPr>
          <a:xfrm>
            <a:off x="548640" y="5029199"/>
            <a:ext cx="1691640" cy="402336"/>
          </a:xfrm>
          <a:prstGeom prst="rect">
            <a:avLst/>
          </a:prstGeom>
          <a:noFill/>
        </p:spPr>
        <p:txBody>
          <a:bodyPr wrap="square" lIns="0" rIns="0" tIns="0" bIns="0" anchor="ctr">
            <a:spAutoFit/>
          </a:bodyPr>
          <a:lstStyle/>
          <a:p>
            <a:pPr algn="l"/>
            <a:r>
              <a:rPr sz="1150" b="1" i="0">
                <a:solidFill>
                  <a:srgbClr val="1E262B"/>
                </a:solidFill>
              </a:rPr>
              <a:t>The contract</a:t>
            </a:r>
          </a:p>
        </p:txBody>
      </p:sp>
      <p:sp>
        <p:nvSpPr>
          <p:cNvPr id="30" name="Text"/>
          <p:cNvSpPr txBox="1"/>
          <p:nvPr/>
        </p:nvSpPr>
        <p:spPr>
          <a:xfrm>
            <a:off x="2377440" y="5029199"/>
            <a:ext cx="9125712" cy="402336"/>
          </a:xfrm>
          <a:prstGeom prst="rect">
            <a:avLst/>
          </a:prstGeom>
          <a:noFill/>
        </p:spPr>
        <p:txBody>
          <a:bodyPr wrap="square" lIns="0" rIns="0" tIns="0" bIns="0" anchor="ctr">
            <a:spAutoFit/>
          </a:bodyPr>
          <a:lstStyle/>
          <a:p>
            <a:pPr algn="l"/>
            <a:r>
              <a:rPr sz="1150" b="0" i="0">
                <a:solidFill>
                  <a:srgbClr val="1E262B"/>
                </a:solidFill>
              </a:rPr>
              <a:t>FastAPI → OpenAPI → a generated TypeScript client → the role app. No handwritten copies of types.</a:t>
            </a:r>
          </a:p>
        </p:txBody>
      </p:sp>
      <p:cxnSp>
        <p:nvCxnSpPr>
          <p:cNvPr id="31" name="Connector 30"/>
          <p:cNvCxnSpPr/>
          <p:nvPr/>
        </p:nvCxnSpPr>
        <p:spPr>
          <a:xfrm>
            <a:off x="548640" y="5449823"/>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2" name="Finding"/>
          <p:cNvSpPr/>
          <p:nvPr/>
        </p:nvSpPr>
        <p:spPr>
          <a:xfrm>
            <a:off x="548640" y="5623560"/>
            <a:ext cx="11091672" cy="45720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822960" y="5623560"/>
            <a:ext cx="10543032" cy="457200"/>
          </a:xfrm>
          <a:prstGeom prst="rect">
            <a:avLst/>
          </a:prstGeom>
          <a:noFill/>
        </p:spPr>
        <p:txBody>
          <a:bodyPr wrap="square" lIns="0" rIns="0" tIns="0" bIns="0" anchor="ctr">
            <a:spAutoFit/>
          </a:bodyPr>
          <a:lstStyle/>
          <a:p>
            <a:pPr algn="l"/>
            <a:r>
              <a:rPr sz="1350" b="1" i="0">
                <a:solidFill>
                  <a:srgbClr val="1E262B"/>
                </a:solidFill>
              </a:rPr>
              <a:t>Status.  </a:t>
            </a:r>
            <a:r>
              <a:rPr sz="1350" b="0" i="0">
                <a:solidFill>
                  <a:srgbClr val="1E262B"/>
                </a:solidFill>
              </a:rPr>
              <a:t>On main today the outbox, dispatcher and handler registry are placeholders. What is built on Render is tomorrow's presentation.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Small on purpose: what is deliberately not built</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IN THE POC</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23</a:t>
            </a:r>
          </a:p>
        </p:txBody>
      </p:sp>
      <p:sp>
        <p:nvSpPr>
          <p:cNvPr id="5" name="Card"/>
          <p:cNvSpPr/>
          <p:nvPr/>
        </p:nvSpPr>
        <p:spPr>
          <a:xfrm>
            <a:off x="548640" y="1417320"/>
            <a:ext cx="2651760" cy="1828800"/>
          </a:xfrm>
          <a:prstGeom prst="roundRect">
            <a:avLst>
              <a:gd name="adj" fmla="val 45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p:cNvSpPr txBox="1"/>
          <p:nvPr/>
        </p:nvSpPr>
        <p:spPr>
          <a:xfrm>
            <a:off x="777240" y="1581912"/>
            <a:ext cx="2194560" cy="329184"/>
          </a:xfrm>
          <a:prstGeom prst="rect">
            <a:avLst/>
          </a:prstGeom>
          <a:noFill/>
        </p:spPr>
        <p:txBody>
          <a:bodyPr wrap="square" lIns="0" rIns="0" tIns="0" bIns="0" anchor="t">
            <a:spAutoFit/>
          </a:bodyPr>
          <a:lstStyle/>
          <a:p>
            <a:pPr algn="l"/>
            <a:r>
              <a:rPr sz="1400" b="1" i="0">
                <a:solidFill>
                  <a:srgbClr val="0B6463"/>
                </a:solidFill>
              </a:rPr>
              <a:t>No message broker</a:t>
            </a:r>
          </a:p>
        </p:txBody>
      </p:sp>
      <p:sp>
        <p:nvSpPr>
          <p:cNvPr id="7" name="Text"/>
          <p:cNvSpPr txBox="1"/>
          <p:nvPr/>
        </p:nvSpPr>
        <p:spPr>
          <a:xfrm>
            <a:off x="777240" y="1947672"/>
            <a:ext cx="2194560" cy="1188720"/>
          </a:xfrm>
          <a:prstGeom prst="rect">
            <a:avLst/>
          </a:prstGeom>
          <a:noFill/>
        </p:spPr>
        <p:txBody>
          <a:bodyPr wrap="square" lIns="0" rIns="0" tIns="0" bIns="0" anchor="t">
            <a:spAutoFit/>
          </a:bodyPr>
          <a:lstStyle/>
          <a:p>
            <a:pPr algn="l"/>
            <a:r>
              <a:rPr sz="1250" b="0" i="0">
                <a:solidFill>
                  <a:srgbClr val="1E262B"/>
                </a:solidFill>
              </a:rPr>
              <a:t>An embedded, PostgreSQL-backed outbox and dispatcher deliver events to reactions.</a:t>
            </a:r>
          </a:p>
        </p:txBody>
      </p:sp>
      <p:sp>
        <p:nvSpPr>
          <p:cNvPr id="8" name="Card"/>
          <p:cNvSpPr/>
          <p:nvPr/>
        </p:nvSpPr>
        <p:spPr>
          <a:xfrm>
            <a:off x="3364992" y="1417320"/>
            <a:ext cx="2651760" cy="1828800"/>
          </a:xfrm>
          <a:prstGeom prst="roundRect">
            <a:avLst>
              <a:gd name="adj" fmla="val 45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p:cNvSpPr txBox="1"/>
          <p:nvPr/>
        </p:nvSpPr>
        <p:spPr>
          <a:xfrm>
            <a:off x="3593592" y="1581912"/>
            <a:ext cx="2194560" cy="329184"/>
          </a:xfrm>
          <a:prstGeom prst="rect">
            <a:avLst/>
          </a:prstGeom>
          <a:noFill/>
        </p:spPr>
        <p:txBody>
          <a:bodyPr wrap="square" lIns="0" rIns="0" tIns="0" bIns="0" anchor="t">
            <a:spAutoFit/>
          </a:bodyPr>
          <a:lstStyle/>
          <a:p>
            <a:pPr algn="l"/>
            <a:r>
              <a:rPr sz="1400" b="1" i="0">
                <a:solidFill>
                  <a:srgbClr val="0B6463"/>
                </a:solidFill>
              </a:rPr>
              <a:t>No workflow platform</a:t>
            </a:r>
          </a:p>
        </p:txBody>
      </p:sp>
      <p:sp>
        <p:nvSpPr>
          <p:cNvPr id="10" name="Text"/>
          <p:cNvSpPr txBox="1"/>
          <p:nvPr/>
        </p:nvSpPr>
        <p:spPr>
          <a:xfrm>
            <a:off x="3593592" y="1947672"/>
            <a:ext cx="2194560" cy="1188720"/>
          </a:xfrm>
          <a:prstGeom prst="rect">
            <a:avLst/>
          </a:prstGeom>
          <a:noFill/>
        </p:spPr>
        <p:txBody>
          <a:bodyPr wrap="square" lIns="0" rIns="0" tIns="0" bIns="0" anchor="t">
            <a:spAutoFit/>
          </a:bodyPr>
          <a:lstStyle/>
          <a:p>
            <a:pPr algn="l"/>
            <a:r>
              <a:rPr sz="1250" b="0" i="0">
                <a:solidFill>
                  <a:srgbClr val="1E262B"/>
                </a:solidFill>
              </a:rPr>
              <a:t>A lifecycle, a gated action, a timer and a reaction make a process explicit.</a:t>
            </a:r>
          </a:p>
        </p:txBody>
      </p:sp>
      <p:sp>
        <p:nvSpPr>
          <p:cNvPr id="11" name="Card"/>
          <p:cNvSpPr/>
          <p:nvPr/>
        </p:nvSpPr>
        <p:spPr>
          <a:xfrm>
            <a:off x="6181344" y="1417320"/>
            <a:ext cx="2651760" cy="1828800"/>
          </a:xfrm>
          <a:prstGeom prst="roundRect">
            <a:avLst>
              <a:gd name="adj" fmla="val 45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p:cNvSpPr txBox="1"/>
          <p:nvPr/>
        </p:nvSpPr>
        <p:spPr>
          <a:xfrm>
            <a:off x="6409944" y="1581912"/>
            <a:ext cx="2194560" cy="329184"/>
          </a:xfrm>
          <a:prstGeom prst="rect">
            <a:avLst/>
          </a:prstGeom>
          <a:noFill/>
        </p:spPr>
        <p:txBody>
          <a:bodyPr wrap="square" lIns="0" rIns="0" tIns="0" bIns="0" anchor="t">
            <a:spAutoFit/>
          </a:bodyPr>
          <a:lstStyle/>
          <a:p>
            <a:pPr algn="l"/>
            <a:r>
              <a:rPr sz="1400" b="1" i="0">
                <a:solidFill>
                  <a:srgbClr val="0B6463"/>
                </a:solidFill>
              </a:rPr>
              <a:t>No event sourcing</a:t>
            </a:r>
          </a:p>
        </p:txBody>
      </p:sp>
      <p:sp>
        <p:nvSpPr>
          <p:cNvPr id="13" name="Text"/>
          <p:cNvSpPr txBox="1"/>
          <p:nvPr/>
        </p:nvSpPr>
        <p:spPr>
          <a:xfrm>
            <a:off x="6409944" y="1947672"/>
            <a:ext cx="2194560" cy="1188720"/>
          </a:xfrm>
          <a:prstGeom prst="rect">
            <a:avLst/>
          </a:prstGeom>
          <a:noFill/>
        </p:spPr>
        <p:txBody>
          <a:bodyPr wrap="square" lIns="0" rIns="0" tIns="0" bIns="0" anchor="t">
            <a:spAutoFit/>
          </a:bodyPr>
          <a:lstStyle/>
          <a:p>
            <a:pPr algn="l"/>
            <a:r>
              <a:rPr sz="1250" b="0" i="0">
                <a:solidFill>
                  <a:srgbClr val="1E262B"/>
                </a:solidFill>
              </a:rPr>
              <a:t>A register of current state plus a trail. Foundry's default too.</a:t>
            </a:r>
          </a:p>
        </p:txBody>
      </p:sp>
      <p:sp>
        <p:nvSpPr>
          <p:cNvPr id="14" name="Card"/>
          <p:cNvSpPr/>
          <p:nvPr/>
        </p:nvSpPr>
        <p:spPr>
          <a:xfrm>
            <a:off x="8997696" y="1417320"/>
            <a:ext cx="2651760" cy="1828800"/>
          </a:xfrm>
          <a:prstGeom prst="roundRect">
            <a:avLst>
              <a:gd name="adj" fmla="val 4500"/>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p:cNvSpPr txBox="1"/>
          <p:nvPr/>
        </p:nvSpPr>
        <p:spPr>
          <a:xfrm>
            <a:off x="9226296" y="1581912"/>
            <a:ext cx="2194560" cy="329184"/>
          </a:xfrm>
          <a:prstGeom prst="rect">
            <a:avLst/>
          </a:prstGeom>
          <a:noFill/>
        </p:spPr>
        <p:txBody>
          <a:bodyPr wrap="square" lIns="0" rIns="0" tIns="0" bIns="0" anchor="t">
            <a:spAutoFit/>
          </a:bodyPr>
          <a:lstStyle/>
          <a:p>
            <a:pPr algn="l"/>
            <a:r>
              <a:rPr sz="1400" b="1" i="0">
                <a:solidFill>
                  <a:srgbClr val="0B6463"/>
                </a:solidFill>
              </a:rPr>
              <a:t>No CQRS</a:t>
            </a:r>
          </a:p>
        </p:txBody>
      </p:sp>
      <p:sp>
        <p:nvSpPr>
          <p:cNvPr id="16" name="Text"/>
          <p:cNvSpPr txBox="1"/>
          <p:nvPr/>
        </p:nvSpPr>
        <p:spPr>
          <a:xfrm>
            <a:off x="9226296" y="1947672"/>
            <a:ext cx="2194560" cy="1188720"/>
          </a:xfrm>
          <a:prstGeom prst="rect">
            <a:avLst/>
          </a:prstGeom>
          <a:noFill/>
        </p:spPr>
        <p:txBody>
          <a:bodyPr wrap="square" lIns="0" rIns="0" tIns="0" bIns="0" anchor="t">
            <a:spAutoFit/>
          </a:bodyPr>
          <a:lstStyle/>
          <a:p>
            <a:pPr algn="l"/>
            <a:r>
              <a:rPr sz="1250" b="0" i="0">
                <a:solidFill>
                  <a:srgbClr val="1E262B"/>
                </a:solidFill>
              </a:rPr>
              <a:t>Queries read the same database. One business question per query.</a:t>
            </a:r>
          </a:p>
        </p:txBody>
      </p:sp>
      <p:sp>
        <p:nvSpPr>
          <p:cNvPr id="17" name="Text"/>
          <p:cNvSpPr txBox="1"/>
          <p:nvPr/>
        </p:nvSpPr>
        <p:spPr>
          <a:xfrm>
            <a:off x="548640" y="3520440"/>
            <a:ext cx="3063240" cy="201168"/>
          </a:xfrm>
          <a:prstGeom prst="rect">
            <a:avLst/>
          </a:prstGeom>
          <a:noFill/>
        </p:spPr>
        <p:txBody>
          <a:bodyPr wrap="square" lIns="0" rIns="0" tIns="0" bIns="0" anchor="t">
            <a:spAutoFit/>
          </a:bodyPr>
          <a:lstStyle/>
          <a:p>
            <a:pPr algn="l"/>
            <a:r>
              <a:rPr sz="950" b="1" i="0">
                <a:solidFill>
                  <a:srgbClr val="5E6A71"/>
                </a:solidFill>
              </a:rPr>
              <a:t>WHAT THERE IS</a:t>
            </a:r>
          </a:p>
        </p:txBody>
      </p:sp>
      <p:sp>
        <p:nvSpPr>
          <p:cNvPr id="18" name="Text"/>
          <p:cNvSpPr txBox="1"/>
          <p:nvPr/>
        </p:nvSpPr>
        <p:spPr>
          <a:xfrm>
            <a:off x="3749039" y="3520440"/>
            <a:ext cx="7754112" cy="201168"/>
          </a:xfrm>
          <a:prstGeom prst="rect">
            <a:avLst/>
          </a:prstGeom>
          <a:noFill/>
        </p:spPr>
        <p:txBody>
          <a:bodyPr wrap="square" lIns="0" rIns="0" tIns="0" bIns="0" anchor="t">
            <a:spAutoFit/>
          </a:bodyPr>
          <a:lstStyle/>
          <a:p>
            <a:pPr algn="l"/>
            <a:r>
              <a:rPr sz="950" b="1" i="0">
                <a:solidFill>
                  <a:srgbClr val="5E6A71"/>
                </a:solidFill>
              </a:rPr>
              <a:t/>
            </a:r>
          </a:p>
        </p:txBody>
      </p:sp>
      <p:cxnSp>
        <p:nvCxnSpPr>
          <p:cNvPr id="19" name="Connector 18"/>
          <p:cNvCxnSpPr/>
          <p:nvPr/>
        </p:nvCxnSpPr>
        <p:spPr>
          <a:xfrm>
            <a:off x="548640" y="379476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0" name="Text"/>
          <p:cNvSpPr txBox="1"/>
          <p:nvPr/>
        </p:nvSpPr>
        <p:spPr>
          <a:xfrm>
            <a:off x="548640" y="3849624"/>
            <a:ext cx="3063240" cy="338328"/>
          </a:xfrm>
          <a:prstGeom prst="rect">
            <a:avLst/>
          </a:prstGeom>
          <a:noFill/>
        </p:spPr>
        <p:txBody>
          <a:bodyPr wrap="square" lIns="0" rIns="0" tIns="0" bIns="0" anchor="ctr">
            <a:spAutoFit/>
          </a:bodyPr>
          <a:lstStyle/>
          <a:p>
            <a:pPr algn="l"/>
            <a:r>
              <a:rPr sz="1200" b="1" i="0">
                <a:solidFill>
                  <a:srgbClr val="1E262B"/>
                </a:solidFill>
              </a:rPr>
              <a:t>A modular monolith</a:t>
            </a:r>
          </a:p>
        </p:txBody>
      </p:sp>
      <p:sp>
        <p:nvSpPr>
          <p:cNvPr id="21" name="Text"/>
          <p:cNvSpPr txBox="1"/>
          <p:nvPr/>
        </p:nvSpPr>
        <p:spPr>
          <a:xfrm>
            <a:off x="3749039" y="3849624"/>
            <a:ext cx="7754112" cy="338328"/>
          </a:xfrm>
          <a:prstGeom prst="rect">
            <a:avLst/>
          </a:prstGeom>
          <a:noFill/>
        </p:spPr>
        <p:txBody>
          <a:bodyPr wrap="square" lIns="0" rIns="0" tIns="0" bIns="0" anchor="ctr">
            <a:spAutoFit/>
          </a:bodyPr>
          <a:lstStyle/>
          <a:p>
            <a:pPr algn="l"/>
            <a:r>
              <a:rPr sz="1200" b="0" i="0">
                <a:solidFill>
                  <a:srgbClr val="1E262B"/>
                </a:solidFill>
              </a:rPr>
              <a:t>business capabilities separated in code, one backend application, one PostgreSQL database</a:t>
            </a:r>
          </a:p>
        </p:txBody>
      </p:sp>
      <p:cxnSp>
        <p:nvCxnSpPr>
          <p:cNvPr id="22" name="Connector 21"/>
          <p:cNvCxnSpPr/>
          <p:nvPr/>
        </p:nvCxnSpPr>
        <p:spPr>
          <a:xfrm>
            <a:off x="548640" y="420624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3" name="Text"/>
          <p:cNvSpPr txBox="1"/>
          <p:nvPr/>
        </p:nvSpPr>
        <p:spPr>
          <a:xfrm>
            <a:off x="548640" y="4261104"/>
            <a:ext cx="3063240" cy="338328"/>
          </a:xfrm>
          <a:prstGeom prst="rect">
            <a:avLst/>
          </a:prstGeom>
          <a:noFill/>
        </p:spPr>
        <p:txBody>
          <a:bodyPr wrap="square" lIns="0" rIns="0" tIns="0" bIns="0" anchor="ctr">
            <a:spAutoFit/>
          </a:bodyPr>
          <a:lstStyle/>
          <a:p>
            <a:pPr algn="l"/>
            <a:r>
              <a:rPr sz="1200" b="1" i="0">
                <a:solidFill>
                  <a:srgbClr val="1E262B"/>
                </a:solidFill>
              </a:rPr>
              <a:t>One migration head</a:t>
            </a:r>
          </a:p>
        </p:txBody>
      </p:sp>
      <p:sp>
        <p:nvSpPr>
          <p:cNvPr id="24" name="Text"/>
          <p:cNvSpPr txBox="1"/>
          <p:nvPr/>
        </p:nvSpPr>
        <p:spPr>
          <a:xfrm>
            <a:off x="3749039" y="4261104"/>
            <a:ext cx="7754112" cy="338328"/>
          </a:xfrm>
          <a:prstGeom prst="rect">
            <a:avLst/>
          </a:prstGeom>
          <a:noFill/>
        </p:spPr>
        <p:txBody>
          <a:bodyPr wrap="square" lIns="0" rIns="0" tIns="0" bIns="0" anchor="ctr">
            <a:spAutoFit/>
          </a:bodyPr>
          <a:lstStyle/>
          <a:p>
            <a:pPr algn="l"/>
            <a:r>
              <a:rPr sz="1200" b="0" i="0">
                <a:solidFill>
                  <a:srgbClr val="1E262B"/>
                </a:solidFill>
              </a:rPr>
              <a:t>every schema change is a committed migration; the shared database is never modified by hand</a:t>
            </a:r>
          </a:p>
        </p:txBody>
      </p:sp>
      <p:cxnSp>
        <p:nvCxnSpPr>
          <p:cNvPr id="25" name="Connector 24"/>
          <p:cNvCxnSpPr/>
          <p:nvPr/>
        </p:nvCxnSpPr>
        <p:spPr>
          <a:xfrm>
            <a:off x="548640" y="461772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6" name="Text"/>
          <p:cNvSpPr txBox="1"/>
          <p:nvPr/>
        </p:nvSpPr>
        <p:spPr>
          <a:xfrm>
            <a:off x="548640" y="4672584"/>
            <a:ext cx="3063240" cy="338328"/>
          </a:xfrm>
          <a:prstGeom prst="rect">
            <a:avLst/>
          </a:prstGeom>
          <a:noFill/>
        </p:spPr>
        <p:txBody>
          <a:bodyPr wrap="square" lIns="0" rIns="0" tIns="0" bIns="0" anchor="ctr">
            <a:spAutoFit/>
          </a:bodyPr>
          <a:lstStyle/>
          <a:p>
            <a:pPr algn="l"/>
            <a:r>
              <a:rPr sz="1200" b="1" i="0">
                <a:solidFill>
                  <a:srgbClr val="1E262B"/>
                </a:solidFill>
              </a:rPr>
              <a:t>Capabilities own their contracts</a:t>
            </a:r>
          </a:p>
        </p:txBody>
      </p:sp>
      <p:sp>
        <p:nvSpPr>
          <p:cNvPr id="27" name="Text"/>
          <p:cNvSpPr txBox="1"/>
          <p:nvPr/>
        </p:nvSpPr>
        <p:spPr>
          <a:xfrm>
            <a:off x="3749039" y="4672584"/>
            <a:ext cx="7754112" cy="338328"/>
          </a:xfrm>
          <a:prstGeom prst="rect">
            <a:avLst/>
          </a:prstGeom>
          <a:noFill/>
        </p:spPr>
        <p:txBody>
          <a:bodyPr wrap="square" lIns="0" rIns="0" tIns="0" bIns="0" anchor="ctr">
            <a:spAutoFit/>
          </a:bodyPr>
          <a:lstStyle/>
          <a:p>
            <a:pPr algn="l"/>
            <a:r>
              <a:rPr sz="1200" b="0" i="0">
                <a:solidFill>
                  <a:srgbClr val="1E262B"/>
                </a:solidFill>
              </a:rPr>
              <a:t>models, actions, queries, events and reactions live with the capability, not in a global folder</a:t>
            </a:r>
          </a:p>
        </p:txBody>
      </p:sp>
      <p:cxnSp>
        <p:nvCxnSpPr>
          <p:cNvPr id="28" name="Connector 27"/>
          <p:cNvCxnSpPr/>
          <p:nvPr/>
        </p:nvCxnSpPr>
        <p:spPr>
          <a:xfrm>
            <a:off x="548640" y="502920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9" name="Text"/>
          <p:cNvSpPr txBox="1"/>
          <p:nvPr/>
        </p:nvSpPr>
        <p:spPr>
          <a:xfrm>
            <a:off x="548640" y="5084064"/>
            <a:ext cx="3063240" cy="338328"/>
          </a:xfrm>
          <a:prstGeom prst="rect">
            <a:avLst/>
          </a:prstGeom>
          <a:noFill/>
        </p:spPr>
        <p:txBody>
          <a:bodyPr wrap="square" lIns="0" rIns="0" tIns="0" bIns="0" anchor="ctr">
            <a:spAutoFit/>
          </a:bodyPr>
          <a:lstStyle/>
          <a:p>
            <a:pPr algn="l"/>
            <a:r>
              <a:rPr sz="1200" b="1" i="0">
                <a:solidFill>
                  <a:srgbClr val="1E262B"/>
                </a:solidFill>
              </a:rPr>
              <a:t>One reference company</a:t>
            </a:r>
          </a:p>
        </p:txBody>
      </p:sp>
      <p:sp>
        <p:nvSpPr>
          <p:cNvPr id="30" name="Text"/>
          <p:cNvSpPr txBox="1"/>
          <p:nvPr/>
        </p:nvSpPr>
        <p:spPr>
          <a:xfrm>
            <a:off x="3749039" y="5084064"/>
            <a:ext cx="7754112" cy="338328"/>
          </a:xfrm>
          <a:prstGeom prst="rect">
            <a:avLst/>
          </a:prstGeom>
          <a:noFill/>
        </p:spPr>
        <p:txBody>
          <a:bodyPr wrap="square" lIns="0" rIns="0" tIns="0" bIns="0" anchor="ctr">
            <a:spAutoFit/>
          </a:bodyPr>
          <a:lstStyle/>
          <a:p>
            <a:pPr algn="l"/>
            <a:r>
              <a:rPr sz="1200" b="0" i="0">
                <a:solidFill>
                  <a:srgbClr val="1E262B"/>
                </a:solidFill>
              </a:rPr>
              <a:t>every role app works on the same seed data; no disconnected business worlds</a:t>
            </a:r>
          </a:p>
        </p:txBody>
      </p:sp>
      <p:cxnSp>
        <p:nvCxnSpPr>
          <p:cNvPr id="31" name="Connector 30"/>
          <p:cNvCxnSpPr/>
          <p:nvPr/>
        </p:nvCxnSpPr>
        <p:spPr>
          <a:xfrm>
            <a:off x="548640" y="544068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2" name="Finding"/>
          <p:cNvSpPr/>
          <p:nvPr/>
        </p:nvSpPr>
        <p:spPr>
          <a:xfrm>
            <a:off x="548640" y="5577840"/>
            <a:ext cx="11091672" cy="50292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p:cNvSpPr txBox="1"/>
          <p:nvPr/>
        </p:nvSpPr>
        <p:spPr>
          <a:xfrm>
            <a:off x="822960" y="5577840"/>
            <a:ext cx="10543032" cy="502920"/>
          </a:xfrm>
          <a:prstGeom prst="rect">
            <a:avLst/>
          </a:prstGeom>
          <a:noFill/>
        </p:spPr>
        <p:txBody>
          <a:bodyPr wrap="square" lIns="0" rIns="0" tIns="0" bIns="0" anchor="ctr">
            <a:spAutoFit/>
          </a:bodyPr>
          <a:lstStyle/>
          <a:p>
            <a:pPr algn="l"/>
            <a:r>
              <a:rPr sz="1350" b="1" i="0">
                <a:solidFill>
                  <a:srgbClr val="1E262B"/>
                </a:solidFill>
              </a:rPr>
              <a:t>Same thinking, thinner machinery.  </a:t>
            </a:r>
            <a:r>
              <a:rPr sz="1350" b="0" i="0">
                <a:solidFill>
                  <a:srgbClr val="1E262B"/>
                </a:solidFill>
              </a:rPr>
              <a:t>Foundry also rejects a central process engine and defaults to a register with a trail. The POC leaves out more, on purpose.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translation: the facts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TRANSLATION  ·  FOUNDRY → POC → ROLE APP</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24</a:t>
            </a:r>
          </a:p>
        </p:txBody>
      </p:sp>
      <p:sp>
        <p:nvSpPr>
          <p:cNvPr id="5" name="Text"/>
          <p:cNvSpPr txBox="1"/>
          <p:nvPr/>
        </p:nvSpPr>
        <p:spPr>
          <a:xfrm>
            <a:off x="548640" y="1371600"/>
            <a:ext cx="1508760" cy="201168"/>
          </a:xfrm>
          <a:prstGeom prst="rect">
            <a:avLst/>
          </a:prstGeom>
          <a:noFill/>
        </p:spPr>
        <p:txBody>
          <a:bodyPr wrap="square" lIns="0" rIns="0" tIns="0" bIns="0" anchor="t">
            <a:spAutoFit/>
          </a:bodyPr>
          <a:lstStyle/>
          <a:p>
            <a:pPr algn="l"/>
            <a:r>
              <a:rPr sz="950" b="1" i="0">
                <a:solidFill>
                  <a:srgbClr val="5E6A71"/>
                </a:solidFill>
              </a:rPr>
              <a:t>WORD</a:t>
            </a:r>
          </a:p>
        </p:txBody>
      </p:sp>
      <p:sp>
        <p:nvSpPr>
          <p:cNvPr id="6" name="Text"/>
          <p:cNvSpPr txBox="1"/>
          <p:nvPr/>
        </p:nvSpPr>
        <p:spPr>
          <a:xfrm>
            <a:off x="2194560" y="1371600"/>
            <a:ext cx="3063240" cy="201168"/>
          </a:xfrm>
          <a:prstGeom prst="rect">
            <a:avLst/>
          </a:prstGeom>
          <a:noFill/>
        </p:spPr>
        <p:txBody>
          <a:bodyPr wrap="square" lIns="0" rIns="0" tIns="0" bIns="0" anchor="t">
            <a:spAutoFit/>
          </a:bodyPr>
          <a:lstStyle/>
          <a:p>
            <a:pPr algn="l"/>
            <a:r>
              <a:rPr sz="950" b="1" i="0">
                <a:solidFill>
                  <a:srgbClr val="5E6A71"/>
                </a:solidFill>
              </a:rPr>
              <a:t>FOUNDRY MEANS</a:t>
            </a:r>
          </a:p>
        </p:txBody>
      </p:sp>
      <p:sp>
        <p:nvSpPr>
          <p:cNvPr id="7" name="Text"/>
          <p:cNvSpPr txBox="1"/>
          <p:nvPr/>
        </p:nvSpPr>
        <p:spPr>
          <a:xfrm>
            <a:off x="5394960" y="1371600"/>
            <a:ext cx="3063240" cy="201168"/>
          </a:xfrm>
          <a:prstGeom prst="rect">
            <a:avLst/>
          </a:prstGeom>
          <a:noFill/>
        </p:spPr>
        <p:txBody>
          <a:bodyPr wrap="square" lIns="0" rIns="0" tIns="0" bIns="0" anchor="t">
            <a:spAutoFit/>
          </a:bodyPr>
          <a:lstStyle/>
          <a:p>
            <a:pPr algn="l"/>
            <a:r>
              <a:rPr sz="950" b="1" i="0">
                <a:solidFill>
                  <a:srgbClr val="5E6A71"/>
                </a:solidFill>
              </a:rPr>
              <a:t>IN THE POC BACKEND</a:t>
            </a:r>
          </a:p>
        </p:txBody>
      </p:sp>
      <p:sp>
        <p:nvSpPr>
          <p:cNvPr id="8" name="Text"/>
          <p:cNvSpPr txBox="1"/>
          <p:nvPr/>
        </p:nvSpPr>
        <p:spPr>
          <a:xfrm>
            <a:off x="8595360" y="1371600"/>
            <a:ext cx="2907792" cy="201168"/>
          </a:xfrm>
          <a:prstGeom prst="rect">
            <a:avLst/>
          </a:prstGeom>
          <a:noFill/>
        </p:spPr>
        <p:txBody>
          <a:bodyPr wrap="square" lIns="0" rIns="0" tIns="0" bIns="0" anchor="t">
            <a:spAutoFit/>
          </a:bodyPr>
          <a:lstStyle/>
          <a:p>
            <a:pPr algn="l"/>
            <a:r>
              <a:rPr sz="950" b="1" i="0">
                <a:solidFill>
                  <a:srgbClr val="5E6A71"/>
                </a:solidFill>
              </a:rPr>
              <a:t>IN THE ROLE APP</a:t>
            </a:r>
          </a:p>
        </p:txBody>
      </p:sp>
      <p:cxnSp>
        <p:nvCxnSpPr>
          <p:cNvPr id="9" name="Connector 8"/>
          <p:cNvCxnSpPr/>
          <p:nvPr/>
        </p:nvCxnSpPr>
        <p:spPr>
          <a:xfrm>
            <a:off x="548640" y="164592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0" name="Text"/>
          <p:cNvSpPr txBox="1"/>
          <p:nvPr/>
        </p:nvSpPr>
        <p:spPr>
          <a:xfrm>
            <a:off x="548640" y="1700784"/>
            <a:ext cx="1508760" cy="713232"/>
          </a:xfrm>
          <a:prstGeom prst="rect">
            <a:avLst/>
          </a:prstGeom>
          <a:noFill/>
        </p:spPr>
        <p:txBody>
          <a:bodyPr wrap="square" lIns="0" rIns="0" tIns="0" bIns="0" anchor="ctr">
            <a:spAutoFit/>
          </a:bodyPr>
          <a:lstStyle/>
          <a:p>
            <a:pPr algn="l"/>
            <a:r>
              <a:rPr sz="1150" b="1" i="0">
                <a:solidFill>
                  <a:srgbClr val="1E262B"/>
                </a:solidFill>
              </a:rPr>
              <a:t>Context</a:t>
            </a:r>
          </a:p>
        </p:txBody>
      </p:sp>
      <p:sp>
        <p:nvSpPr>
          <p:cNvPr id="11" name="Text"/>
          <p:cNvSpPr txBox="1"/>
          <p:nvPr/>
        </p:nvSpPr>
        <p:spPr>
          <a:xfrm>
            <a:off x="2194560" y="1700784"/>
            <a:ext cx="3063240" cy="713232"/>
          </a:xfrm>
          <a:prstGeom prst="rect">
            <a:avLst/>
          </a:prstGeom>
          <a:noFill/>
        </p:spPr>
        <p:txBody>
          <a:bodyPr wrap="square" lIns="0" rIns="0" tIns="0" bIns="0" anchor="ctr">
            <a:spAutoFit/>
          </a:bodyPr>
          <a:lstStyle/>
          <a:p>
            <a:pPr algn="l"/>
            <a:r>
              <a:rPr sz="1150" b="0" i="0">
                <a:solidFill>
                  <a:srgbClr val="1E262B"/>
                </a:solidFill>
              </a:rPr>
              <a:t>the owner of one slice of facts; every fact has exactly one</a:t>
            </a:r>
          </a:p>
        </p:txBody>
      </p:sp>
      <p:sp>
        <p:nvSpPr>
          <p:cNvPr id="12" name="Text"/>
          <p:cNvSpPr txBox="1"/>
          <p:nvPr/>
        </p:nvSpPr>
        <p:spPr>
          <a:xfrm>
            <a:off x="5394960" y="1700784"/>
            <a:ext cx="3063240" cy="713232"/>
          </a:xfrm>
          <a:prstGeom prst="rect">
            <a:avLst/>
          </a:prstGeom>
          <a:noFill/>
        </p:spPr>
        <p:txBody>
          <a:bodyPr wrap="square" lIns="0" rIns="0" tIns="0" bIns="0" anchor="ctr">
            <a:spAutoFit/>
          </a:bodyPr>
          <a:lstStyle/>
          <a:p>
            <a:pPr algn="l"/>
            <a:r>
              <a:rPr sz="1150" b="0" i="0">
                <a:solidFill>
                  <a:srgbClr val="1E262B"/>
                </a:solidFill>
              </a:rPr>
              <a:t>a capability package</a:t>
            </a:r>
          </a:p>
        </p:txBody>
      </p:sp>
      <p:sp>
        <p:nvSpPr>
          <p:cNvPr id="13" name="Text"/>
          <p:cNvSpPr txBox="1"/>
          <p:nvPr/>
        </p:nvSpPr>
        <p:spPr>
          <a:xfrm>
            <a:off x="8595360" y="1700784"/>
            <a:ext cx="2907792" cy="713232"/>
          </a:xfrm>
          <a:prstGeom prst="rect">
            <a:avLst/>
          </a:prstGeom>
          <a:noFill/>
        </p:spPr>
        <p:txBody>
          <a:bodyPr wrap="square" lIns="0" rIns="0" tIns="0" bIns="0" anchor="ctr">
            <a:spAutoFit/>
          </a:bodyPr>
          <a:lstStyle/>
          <a:p>
            <a:pPr algn="l"/>
            <a:r>
              <a:rPr sz="1150" b="0" i="0">
                <a:solidFill>
                  <a:srgbClr val="1E262B"/>
                </a:solidFill>
              </a:rPr>
              <a:t>the subject's owning seat; whose move it is</a:t>
            </a:r>
          </a:p>
        </p:txBody>
      </p:sp>
      <p:cxnSp>
        <p:nvCxnSpPr>
          <p:cNvPr id="14" name="Connector 13"/>
          <p:cNvCxnSpPr/>
          <p:nvPr/>
        </p:nvCxnSpPr>
        <p:spPr>
          <a:xfrm>
            <a:off x="548640" y="2432304"/>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2487168"/>
            <a:ext cx="1508760" cy="713232"/>
          </a:xfrm>
          <a:prstGeom prst="rect">
            <a:avLst/>
          </a:prstGeom>
          <a:noFill/>
        </p:spPr>
        <p:txBody>
          <a:bodyPr wrap="square" lIns="0" rIns="0" tIns="0" bIns="0" anchor="ctr">
            <a:spAutoFit/>
          </a:bodyPr>
          <a:lstStyle/>
          <a:p>
            <a:pPr algn="l"/>
            <a:r>
              <a:rPr sz="1150" b="1" i="0">
                <a:solidFill>
                  <a:srgbClr val="1E262B"/>
                </a:solidFill>
              </a:rPr>
              <a:t>Entity</a:t>
            </a:r>
          </a:p>
        </p:txBody>
      </p:sp>
      <p:sp>
        <p:nvSpPr>
          <p:cNvPr id="16" name="Text"/>
          <p:cNvSpPr txBox="1"/>
          <p:nvPr/>
        </p:nvSpPr>
        <p:spPr>
          <a:xfrm>
            <a:off x="2194560" y="2487168"/>
            <a:ext cx="3063240" cy="713232"/>
          </a:xfrm>
          <a:prstGeom prst="rect">
            <a:avLst/>
          </a:prstGeom>
          <a:noFill/>
        </p:spPr>
        <p:txBody>
          <a:bodyPr wrap="square" lIns="0" rIns="0" tIns="0" bIns="0" anchor="ctr">
            <a:spAutoFit/>
          </a:bodyPr>
          <a:lstStyle/>
          <a:p>
            <a:pPr algn="l"/>
            <a:r>
              <a:rPr sz="1150" b="0" i="0">
                <a:solidFill>
                  <a:srgbClr val="1E262B"/>
                </a:solidFill>
              </a:rPr>
              <a:t>a thing with identity, a lifecycle of named states, a history</a:t>
            </a:r>
          </a:p>
        </p:txBody>
      </p:sp>
      <p:sp>
        <p:nvSpPr>
          <p:cNvPr id="17" name="Text"/>
          <p:cNvSpPr txBox="1"/>
          <p:nvPr/>
        </p:nvSpPr>
        <p:spPr>
          <a:xfrm>
            <a:off x="5394960" y="2487168"/>
            <a:ext cx="3063240" cy="713232"/>
          </a:xfrm>
          <a:prstGeom prst="rect">
            <a:avLst/>
          </a:prstGeom>
          <a:noFill/>
        </p:spPr>
        <p:txBody>
          <a:bodyPr wrap="square" lIns="0" rIns="0" tIns="0" bIns="0" anchor="ctr">
            <a:spAutoFit/>
          </a:bodyPr>
          <a:lstStyle/>
          <a:p>
            <a:pPr algn="l"/>
            <a:r>
              <a:rPr sz="1150" b="0" i="0">
                <a:solidFill>
                  <a:srgbClr val="1E262B"/>
                </a:solidFill>
              </a:rPr>
              <a:t>a model with a state column and its trail</a:t>
            </a:r>
          </a:p>
        </p:txBody>
      </p:sp>
      <p:sp>
        <p:nvSpPr>
          <p:cNvPr id="18" name="Text"/>
          <p:cNvSpPr txBox="1"/>
          <p:nvPr/>
        </p:nvSpPr>
        <p:spPr>
          <a:xfrm>
            <a:off x="8595360" y="2487168"/>
            <a:ext cx="2907792" cy="713232"/>
          </a:xfrm>
          <a:prstGeom prst="rect">
            <a:avLst/>
          </a:prstGeom>
          <a:noFill/>
        </p:spPr>
        <p:txBody>
          <a:bodyPr wrap="square" lIns="0" rIns="0" tIns="0" bIns="0" anchor="ctr">
            <a:spAutoFit/>
          </a:bodyPr>
          <a:lstStyle/>
          <a:p>
            <a:pPr algn="l"/>
            <a:r>
              <a:rPr sz="1150" b="0" i="0">
                <a:solidFill>
                  <a:srgbClr val="1E262B"/>
                </a:solidFill>
              </a:rPr>
              <a:t>the subject of a task; its one place</a:t>
            </a:r>
          </a:p>
        </p:txBody>
      </p:sp>
      <p:cxnSp>
        <p:nvCxnSpPr>
          <p:cNvPr id="19" name="Connector 18"/>
          <p:cNvCxnSpPr/>
          <p:nvPr/>
        </p:nvCxnSpPr>
        <p:spPr>
          <a:xfrm>
            <a:off x="548640" y="3218688"/>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0" name="Text"/>
          <p:cNvSpPr txBox="1"/>
          <p:nvPr/>
        </p:nvSpPr>
        <p:spPr>
          <a:xfrm>
            <a:off x="548640" y="3273552"/>
            <a:ext cx="1508760" cy="713232"/>
          </a:xfrm>
          <a:prstGeom prst="rect">
            <a:avLst/>
          </a:prstGeom>
          <a:noFill/>
        </p:spPr>
        <p:txBody>
          <a:bodyPr wrap="square" lIns="0" rIns="0" tIns="0" bIns="0" anchor="ctr">
            <a:spAutoFit/>
          </a:bodyPr>
          <a:lstStyle/>
          <a:p>
            <a:pPr algn="l"/>
            <a:r>
              <a:rPr sz="1150" b="1" i="0">
                <a:solidFill>
                  <a:srgbClr val="1E262B"/>
                </a:solidFill>
              </a:rPr>
              <a:t>Action</a:t>
            </a:r>
          </a:p>
        </p:txBody>
      </p:sp>
      <p:sp>
        <p:nvSpPr>
          <p:cNvPr id="21" name="Text"/>
          <p:cNvSpPr txBox="1"/>
          <p:nvPr/>
        </p:nvSpPr>
        <p:spPr>
          <a:xfrm>
            <a:off x="2194560" y="3273552"/>
            <a:ext cx="3063240" cy="713232"/>
          </a:xfrm>
          <a:prstGeom prst="rect">
            <a:avLst/>
          </a:prstGeom>
          <a:noFill/>
        </p:spPr>
        <p:txBody>
          <a:bodyPr wrap="square" lIns="0" rIns="0" tIns="0" bIns="0" anchor="ctr">
            <a:spAutoFit/>
          </a:bodyPr>
          <a:lstStyle/>
          <a:p>
            <a:pPr algn="l"/>
            <a:r>
              <a:rPr sz="1150" b="0" i="0">
                <a:solidFill>
                  <a:srgbClr val="1E262B"/>
                </a:solidFill>
              </a:rPr>
              <a:t>the only way a fact changes: one owner, declared gates, same gates for every caller, safe to repeat</a:t>
            </a:r>
          </a:p>
        </p:txBody>
      </p:sp>
      <p:sp>
        <p:nvSpPr>
          <p:cNvPr id="22" name="Text"/>
          <p:cNvSpPr txBox="1"/>
          <p:nvPr/>
        </p:nvSpPr>
        <p:spPr>
          <a:xfrm>
            <a:off x="5394960" y="3273552"/>
            <a:ext cx="3063240" cy="713232"/>
          </a:xfrm>
          <a:prstGeom prst="rect">
            <a:avLst/>
          </a:prstGeom>
          <a:noFill/>
        </p:spPr>
        <p:txBody>
          <a:bodyPr wrap="square" lIns="0" rIns="0" tIns="0" bIns="0" anchor="ctr">
            <a:spAutoFit/>
          </a:bodyPr>
          <a:lstStyle/>
          <a:p>
            <a:pPr algn="l"/>
            <a:r>
              <a:rPr sz="1150" b="0" i="0">
                <a:solidFill>
                  <a:srgbClr val="1E262B"/>
                </a:solidFill>
              </a:rPr>
              <a:t>an endpoint in the owning capability; one transaction</a:t>
            </a:r>
          </a:p>
        </p:txBody>
      </p:sp>
      <p:sp>
        <p:nvSpPr>
          <p:cNvPr id="23" name="Text"/>
          <p:cNvSpPr txBox="1"/>
          <p:nvPr/>
        </p:nvSpPr>
        <p:spPr>
          <a:xfrm>
            <a:off x="8595360" y="3273552"/>
            <a:ext cx="2907792" cy="713232"/>
          </a:xfrm>
          <a:prstGeom prst="rect">
            <a:avLst/>
          </a:prstGeom>
          <a:noFill/>
        </p:spPr>
        <p:txBody>
          <a:bodyPr wrap="square" lIns="0" rIns="0" tIns="0" bIns="0" anchor="ctr">
            <a:spAutoFit/>
          </a:bodyPr>
          <a:lstStyle/>
          <a:p>
            <a:pPr algn="l"/>
            <a:r>
              <a:rPr sz="1150" b="0" i="0">
                <a:solidFill>
                  <a:srgbClr val="1E262B"/>
                </a:solidFill>
              </a:rPr>
              <a:t>the ending of a task; 'allows' fills the buttons</a:t>
            </a:r>
          </a:p>
        </p:txBody>
      </p:sp>
      <p:cxnSp>
        <p:nvCxnSpPr>
          <p:cNvPr id="24" name="Connector 23"/>
          <p:cNvCxnSpPr/>
          <p:nvPr/>
        </p:nvCxnSpPr>
        <p:spPr>
          <a:xfrm>
            <a:off x="548640" y="4005072"/>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5" name="Text"/>
          <p:cNvSpPr txBox="1"/>
          <p:nvPr/>
        </p:nvSpPr>
        <p:spPr>
          <a:xfrm>
            <a:off x="548640" y="4059935"/>
            <a:ext cx="1508760" cy="713232"/>
          </a:xfrm>
          <a:prstGeom prst="rect">
            <a:avLst/>
          </a:prstGeom>
          <a:noFill/>
        </p:spPr>
        <p:txBody>
          <a:bodyPr wrap="square" lIns="0" rIns="0" tIns="0" bIns="0" anchor="ctr">
            <a:spAutoFit/>
          </a:bodyPr>
          <a:lstStyle/>
          <a:p>
            <a:pPr algn="l"/>
            <a:r>
              <a:rPr sz="1150" b="1" i="0">
                <a:solidFill>
                  <a:srgbClr val="1E262B"/>
                </a:solidFill>
              </a:rPr>
              <a:t>Event</a:t>
            </a:r>
          </a:p>
        </p:txBody>
      </p:sp>
      <p:sp>
        <p:nvSpPr>
          <p:cNvPr id="26" name="Text"/>
          <p:cNvSpPr txBox="1"/>
          <p:nvPr/>
        </p:nvSpPr>
        <p:spPr>
          <a:xfrm>
            <a:off x="2194560" y="4059935"/>
            <a:ext cx="3063240" cy="713232"/>
          </a:xfrm>
          <a:prstGeom prst="rect">
            <a:avLst/>
          </a:prstGeom>
          <a:noFill/>
        </p:spPr>
        <p:txBody>
          <a:bodyPr wrap="square" lIns="0" rIns="0" tIns="0" bIns="0" anchor="ctr">
            <a:spAutoFit/>
          </a:bodyPr>
          <a:lstStyle/>
          <a:p>
            <a:pPr algn="l"/>
            <a:r>
              <a:rPr sz="1150" b="0" i="0">
                <a:solidFill>
                  <a:srgbClr val="1E262B"/>
                </a:solidFill>
              </a:rPr>
              <a:t>an immutable past-tense fact; the publisher does not know the consumers</a:t>
            </a:r>
          </a:p>
        </p:txBody>
      </p:sp>
      <p:sp>
        <p:nvSpPr>
          <p:cNvPr id="27" name="Text"/>
          <p:cNvSpPr txBox="1"/>
          <p:nvPr/>
        </p:nvSpPr>
        <p:spPr>
          <a:xfrm>
            <a:off x="5394960" y="4059935"/>
            <a:ext cx="3063240" cy="713232"/>
          </a:xfrm>
          <a:prstGeom prst="rect">
            <a:avLst/>
          </a:prstGeom>
          <a:noFill/>
        </p:spPr>
        <p:txBody>
          <a:bodyPr wrap="square" lIns="0" rIns="0" tIns="0" bIns="0" anchor="ctr">
            <a:spAutoFit/>
          </a:bodyPr>
          <a:lstStyle/>
          <a:p>
            <a:pPr algn="l"/>
            <a:r>
              <a:rPr sz="1150" b="0" i="0">
                <a:solidFill>
                  <a:srgbClr val="1E262B"/>
                </a:solidFill>
              </a:rPr>
              <a:t>a row in the outbox, written in the action's transaction</a:t>
            </a:r>
          </a:p>
        </p:txBody>
      </p:sp>
      <p:sp>
        <p:nvSpPr>
          <p:cNvPr id="28" name="Text"/>
          <p:cNvSpPr txBox="1"/>
          <p:nvPr/>
        </p:nvSpPr>
        <p:spPr>
          <a:xfrm>
            <a:off x="8595360" y="4059935"/>
            <a:ext cx="2907792" cy="713232"/>
          </a:xfrm>
          <a:prstGeom prst="rect">
            <a:avLst/>
          </a:prstGeom>
          <a:noFill/>
        </p:spPr>
        <p:txBody>
          <a:bodyPr wrap="square" lIns="0" rIns="0" tIns="0" bIns="0" anchor="ctr">
            <a:spAutoFit/>
          </a:bodyPr>
          <a:lstStyle/>
          <a:p>
            <a:pPr algn="l"/>
            <a:r>
              <a:rPr sz="1150" b="0" i="0">
                <a:solidFill>
                  <a:srgbClr val="1E262B"/>
                </a:solidFill>
              </a:rPr>
              <a:t>what starts the receiving seat's task; an edge of the state map</a:t>
            </a:r>
          </a:p>
        </p:txBody>
      </p:sp>
      <p:cxnSp>
        <p:nvCxnSpPr>
          <p:cNvPr id="29" name="Connector 28"/>
          <p:cNvCxnSpPr/>
          <p:nvPr/>
        </p:nvCxnSpPr>
        <p:spPr>
          <a:xfrm>
            <a:off x="548640" y="4791456"/>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0" name="Text"/>
          <p:cNvSpPr txBox="1"/>
          <p:nvPr/>
        </p:nvSpPr>
        <p:spPr>
          <a:xfrm>
            <a:off x="548640" y="4846320"/>
            <a:ext cx="1508760" cy="713232"/>
          </a:xfrm>
          <a:prstGeom prst="rect">
            <a:avLst/>
          </a:prstGeom>
          <a:noFill/>
        </p:spPr>
        <p:txBody>
          <a:bodyPr wrap="square" lIns="0" rIns="0" tIns="0" bIns="0" anchor="ctr">
            <a:spAutoFit/>
          </a:bodyPr>
          <a:lstStyle/>
          <a:p>
            <a:pPr algn="l"/>
            <a:r>
              <a:rPr sz="1150" b="1" i="0">
                <a:solidFill>
                  <a:srgbClr val="1E262B"/>
                </a:solidFill>
              </a:rPr>
              <a:t>History</a:t>
            </a:r>
          </a:p>
        </p:txBody>
      </p:sp>
      <p:sp>
        <p:nvSpPr>
          <p:cNvPr id="31" name="Text"/>
          <p:cNvSpPr txBox="1"/>
          <p:nvPr/>
        </p:nvSpPr>
        <p:spPr>
          <a:xfrm>
            <a:off x="2194560" y="4846320"/>
            <a:ext cx="3063240" cy="713232"/>
          </a:xfrm>
          <a:prstGeom prst="rect">
            <a:avLst/>
          </a:prstGeom>
          <a:noFill/>
        </p:spPr>
        <p:txBody>
          <a:bodyPr wrap="square" lIns="0" rIns="0" tIns="0" bIns="0" anchor="ctr">
            <a:spAutoFit/>
          </a:bodyPr>
          <a:lstStyle/>
          <a:p>
            <a:pPr algn="l"/>
            <a:r>
              <a:rPr sz="1150" b="0" i="0">
                <a:solidFill>
                  <a:srgbClr val="1E262B"/>
                </a:solidFill>
              </a:rPr>
              <a:t>a register of current state plus an action-linked trail, committed with the receipt and the outbox row</a:t>
            </a:r>
          </a:p>
        </p:txBody>
      </p:sp>
      <p:sp>
        <p:nvSpPr>
          <p:cNvPr id="32" name="Text"/>
          <p:cNvSpPr txBox="1"/>
          <p:nvPr/>
        </p:nvSpPr>
        <p:spPr>
          <a:xfrm>
            <a:off x="5394960" y="4846320"/>
            <a:ext cx="3063240" cy="713232"/>
          </a:xfrm>
          <a:prstGeom prst="rect">
            <a:avLst/>
          </a:prstGeom>
          <a:noFill/>
        </p:spPr>
        <p:txBody>
          <a:bodyPr wrap="square" lIns="0" rIns="0" tIns="0" bIns="0" anchor="ctr">
            <a:spAutoFit/>
          </a:bodyPr>
          <a:lstStyle/>
          <a:p>
            <a:pPr algn="l"/>
            <a:r>
              <a:rPr sz="1150" b="0" i="0">
                <a:solidFill>
                  <a:srgbClr val="1E262B"/>
                </a:solidFill>
              </a:rPr>
              <a:t>the transaction</a:t>
            </a:r>
          </a:p>
        </p:txBody>
      </p:sp>
      <p:sp>
        <p:nvSpPr>
          <p:cNvPr id="33" name="Text"/>
          <p:cNvSpPr txBox="1"/>
          <p:nvPr/>
        </p:nvSpPr>
        <p:spPr>
          <a:xfrm>
            <a:off x="8595360" y="4846320"/>
            <a:ext cx="2907792" cy="713232"/>
          </a:xfrm>
          <a:prstGeom prst="rect">
            <a:avLst/>
          </a:prstGeom>
          <a:noFill/>
        </p:spPr>
        <p:txBody>
          <a:bodyPr wrap="square" lIns="0" rIns="0" tIns="0" bIns="0" anchor="ctr">
            <a:spAutoFit/>
          </a:bodyPr>
          <a:lstStyle/>
          <a:p>
            <a:pPr algn="l"/>
            <a:r>
              <a:rPr sz="1150" b="0" i="0">
                <a:solidFill>
                  <a:srgbClr val="1E262B"/>
                </a:solidFill>
              </a:rPr>
              <a:t>the subject's history on the page; check A2</a:t>
            </a:r>
          </a:p>
        </p:txBody>
      </p:sp>
      <p:cxnSp>
        <p:nvCxnSpPr>
          <p:cNvPr id="34" name="Connector 33"/>
          <p:cNvCxnSpPr/>
          <p:nvPr/>
        </p:nvCxnSpPr>
        <p:spPr>
          <a:xfrm>
            <a:off x="548640" y="557784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translation: the process and the reads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TRANSLATION  ·  FOUNDRY → POC → ROLE APP</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25</a:t>
            </a:r>
          </a:p>
        </p:txBody>
      </p:sp>
      <p:sp>
        <p:nvSpPr>
          <p:cNvPr id="5" name="Text"/>
          <p:cNvSpPr txBox="1"/>
          <p:nvPr/>
        </p:nvSpPr>
        <p:spPr>
          <a:xfrm>
            <a:off x="548640" y="1371600"/>
            <a:ext cx="1508760" cy="201168"/>
          </a:xfrm>
          <a:prstGeom prst="rect">
            <a:avLst/>
          </a:prstGeom>
          <a:noFill/>
        </p:spPr>
        <p:txBody>
          <a:bodyPr wrap="square" lIns="0" rIns="0" tIns="0" bIns="0" anchor="t">
            <a:spAutoFit/>
          </a:bodyPr>
          <a:lstStyle/>
          <a:p>
            <a:pPr algn="l"/>
            <a:r>
              <a:rPr sz="950" b="1" i="0">
                <a:solidFill>
                  <a:srgbClr val="5E6A71"/>
                </a:solidFill>
              </a:rPr>
              <a:t>WORD</a:t>
            </a:r>
          </a:p>
        </p:txBody>
      </p:sp>
      <p:sp>
        <p:nvSpPr>
          <p:cNvPr id="6" name="Text"/>
          <p:cNvSpPr txBox="1"/>
          <p:nvPr/>
        </p:nvSpPr>
        <p:spPr>
          <a:xfrm>
            <a:off x="2194560" y="1371600"/>
            <a:ext cx="3063240" cy="201168"/>
          </a:xfrm>
          <a:prstGeom prst="rect">
            <a:avLst/>
          </a:prstGeom>
          <a:noFill/>
        </p:spPr>
        <p:txBody>
          <a:bodyPr wrap="square" lIns="0" rIns="0" tIns="0" bIns="0" anchor="t">
            <a:spAutoFit/>
          </a:bodyPr>
          <a:lstStyle/>
          <a:p>
            <a:pPr algn="l"/>
            <a:r>
              <a:rPr sz="950" b="1" i="0">
                <a:solidFill>
                  <a:srgbClr val="5E6A71"/>
                </a:solidFill>
              </a:rPr>
              <a:t>FOUNDRY MEANS</a:t>
            </a:r>
          </a:p>
        </p:txBody>
      </p:sp>
      <p:sp>
        <p:nvSpPr>
          <p:cNvPr id="7" name="Text"/>
          <p:cNvSpPr txBox="1"/>
          <p:nvPr/>
        </p:nvSpPr>
        <p:spPr>
          <a:xfrm>
            <a:off x="5394960" y="1371600"/>
            <a:ext cx="3063240" cy="201168"/>
          </a:xfrm>
          <a:prstGeom prst="rect">
            <a:avLst/>
          </a:prstGeom>
          <a:noFill/>
        </p:spPr>
        <p:txBody>
          <a:bodyPr wrap="square" lIns="0" rIns="0" tIns="0" bIns="0" anchor="t">
            <a:spAutoFit/>
          </a:bodyPr>
          <a:lstStyle/>
          <a:p>
            <a:pPr algn="l"/>
            <a:r>
              <a:rPr sz="950" b="1" i="0">
                <a:solidFill>
                  <a:srgbClr val="5E6A71"/>
                </a:solidFill>
              </a:rPr>
              <a:t>IN THE POC BACKEND</a:t>
            </a:r>
          </a:p>
        </p:txBody>
      </p:sp>
      <p:sp>
        <p:nvSpPr>
          <p:cNvPr id="8" name="Text"/>
          <p:cNvSpPr txBox="1"/>
          <p:nvPr/>
        </p:nvSpPr>
        <p:spPr>
          <a:xfrm>
            <a:off x="8595360" y="1371600"/>
            <a:ext cx="2907792" cy="201168"/>
          </a:xfrm>
          <a:prstGeom prst="rect">
            <a:avLst/>
          </a:prstGeom>
          <a:noFill/>
        </p:spPr>
        <p:txBody>
          <a:bodyPr wrap="square" lIns="0" rIns="0" tIns="0" bIns="0" anchor="t">
            <a:spAutoFit/>
          </a:bodyPr>
          <a:lstStyle/>
          <a:p>
            <a:pPr algn="l"/>
            <a:r>
              <a:rPr sz="950" b="1" i="0">
                <a:solidFill>
                  <a:srgbClr val="5E6A71"/>
                </a:solidFill>
              </a:rPr>
              <a:t>IN THE ROLE APP</a:t>
            </a:r>
          </a:p>
        </p:txBody>
      </p:sp>
      <p:cxnSp>
        <p:nvCxnSpPr>
          <p:cNvPr id="9" name="Connector 8"/>
          <p:cNvCxnSpPr/>
          <p:nvPr/>
        </p:nvCxnSpPr>
        <p:spPr>
          <a:xfrm>
            <a:off x="548640" y="164592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0" name="Text"/>
          <p:cNvSpPr txBox="1"/>
          <p:nvPr/>
        </p:nvSpPr>
        <p:spPr>
          <a:xfrm>
            <a:off x="548640" y="1700784"/>
            <a:ext cx="1508760" cy="713232"/>
          </a:xfrm>
          <a:prstGeom prst="rect">
            <a:avLst/>
          </a:prstGeom>
          <a:noFill/>
        </p:spPr>
        <p:txBody>
          <a:bodyPr wrap="square" lIns="0" rIns="0" tIns="0" bIns="0" anchor="ctr">
            <a:spAutoFit/>
          </a:bodyPr>
          <a:lstStyle/>
          <a:p>
            <a:pPr algn="l"/>
            <a:r>
              <a:rPr sz="1150" b="1" i="0">
                <a:solidFill>
                  <a:srgbClr val="1E262B"/>
                </a:solidFill>
              </a:rPr>
              <a:t>Reaction</a:t>
            </a:r>
          </a:p>
        </p:txBody>
      </p:sp>
      <p:sp>
        <p:nvSpPr>
          <p:cNvPr id="11" name="Text"/>
          <p:cNvSpPr txBox="1"/>
          <p:nvPr/>
        </p:nvSpPr>
        <p:spPr>
          <a:xfrm>
            <a:off x="2194560" y="1700784"/>
            <a:ext cx="3063240" cy="713232"/>
          </a:xfrm>
          <a:prstGeom prst="rect">
            <a:avLst/>
          </a:prstGeom>
          <a:noFill/>
        </p:spPr>
        <p:txBody>
          <a:bodyPr wrap="square" lIns="0" rIns="0" tIns="0" bIns="0" anchor="ctr">
            <a:spAutoFit/>
          </a:bodyPr>
          <a:lstStyle/>
          <a:p>
            <a:pPr algn="l"/>
            <a:r>
              <a:rPr sz="1150" b="0" i="0">
                <a:solidFill>
                  <a:srgbClr val="1E262B"/>
                </a:solidFill>
              </a:rPr>
              <a:t>when an event occurs and a condition holds, call an action under a named automation principal; once per occurrence</a:t>
            </a:r>
          </a:p>
        </p:txBody>
      </p:sp>
      <p:sp>
        <p:nvSpPr>
          <p:cNvPr id="12" name="Text"/>
          <p:cNvSpPr txBox="1"/>
          <p:nvPr/>
        </p:nvSpPr>
        <p:spPr>
          <a:xfrm>
            <a:off x="5394960" y="1700784"/>
            <a:ext cx="3063240" cy="713232"/>
          </a:xfrm>
          <a:prstGeom prst="rect">
            <a:avLst/>
          </a:prstGeom>
          <a:noFill/>
        </p:spPr>
        <p:txBody>
          <a:bodyPr wrap="square" lIns="0" rIns="0" tIns="0" bIns="0" anchor="ctr">
            <a:spAutoFit/>
          </a:bodyPr>
          <a:lstStyle/>
          <a:p>
            <a:pPr algn="l"/>
            <a:r>
              <a:rPr sz="1150" b="0" i="0">
                <a:solidFill>
                  <a:srgbClr val="1E262B"/>
                </a:solidFill>
              </a:rPr>
              <a:t>a registered handler the dispatcher calls; safe to retry</a:t>
            </a:r>
          </a:p>
        </p:txBody>
      </p:sp>
      <p:sp>
        <p:nvSpPr>
          <p:cNvPr id="13" name="Text"/>
          <p:cNvSpPr txBox="1"/>
          <p:nvPr/>
        </p:nvSpPr>
        <p:spPr>
          <a:xfrm>
            <a:off x="8595360" y="1700784"/>
            <a:ext cx="2907792" cy="713232"/>
          </a:xfrm>
          <a:prstGeom prst="rect">
            <a:avLst/>
          </a:prstGeom>
          <a:noFill/>
        </p:spPr>
        <p:txBody>
          <a:bodyPr wrap="square" lIns="0" rIns="0" tIns="0" bIns="0" anchor="ctr">
            <a:spAutoFit/>
          </a:bodyPr>
          <a:lstStyle/>
          <a:p>
            <a:pPr algn="l"/>
            <a:r>
              <a:rPr sz="1150" b="0" i="0">
                <a:solidFill>
                  <a:srgbClr val="1E262B"/>
                </a:solidFill>
              </a:rPr>
              <a:t>work the system does; only exceptions reach a person</a:t>
            </a:r>
          </a:p>
        </p:txBody>
      </p:sp>
      <p:cxnSp>
        <p:nvCxnSpPr>
          <p:cNvPr id="14" name="Connector 13"/>
          <p:cNvCxnSpPr/>
          <p:nvPr/>
        </p:nvCxnSpPr>
        <p:spPr>
          <a:xfrm>
            <a:off x="548640" y="2432304"/>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2487168"/>
            <a:ext cx="1508760" cy="713232"/>
          </a:xfrm>
          <a:prstGeom prst="rect">
            <a:avLst/>
          </a:prstGeom>
          <a:noFill/>
        </p:spPr>
        <p:txBody>
          <a:bodyPr wrap="square" lIns="0" rIns="0" tIns="0" bIns="0" anchor="ctr">
            <a:spAutoFit/>
          </a:bodyPr>
          <a:lstStyle/>
          <a:p>
            <a:pPr algn="l"/>
            <a:r>
              <a:rPr sz="1150" b="1" i="0">
                <a:solidFill>
                  <a:srgbClr val="1E262B"/>
                </a:solidFill>
              </a:rPr>
              <a:t>Approval</a:t>
            </a:r>
          </a:p>
        </p:txBody>
      </p:sp>
      <p:sp>
        <p:nvSpPr>
          <p:cNvPr id="16" name="Text"/>
          <p:cNvSpPr txBox="1"/>
          <p:nvPr/>
        </p:nvSpPr>
        <p:spPr>
          <a:xfrm>
            <a:off x="2194560" y="2487168"/>
            <a:ext cx="3063240" cy="713232"/>
          </a:xfrm>
          <a:prstGeom prst="rect">
            <a:avLst/>
          </a:prstGeom>
          <a:noFill/>
        </p:spPr>
        <p:txBody>
          <a:bodyPr wrap="square" lIns="0" rIns="0" tIns="0" bIns="0" anchor="ctr">
            <a:spAutoFit/>
          </a:bodyPr>
          <a:lstStyle/>
          <a:p>
            <a:pPr algn="l"/>
            <a:r>
              <a:rPr sz="1150" b="0" i="0">
                <a:solidFill>
                  <a:srgbClr val="1E262B"/>
                </a:solidFill>
              </a:rPr>
              <a:t>a gate on an action, with an instance, a deciding position, a deadline and an escalation</a:t>
            </a:r>
          </a:p>
        </p:txBody>
      </p:sp>
      <p:sp>
        <p:nvSpPr>
          <p:cNvPr id="17" name="Text"/>
          <p:cNvSpPr txBox="1"/>
          <p:nvPr/>
        </p:nvSpPr>
        <p:spPr>
          <a:xfrm>
            <a:off x="5394960" y="2487168"/>
            <a:ext cx="3063240" cy="713232"/>
          </a:xfrm>
          <a:prstGeom prst="rect">
            <a:avLst/>
          </a:prstGeom>
          <a:noFill/>
        </p:spPr>
        <p:txBody>
          <a:bodyPr wrap="square" lIns="0" rIns="0" tIns="0" bIns="0" anchor="ctr">
            <a:spAutoFit/>
          </a:bodyPr>
          <a:lstStyle/>
          <a:p>
            <a:pPr algn="l"/>
            <a:r>
              <a:rPr sz="1150" b="0" i="0">
                <a:solidFill>
                  <a:srgbClr val="1E262B"/>
                </a:solidFill>
              </a:rPr>
              <a:t>an entity plus a gated action; one mechanism, owned by the Accounting boundary team</a:t>
            </a:r>
          </a:p>
        </p:txBody>
      </p:sp>
      <p:sp>
        <p:nvSpPr>
          <p:cNvPr id="18" name="Text"/>
          <p:cNvSpPr txBox="1"/>
          <p:nvPr/>
        </p:nvSpPr>
        <p:spPr>
          <a:xfrm>
            <a:off x="8595360" y="2487168"/>
            <a:ext cx="2907792" cy="713232"/>
          </a:xfrm>
          <a:prstGeom prst="rect">
            <a:avLst/>
          </a:prstGeom>
          <a:noFill/>
        </p:spPr>
        <p:txBody>
          <a:bodyPr wrap="square" lIns="0" rIns="0" tIns="0" bIns="0" anchor="ctr">
            <a:spAutoFit/>
          </a:bodyPr>
          <a:lstStyle/>
          <a:p>
            <a:pPr algn="l"/>
            <a:r>
              <a:rPr sz="1150" b="0" i="0">
                <a:solidFill>
                  <a:srgbClr val="1E262B"/>
                </a:solidFill>
              </a:rPr>
              <a:t>the checker's Decide task</a:t>
            </a:r>
          </a:p>
        </p:txBody>
      </p:sp>
      <p:cxnSp>
        <p:nvCxnSpPr>
          <p:cNvPr id="19" name="Connector 18"/>
          <p:cNvCxnSpPr/>
          <p:nvPr/>
        </p:nvCxnSpPr>
        <p:spPr>
          <a:xfrm>
            <a:off x="548640" y="3218688"/>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0" name="Text"/>
          <p:cNvSpPr txBox="1"/>
          <p:nvPr/>
        </p:nvSpPr>
        <p:spPr>
          <a:xfrm>
            <a:off x="548640" y="3273552"/>
            <a:ext cx="1508760" cy="713232"/>
          </a:xfrm>
          <a:prstGeom prst="rect">
            <a:avLst/>
          </a:prstGeom>
          <a:noFill/>
        </p:spPr>
        <p:txBody>
          <a:bodyPr wrap="square" lIns="0" rIns="0" tIns="0" bIns="0" anchor="ctr">
            <a:spAutoFit/>
          </a:bodyPr>
          <a:lstStyle/>
          <a:p>
            <a:pPr algn="l"/>
            <a:r>
              <a:rPr sz="1150" b="1" i="0">
                <a:solidFill>
                  <a:srgbClr val="1E262B"/>
                </a:solidFill>
              </a:rPr>
              <a:t>Timer</a:t>
            </a:r>
          </a:p>
        </p:txBody>
      </p:sp>
      <p:sp>
        <p:nvSpPr>
          <p:cNvPr id="21" name="Text"/>
          <p:cNvSpPr txBox="1"/>
          <p:nvPr/>
        </p:nvSpPr>
        <p:spPr>
          <a:xfrm>
            <a:off x="2194560" y="3273552"/>
            <a:ext cx="3063240" cy="713232"/>
          </a:xfrm>
          <a:prstGeom prst="rect">
            <a:avLst/>
          </a:prstGeom>
          <a:noFill/>
        </p:spPr>
        <p:txBody>
          <a:bodyPr wrap="square" lIns="0" rIns="0" tIns="0" bIns="0" anchor="ctr">
            <a:spAutoFit/>
          </a:bodyPr>
          <a:lstStyle/>
          <a:p>
            <a:pPr algn="l"/>
            <a:r>
              <a:rPr sz="1150" b="0" i="0">
                <a:solidFill>
                  <a:srgbClr val="1E262B"/>
                </a:solidFill>
              </a:rPr>
              <a:t>a declared occurrence the platform publishes as an event</a:t>
            </a:r>
          </a:p>
        </p:txBody>
      </p:sp>
      <p:sp>
        <p:nvSpPr>
          <p:cNvPr id="22" name="Text"/>
          <p:cNvSpPr txBox="1"/>
          <p:nvPr/>
        </p:nvSpPr>
        <p:spPr>
          <a:xfrm>
            <a:off x="5394960" y="3273552"/>
            <a:ext cx="3063240" cy="713232"/>
          </a:xfrm>
          <a:prstGeom prst="rect">
            <a:avLst/>
          </a:prstGeom>
          <a:noFill/>
        </p:spPr>
        <p:txBody>
          <a:bodyPr wrap="square" lIns="0" rIns="0" tIns="0" bIns="0" anchor="ctr">
            <a:spAutoFit/>
          </a:bodyPr>
          <a:lstStyle/>
          <a:p>
            <a:pPr algn="l"/>
            <a:r>
              <a:rPr sz="1150" b="0" i="0">
                <a:solidFill>
                  <a:srgbClr val="1E262B"/>
                </a:solidFill>
              </a:rPr>
              <a:t>the scheduler entrypoint</a:t>
            </a:r>
          </a:p>
        </p:txBody>
      </p:sp>
      <p:sp>
        <p:nvSpPr>
          <p:cNvPr id="23" name="Text"/>
          <p:cNvSpPr txBox="1"/>
          <p:nvPr/>
        </p:nvSpPr>
        <p:spPr>
          <a:xfrm>
            <a:off x="8595360" y="3273552"/>
            <a:ext cx="2907792" cy="713232"/>
          </a:xfrm>
          <a:prstGeom prst="rect">
            <a:avLst/>
          </a:prstGeom>
          <a:noFill/>
        </p:spPr>
        <p:txBody>
          <a:bodyPr wrap="square" lIns="0" rIns="0" tIns="0" bIns="0" anchor="ctr">
            <a:spAutoFit/>
          </a:bodyPr>
          <a:lstStyle/>
          <a:p>
            <a:pPr algn="l"/>
            <a:r>
              <a:rPr sz="1150" b="0" i="0">
                <a:solidFill>
                  <a:srgbClr val="1E262B"/>
                </a:solidFill>
              </a:rPr>
              <a:t>dates and waits as cues: check N2; limits are parameters with an owner</a:t>
            </a:r>
          </a:p>
        </p:txBody>
      </p:sp>
      <p:cxnSp>
        <p:nvCxnSpPr>
          <p:cNvPr id="24" name="Connector 23"/>
          <p:cNvCxnSpPr/>
          <p:nvPr/>
        </p:nvCxnSpPr>
        <p:spPr>
          <a:xfrm>
            <a:off x="548640" y="4005072"/>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5" name="Text"/>
          <p:cNvSpPr txBox="1"/>
          <p:nvPr/>
        </p:nvSpPr>
        <p:spPr>
          <a:xfrm>
            <a:off x="548640" y="4059935"/>
            <a:ext cx="1508760" cy="713232"/>
          </a:xfrm>
          <a:prstGeom prst="rect">
            <a:avLst/>
          </a:prstGeom>
          <a:noFill/>
        </p:spPr>
        <p:txBody>
          <a:bodyPr wrap="square" lIns="0" rIns="0" tIns="0" bIns="0" anchor="ctr">
            <a:spAutoFit/>
          </a:bodyPr>
          <a:lstStyle/>
          <a:p>
            <a:pPr algn="l"/>
            <a:r>
              <a:rPr sz="1150" b="1" i="0">
                <a:solidFill>
                  <a:srgbClr val="1E262B"/>
                </a:solidFill>
              </a:rPr>
              <a:t>Query</a:t>
            </a:r>
          </a:p>
        </p:txBody>
      </p:sp>
      <p:sp>
        <p:nvSpPr>
          <p:cNvPr id="26" name="Text"/>
          <p:cNvSpPr txBox="1"/>
          <p:nvPr/>
        </p:nvSpPr>
        <p:spPr>
          <a:xfrm>
            <a:off x="2194560" y="4059935"/>
            <a:ext cx="3063240" cy="713232"/>
          </a:xfrm>
          <a:prstGeom prst="rect">
            <a:avLst/>
          </a:prstGeom>
          <a:noFill/>
        </p:spPr>
        <p:txBody>
          <a:bodyPr wrap="square" lIns="0" rIns="0" tIns="0" bIns="0" anchor="ctr">
            <a:spAutoFit/>
          </a:bodyPr>
          <a:lstStyle/>
          <a:p>
            <a:pPr algn="l"/>
            <a:r>
              <a:rPr sz="1150" b="0" i="0">
                <a:solidFill>
                  <a:srgbClr val="1E262B"/>
                </a:solidFill>
              </a:rPr>
              <a:t>a side-effect-free read with declared authorization and freshness; one business question</a:t>
            </a:r>
          </a:p>
        </p:txBody>
      </p:sp>
      <p:sp>
        <p:nvSpPr>
          <p:cNvPr id="27" name="Text"/>
          <p:cNvSpPr txBox="1"/>
          <p:nvPr/>
        </p:nvSpPr>
        <p:spPr>
          <a:xfrm>
            <a:off x="5394960" y="4059935"/>
            <a:ext cx="3063240" cy="713232"/>
          </a:xfrm>
          <a:prstGeom prst="rect">
            <a:avLst/>
          </a:prstGeom>
          <a:noFill/>
        </p:spPr>
        <p:txBody>
          <a:bodyPr wrap="square" lIns="0" rIns="0" tIns="0" bIns="0" anchor="ctr">
            <a:spAutoFit/>
          </a:bodyPr>
          <a:lstStyle/>
          <a:p>
            <a:pPr algn="l"/>
            <a:r>
              <a:rPr sz="1150" b="0" i="0">
                <a:solidFill>
                  <a:srgbClr val="1E262B"/>
                </a:solidFill>
              </a:rPr>
              <a:t>a read endpoint in a capability; never another's tables</a:t>
            </a:r>
          </a:p>
        </p:txBody>
      </p:sp>
      <p:sp>
        <p:nvSpPr>
          <p:cNvPr id="28" name="Text"/>
          <p:cNvSpPr txBox="1"/>
          <p:nvPr/>
        </p:nvSpPr>
        <p:spPr>
          <a:xfrm>
            <a:off x="8595360" y="4059935"/>
            <a:ext cx="2907792" cy="713232"/>
          </a:xfrm>
          <a:prstGeom prst="rect">
            <a:avLst/>
          </a:prstGeom>
          <a:noFill/>
        </p:spPr>
        <p:txBody>
          <a:bodyPr wrap="square" lIns="0" rIns="0" tIns="0" bIns="0" anchor="ctr">
            <a:spAutoFit/>
          </a:bodyPr>
          <a:lstStyle/>
          <a:p>
            <a:pPr algn="l"/>
            <a:r>
              <a:rPr sz="1150" b="0" i="0">
                <a:solidFill>
                  <a:srgbClr val="1E262B"/>
                </a:solidFill>
              </a:rPr>
              <a:t>a task home, a report, a cue, a drill</a:t>
            </a:r>
          </a:p>
        </p:txBody>
      </p:sp>
      <p:cxnSp>
        <p:nvCxnSpPr>
          <p:cNvPr id="29" name="Connector 28"/>
          <p:cNvCxnSpPr/>
          <p:nvPr/>
        </p:nvCxnSpPr>
        <p:spPr>
          <a:xfrm>
            <a:off x="548640" y="4791456"/>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0" name="Text"/>
          <p:cNvSpPr txBox="1"/>
          <p:nvPr/>
        </p:nvSpPr>
        <p:spPr>
          <a:xfrm>
            <a:off x="548640" y="4846320"/>
            <a:ext cx="1508760" cy="713232"/>
          </a:xfrm>
          <a:prstGeom prst="rect">
            <a:avLst/>
          </a:prstGeom>
          <a:noFill/>
        </p:spPr>
        <p:txBody>
          <a:bodyPr wrap="square" lIns="0" rIns="0" tIns="0" bIns="0" anchor="ctr">
            <a:spAutoFit/>
          </a:bodyPr>
          <a:lstStyle/>
          <a:p>
            <a:pPr algn="l"/>
            <a:r>
              <a:rPr sz="1150" b="1" i="0">
                <a:solidFill>
                  <a:srgbClr val="1E262B"/>
                </a:solidFill>
              </a:rPr>
              <a:t>Authority</a:t>
            </a:r>
          </a:p>
        </p:txBody>
      </p:sp>
      <p:sp>
        <p:nvSpPr>
          <p:cNvPr id="31" name="Text"/>
          <p:cNvSpPr txBox="1"/>
          <p:nvPr/>
        </p:nvSpPr>
        <p:spPr>
          <a:xfrm>
            <a:off x="2194560" y="4846320"/>
            <a:ext cx="3063240" cy="713232"/>
          </a:xfrm>
          <a:prstGeom prst="rect">
            <a:avLst/>
          </a:prstGeom>
          <a:noFill/>
        </p:spPr>
        <p:txBody>
          <a:bodyPr wrap="square" lIns="0" rIns="0" tIns="0" bIns="0" anchor="ctr">
            <a:spAutoFit/>
          </a:bodyPr>
          <a:lstStyle/>
          <a:p>
            <a:pPr algn="l"/>
            <a:r>
              <a:rPr sz="1150" b="0" i="0">
                <a:solidFill>
                  <a:srgbClr val="1E262B"/>
                </a:solidFill>
              </a:rPr>
              <a:t>a person by position, or a named automation; computed at each call; channels only narrow</a:t>
            </a:r>
          </a:p>
        </p:txBody>
      </p:sp>
      <p:sp>
        <p:nvSpPr>
          <p:cNvPr id="32" name="Text"/>
          <p:cNvSpPr txBox="1"/>
          <p:nvPr/>
        </p:nvSpPr>
        <p:spPr>
          <a:xfrm>
            <a:off x="5394960" y="4846320"/>
            <a:ext cx="3063240" cy="713232"/>
          </a:xfrm>
          <a:prstGeom prst="rect">
            <a:avLst/>
          </a:prstGeom>
          <a:noFill/>
        </p:spPr>
        <p:txBody>
          <a:bodyPr wrap="square" lIns="0" rIns="0" tIns="0" bIns="0" anchor="ctr">
            <a:spAutoFit/>
          </a:bodyPr>
          <a:lstStyle/>
          <a:p>
            <a:pPr algn="l"/>
            <a:r>
              <a:rPr sz="1150" b="0" i="0">
                <a:solidFill>
                  <a:srgbClr val="1E262B"/>
                </a:solidFill>
              </a:rPr>
              <a:t>foundation/authority, not yet written</a:t>
            </a:r>
          </a:p>
        </p:txBody>
      </p:sp>
      <p:sp>
        <p:nvSpPr>
          <p:cNvPr id="33" name="Text"/>
          <p:cNvSpPr txBox="1"/>
          <p:nvPr/>
        </p:nvSpPr>
        <p:spPr>
          <a:xfrm>
            <a:off x="8595360" y="4846320"/>
            <a:ext cx="2907792" cy="713232"/>
          </a:xfrm>
          <a:prstGeom prst="rect">
            <a:avLst/>
          </a:prstGeom>
          <a:noFill/>
        </p:spPr>
        <p:txBody>
          <a:bodyPr wrap="square" lIns="0" rIns="0" tIns="0" bIns="0" anchor="ctr">
            <a:spAutoFit/>
          </a:bodyPr>
          <a:lstStyle/>
          <a:p>
            <a:pPr algn="l"/>
            <a:r>
              <a:rPr sz="1150" b="0" i="0">
                <a:solidFill>
                  <a:srgbClr val="1E262B"/>
                </a:solidFill>
              </a:rPr>
              <a:t>what a seat may see and press; the holder worked out from state</a:t>
            </a:r>
          </a:p>
        </p:txBody>
      </p:sp>
      <p:cxnSp>
        <p:nvCxnSpPr>
          <p:cNvPr id="34" name="Connector 33"/>
          <p:cNvCxnSpPr/>
          <p:nvPr/>
        </p:nvCxnSpPr>
        <p:spPr>
          <a:xfrm>
            <a:off x="548640" y="557784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The role app model already speaks these words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BRIDGE</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26</a:t>
            </a:r>
          </a:p>
        </p:txBody>
      </p:sp>
      <p:sp>
        <p:nvSpPr>
          <p:cNvPr id="5" name="Text"/>
          <p:cNvSpPr txBox="1"/>
          <p:nvPr/>
        </p:nvSpPr>
        <p:spPr>
          <a:xfrm>
            <a:off x="548640" y="1371600"/>
            <a:ext cx="1874520" cy="201168"/>
          </a:xfrm>
          <a:prstGeom prst="rect">
            <a:avLst/>
          </a:prstGeom>
          <a:noFill/>
        </p:spPr>
        <p:txBody>
          <a:bodyPr wrap="square" lIns="0" rIns="0" tIns="0" bIns="0" anchor="t">
            <a:spAutoFit/>
          </a:bodyPr>
          <a:lstStyle/>
          <a:p>
            <a:pPr algn="l"/>
            <a:r>
              <a:rPr sz="950" b="1" i="0">
                <a:solidFill>
                  <a:srgbClr val="5E6A71"/>
                </a:solidFill>
              </a:rPr>
              <a:t>ROLE APP WORD</a:t>
            </a:r>
          </a:p>
        </p:txBody>
      </p:sp>
      <p:sp>
        <p:nvSpPr>
          <p:cNvPr id="6" name="Text"/>
          <p:cNvSpPr txBox="1"/>
          <p:nvPr/>
        </p:nvSpPr>
        <p:spPr>
          <a:xfrm>
            <a:off x="2560320" y="1371600"/>
            <a:ext cx="4434840" cy="201168"/>
          </a:xfrm>
          <a:prstGeom prst="rect">
            <a:avLst/>
          </a:prstGeom>
          <a:noFill/>
        </p:spPr>
        <p:txBody>
          <a:bodyPr wrap="square" lIns="0" rIns="0" tIns="0" bIns="0" anchor="t">
            <a:spAutoFit/>
          </a:bodyPr>
          <a:lstStyle/>
          <a:p>
            <a:pPr algn="l"/>
            <a:r>
              <a:rPr sz="950" b="1" i="0">
                <a:solidFill>
                  <a:srgbClr val="5E6A71"/>
                </a:solidFill>
              </a:rPr>
              <a:t>MEANS</a:t>
            </a:r>
          </a:p>
        </p:txBody>
      </p:sp>
      <p:sp>
        <p:nvSpPr>
          <p:cNvPr id="7" name="Text"/>
          <p:cNvSpPr txBox="1"/>
          <p:nvPr/>
        </p:nvSpPr>
        <p:spPr>
          <a:xfrm>
            <a:off x="7132320" y="1371600"/>
            <a:ext cx="4370831" cy="201168"/>
          </a:xfrm>
          <a:prstGeom prst="rect">
            <a:avLst/>
          </a:prstGeom>
          <a:noFill/>
        </p:spPr>
        <p:txBody>
          <a:bodyPr wrap="square" lIns="0" rIns="0" tIns="0" bIns="0" anchor="t">
            <a:spAutoFit/>
          </a:bodyPr>
          <a:lstStyle/>
          <a:p>
            <a:pPr algn="l"/>
            <a:r>
              <a:rPr sz="950" b="1" i="0">
                <a:solidFill>
                  <a:srgbClr val="5E6A71"/>
                </a:solidFill>
              </a:rPr>
              <a:t>ENGINE WORD</a:t>
            </a:r>
          </a:p>
        </p:txBody>
      </p:sp>
      <p:cxnSp>
        <p:nvCxnSpPr>
          <p:cNvPr id="8" name="Connector 7"/>
          <p:cNvCxnSpPr/>
          <p:nvPr/>
        </p:nvCxnSpPr>
        <p:spPr>
          <a:xfrm>
            <a:off x="548640" y="1645920"/>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9" name="Text"/>
          <p:cNvSpPr txBox="1"/>
          <p:nvPr/>
        </p:nvSpPr>
        <p:spPr>
          <a:xfrm>
            <a:off x="548640" y="1700784"/>
            <a:ext cx="1874520" cy="475488"/>
          </a:xfrm>
          <a:prstGeom prst="rect">
            <a:avLst/>
          </a:prstGeom>
          <a:noFill/>
        </p:spPr>
        <p:txBody>
          <a:bodyPr wrap="square" lIns="0" rIns="0" tIns="0" bIns="0" anchor="ctr">
            <a:spAutoFit/>
          </a:bodyPr>
          <a:lstStyle/>
          <a:p>
            <a:pPr algn="l"/>
            <a:r>
              <a:rPr sz="1150" b="1" i="0">
                <a:solidFill>
                  <a:srgbClr val="1E262B"/>
                </a:solidFill>
              </a:rPr>
              <a:t>Query</a:t>
            </a:r>
          </a:p>
        </p:txBody>
      </p:sp>
      <p:sp>
        <p:nvSpPr>
          <p:cNvPr id="10" name="Text"/>
          <p:cNvSpPr txBox="1"/>
          <p:nvPr/>
        </p:nvSpPr>
        <p:spPr>
          <a:xfrm>
            <a:off x="2560320" y="1700784"/>
            <a:ext cx="4434840" cy="475488"/>
          </a:xfrm>
          <a:prstGeom prst="rect">
            <a:avLst/>
          </a:prstGeom>
          <a:noFill/>
        </p:spPr>
        <p:txBody>
          <a:bodyPr wrap="square" lIns="0" rIns="0" tIns="0" bIns="0" anchor="ctr">
            <a:spAutoFit/>
          </a:bodyPr>
          <a:lstStyle/>
          <a:p>
            <a:pPr algn="l"/>
            <a:r>
              <a:rPr sz="1150" b="0" i="0">
                <a:solidFill>
                  <a:srgbClr val="1E262B"/>
                </a:solidFill>
              </a:rPr>
              <a:t>the rows for a start; the subject's view; a watch's measure; a search</a:t>
            </a:r>
          </a:p>
        </p:txBody>
      </p:sp>
      <p:sp>
        <p:nvSpPr>
          <p:cNvPr id="11" name="Text"/>
          <p:cNvSpPr txBox="1"/>
          <p:nvPr/>
        </p:nvSpPr>
        <p:spPr>
          <a:xfrm>
            <a:off x="7132320" y="1700784"/>
            <a:ext cx="4370831" cy="475488"/>
          </a:xfrm>
          <a:prstGeom prst="rect">
            <a:avLst/>
          </a:prstGeom>
          <a:noFill/>
        </p:spPr>
        <p:txBody>
          <a:bodyPr wrap="square" lIns="0" rIns="0" tIns="0" bIns="0" anchor="ctr">
            <a:spAutoFit/>
          </a:bodyPr>
          <a:lstStyle/>
          <a:p>
            <a:pPr algn="l"/>
            <a:r>
              <a:rPr sz="1150" b="0" i="0">
                <a:solidFill>
                  <a:srgbClr val="1E262B"/>
                </a:solidFill>
              </a:rPr>
              <a:t>Query</a:t>
            </a:r>
          </a:p>
        </p:txBody>
      </p:sp>
      <p:cxnSp>
        <p:nvCxnSpPr>
          <p:cNvPr id="12" name="Connector 11"/>
          <p:cNvCxnSpPr/>
          <p:nvPr/>
        </p:nvCxnSpPr>
        <p:spPr>
          <a:xfrm>
            <a:off x="548640" y="2194560"/>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3" name="Text"/>
          <p:cNvSpPr txBox="1"/>
          <p:nvPr/>
        </p:nvSpPr>
        <p:spPr>
          <a:xfrm>
            <a:off x="548640" y="2249424"/>
            <a:ext cx="1874520" cy="475488"/>
          </a:xfrm>
          <a:prstGeom prst="rect">
            <a:avLst/>
          </a:prstGeom>
          <a:noFill/>
        </p:spPr>
        <p:txBody>
          <a:bodyPr wrap="square" lIns="0" rIns="0" tIns="0" bIns="0" anchor="ctr">
            <a:spAutoFit/>
          </a:bodyPr>
          <a:lstStyle/>
          <a:p>
            <a:pPr algn="l"/>
            <a:r>
              <a:rPr sz="1150" b="1" i="0">
                <a:solidFill>
                  <a:srgbClr val="1E262B"/>
                </a:solidFill>
              </a:rPr>
              <a:t>Action</a:t>
            </a:r>
          </a:p>
        </p:txBody>
      </p:sp>
      <p:sp>
        <p:nvSpPr>
          <p:cNvPr id="14" name="Text"/>
          <p:cNvSpPr txBox="1"/>
          <p:nvPr/>
        </p:nvSpPr>
        <p:spPr>
          <a:xfrm>
            <a:off x="2560320" y="2249424"/>
            <a:ext cx="4434840" cy="475488"/>
          </a:xfrm>
          <a:prstGeom prst="rect">
            <a:avLst/>
          </a:prstGeom>
          <a:noFill/>
        </p:spPr>
        <p:txBody>
          <a:bodyPr wrap="square" lIns="0" rIns="0" tIns="0" bIns="0" anchor="ctr">
            <a:spAutoFit/>
          </a:bodyPr>
          <a:lstStyle/>
          <a:p>
            <a:pPr algn="l"/>
            <a:r>
              <a:rPr sz="1150" b="0" i="0">
                <a:solidFill>
                  <a:srgbClr val="1E262B"/>
                </a:solidFill>
              </a:rPr>
              <a:t>a move with its gate, its reason code, its fields; the only way a holder changes</a:t>
            </a:r>
          </a:p>
        </p:txBody>
      </p:sp>
      <p:sp>
        <p:nvSpPr>
          <p:cNvPr id="15" name="Text"/>
          <p:cNvSpPr txBox="1"/>
          <p:nvPr/>
        </p:nvSpPr>
        <p:spPr>
          <a:xfrm>
            <a:off x="7132320" y="2249424"/>
            <a:ext cx="4370831" cy="475488"/>
          </a:xfrm>
          <a:prstGeom prst="rect">
            <a:avLst/>
          </a:prstGeom>
          <a:noFill/>
        </p:spPr>
        <p:txBody>
          <a:bodyPr wrap="square" lIns="0" rIns="0" tIns="0" bIns="0" anchor="ctr">
            <a:spAutoFit/>
          </a:bodyPr>
          <a:lstStyle/>
          <a:p>
            <a:pPr algn="l"/>
            <a:r>
              <a:rPr sz="1150" b="0" i="0">
                <a:solidFill>
                  <a:srgbClr val="1E262B"/>
                </a:solidFill>
              </a:rPr>
              <a:t>Action. 'allows' is the engine's list of permitted actions and the reason each other is blocked</a:t>
            </a:r>
          </a:p>
        </p:txBody>
      </p:sp>
      <p:cxnSp>
        <p:nvCxnSpPr>
          <p:cNvPr id="16" name="Connector 15"/>
          <p:cNvCxnSpPr/>
          <p:nvPr/>
        </p:nvCxnSpPr>
        <p:spPr>
          <a:xfrm>
            <a:off x="548640" y="2743200"/>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7" name="Text"/>
          <p:cNvSpPr txBox="1"/>
          <p:nvPr/>
        </p:nvSpPr>
        <p:spPr>
          <a:xfrm>
            <a:off x="548640" y="2798064"/>
            <a:ext cx="1874520" cy="475488"/>
          </a:xfrm>
          <a:prstGeom prst="rect">
            <a:avLst/>
          </a:prstGeom>
          <a:noFill/>
        </p:spPr>
        <p:txBody>
          <a:bodyPr wrap="square" lIns="0" rIns="0" tIns="0" bIns="0" anchor="ctr">
            <a:spAutoFit/>
          </a:bodyPr>
          <a:lstStyle/>
          <a:p>
            <a:pPr algn="l"/>
            <a:r>
              <a:rPr sz="1150" b="1" i="0">
                <a:solidFill>
                  <a:srgbClr val="1E262B"/>
                </a:solidFill>
              </a:rPr>
              <a:t>Event</a:t>
            </a:r>
          </a:p>
        </p:txBody>
      </p:sp>
      <p:sp>
        <p:nvSpPr>
          <p:cNvPr id="18" name="Text"/>
          <p:cNvSpPr txBox="1"/>
          <p:nvPr/>
        </p:nvSpPr>
        <p:spPr>
          <a:xfrm>
            <a:off x="2560320" y="2798064"/>
            <a:ext cx="4434840" cy="475488"/>
          </a:xfrm>
          <a:prstGeom prst="rect">
            <a:avLst/>
          </a:prstGeom>
          <a:noFill/>
        </p:spPr>
        <p:txBody>
          <a:bodyPr wrap="square" lIns="0" rIns="0" tIns="0" bIns="0" anchor="ctr">
            <a:spAutoFit/>
          </a:bodyPr>
          <a:lstStyle/>
          <a:p>
            <a:pPr algn="l"/>
            <a:r>
              <a:rPr sz="1150" b="0" i="0">
                <a:solidFill>
                  <a:srgbClr val="1E262B"/>
                </a:solidFill>
              </a:rPr>
              <a:t>what a move emits; what the receiver's start listens to</a:t>
            </a:r>
          </a:p>
        </p:txBody>
      </p:sp>
      <p:sp>
        <p:nvSpPr>
          <p:cNvPr id="19" name="Text"/>
          <p:cNvSpPr txBox="1"/>
          <p:nvPr/>
        </p:nvSpPr>
        <p:spPr>
          <a:xfrm>
            <a:off x="7132320" y="2798064"/>
            <a:ext cx="4370831" cy="475488"/>
          </a:xfrm>
          <a:prstGeom prst="rect">
            <a:avLst/>
          </a:prstGeom>
          <a:noFill/>
        </p:spPr>
        <p:txBody>
          <a:bodyPr wrap="square" lIns="0" rIns="0" tIns="0" bIns="0" anchor="ctr">
            <a:spAutoFit/>
          </a:bodyPr>
          <a:lstStyle/>
          <a:p>
            <a:pPr algn="l"/>
            <a:r>
              <a:rPr sz="1150" b="0" i="0">
                <a:solidFill>
                  <a:srgbClr val="1E262B"/>
                </a:solidFill>
              </a:rPr>
              <a:t>Event</a:t>
            </a:r>
          </a:p>
        </p:txBody>
      </p:sp>
      <p:cxnSp>
        <p:nvCxnSpPr>
          <p:cNvPr id="20" name="Connector 19"/>
          <p:cNvCxnSpPr/>
          <p:nvPr/>
        </p:nvCxnSpPr>
        <p:spPr>
          <a:xfrm>
            <a:off x="548640" y="3291840"/>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1" name="Text"/>
          <p:cNvSpPr txBox="1"/>
          <p:nvPr/>
        </p:nvSpPr>
        <p:spPr>
          <a:xfrm>
            <a:off x="548640" y="3346704"/>
            <a:ext cx="1874520" cy="475488"/>
          </a:xfrm>
          <a:prstGeom prst="rect">
            <a:avLst/>
          </a:prstGeom>
          <a:noFill/>
        </p:spPr>
        <p:txBody>
          <a:bodyPr wrap="square" lIns="0" rIns="0" tIns="0" bIns="0" anchor="ctr">
            <a:spAutoFit/>
          </a:bodyPr>
          <a:lstStyle/>
          <a:p>
            <a:pPr algn="l"/>
            <a:r>
              <a:rPr sz="1150" b="1" i="0">
                <a:solidFill>
                  <a:srgbClr val="1E262B"/>
                </a:solidFill>
              </a:rPr>
              <a:t>Notice</a:t>
            </a:r>
          </a:p>
        </p:txBody>
      </p:sp>
      <p:sp>
        <p:nvSpPr>
          <p:cNvPr id="22" name="Text"/>
          <p:cNvSpPr txBox="1"/>
          <p:nvPr/>
        </p:nvSpPr>
        <p:spPr>
          <a:xfrm>
            <a:off x="2560320" y="3346704"/>
            <a:ext cx="4434840" cy="475488"/>
          </a:xfrm>
          <a:prstGeom prst="rect">
            <a:avLst/>
          </a:prstGeom>
          <a:noFill/>
        </p:spPr>
        <p:txBody>
          <a:bodyPr wrap="square" lIns="0" rIns="0" tIns="0" bIns="0" anchor="ctr">
            <a:spAutoFit/>
          </a:bodyPr>
          <a:lstStyle/>
          <a:p>
            <a:pPr algn="l"/>
            <a:r>
              <a:rPr sz="1150" b="0" i="0">
                <a:solidFill>
                  <a:srgbClr val="1E262B"/>
                </a:solidFill>
              </a:rPr>
              <a:t>what reaches a person without moving work; kept on the subject</a:t>
            </a:r>
          </a:p>
        </p:txBody>
      </p:sp>
      <p:sp>
        <p:nvSpPr>
          <p:cNvPr id="23" name="Text"/>
          <p:cNvSpPr txBox="1"/>
          <p:nvPr/>
        </p:nvSpPr>
        <p:spPr>
          <a:xfrm>
            <a:off x="7132320" y="3346704"/>
            <a:ext cx="4370831" cy="475488"/>
          </a:xfrm>
          <a:prstGeom prst="rect">
            <a:avLst/>
          </a:prstGeom>
          <a:noFill/>
        </p:spPr>
        <p:txBody>
          <a:bodyPr wrap="square" lIns="0" rIns="0" tIns="0" bIns="0" anchor="ctr">
            <a:spAutoFit/>
          </a:bodyPr>
          <a:lstStyle/>
          <a:p>
            <a:pPr algn="l"/>
            <a:r>
              <a:rPr sz="1150" b="0" i="0">
                <a:solidFill>
                  <a:srgbClr val="1E262B"/>
                </a:solidFill>
              </a:rPr>
              <a:t>a reaction whose action is a notification, under an automation principal</a:t>
            </a:r>
          </a:p>
        </p:txBody>
      </p:sp>
      <p:cxnSp>
        <p:nvCxnSpPr>
          <p:cNvPr id="24" name="Connector 23"/>
          <p:cNvCxnSpPr/>
          <p:nvPr/>
        </p:nvCxnSpPr>
        <p:spPr>
          <a:xfrm>
            <a:off x="548640" y="3840480"/>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5" name="Text"/>
          <p:cNvSpPr txBox="1"/>
          <p:nvPr/>
        </p:nvSpPr>
        <p:spPr>
          <a:xfrm>
            <a:off x="548640" y="3895344"/>
            <a:ext cx="1874520" cy="475488"/>
          </a:xfrm>
          <a:prstGeom prst="rect">
            <a:avLst/>
          </a:prstGeom>
          <a:noFill/>
        </p:spPr>
        <p:txBody>
          <a:bodyPr wrap="square" lIns="0" rIns="0" tIns="0" bIns="0" anchor="ctr">
            <a:spAutoFit/>
          </a:bodyPr>
          <a:lstStyle/>
          <a:p>
            <a:pPr algn="l"/>
            <a:r>
              <a:rPr sz="1150" b="1" i="0">
                <a:solidFill>
                  <a:srgbClr val="1E262B"/>
                </a:solidFill>
              </a:rPr>
              <a:t>Parameter</a:t>
            </a:r>
          </a:p>
        </p:txBody>
      </p:sp>
      <p:sp>
        <p:nvSpPr>
          <p:cNvPr id="26" name="Text"/>
          <p:cNvSpPr txBox="1"/>
          <p:nvPr/>
        </p:nvSpPr>
        <p:spPr>
          <a:xfrm>
            <a:off x="2560320" y="3895344"/>
            <a:ext cx="4434840" cy="475488"/>
          </a:xfrm>
          <a:prstGeom prst="rect">
            <a:avLst/>
          </a:prstGeom>
          <a:noFill/>
        </p:spPr>
        <p:txBody>
          <a:bodyPr wrap="square" lIns="0" rIns="0" tIns="0" bIns="0" anchor="ctr">
            <a:spAutoFit/>
          </a:bodyPr>
          <a:lstStyle/>
          <a:p>
            <a:pPr algn="l"/>
            <a:r>
              <a:rPr sz="1150" b="0" i="0">
                <a:solidFill>
                  <a:srgbClr val="1E262B"/>
                </a:solidFill>
              </a:rPr>
              <a:t>a named number the business sets, with its owner</a:t>
            </a:r>
          </a:p>
        </p:txBody>
      </p:sp>
      <p:sp>
        <p:nvSpPr>
          <p:cNvPr id="27" name="Text"/>
          <p:cNvSpPr txBox="1"/>
          <p:nvPr/>
        </p:nvSpPr>
        <p:spPr>
          <a:xfrm>
            <a:off x="7132320" y="3895344"/>
            <a:ext cx="4370831" cy="475488"/>
          </a:xfrm>
          <a:prstGeom prst="rect">
            <a:avLst/>
          </a:prstGeom>
          <a:noFill/>
        </p:spPr>
        <p:txBody>
          <a:bodyPr wrap="square" lIns="0" rIns="0" tIns="0" bIns="0" anchor="ctr">
            <a:spAutoFit/>
          </a:bodyPr>
          <a:lstStyle/>
          <a:p>
            <a:pPr algn="l"/>
            <a:r>
              <a:rPr sz="1150" b="0" i="0">
                <a:solidFill>
                  <a:srgbClr val="1E262B"/>
                </a:solidFill>
              </a:rPr>
              <a:t>data the gates read; the owner is the seat that may change it</a:t>
            </a:r>
          </a:p>
        </p:txBody>
      </p:sp>
      <p:cxnSp>
        <p:nvCxnSpPr>
          <p:cNvPr id="28" name="Connector 27"/>
          <p:cNvCxnSpPr/>
          <p:nvPr/>
        </p:nvCxnSpPr>
        <p:spPr>
          <a:xfrm>
            <a:off x="548640" y="4389120"/>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9" name="Text"/>
          <p:cNvSpPr txBox="1"/>
          <p:nvPr/>
        </p:nvSpPr>
        <p:spPr>
          <a:xfrm>
            <a:off x="548640" y="4443983"/>
            <a:ext cx="1874520" cy="475488"/>
          </a:xfrm>
          <a:prstGeom prst="rect">
            <a:avLst/>
          </a:prstGeom>
          <a:noFill/>
        </p:spPr>
        <p:txBody>
          <a:bodyPr wrap="square" lIns="0" rIns="0" tIns="0" bIns="0" anchor="ctr">
            <a:spAutoFit/>
          </a:bodyPr>
          <a:lstStyle/>
          <a:p>
            <a:pPr algn="l"/>
            <a:r>
              <a:rPr sz="1150" b="1" i="0">
                <a:solidFill>
                  <a:srgbClr val="1E262B"/>
                </a:solidFill>
              </a:rPr>
              <a:t>Holder</a:t>
            </a:r>
          </a:p>
        </p:txBody>
      </p:sp>
      <p:sp>
        <p:nvSpPr>
          <p:cNvPr id="30" name="Text"/>
          <p:cNvSpPr txBox="1"/>
          <p:nvPr/>
        </p:nvSpPr>
        <p:spPr>
          <a:xfrm>
            <a:off x="2560320" y="4443983"/>
            <a:ext cx="4434840" cy="475488"/>
          </a:xfrm>
          <a:prstGeom prst="rect">
            <a:avLst/>
          </a:prstGeom>
          <a:noFill/>
        </p:spPr>
        <p:txBody>
          <a:bodyPr wrap="square" lIns="0" rIns="0" tIns="0" bIns="0" anchor="ctr">
            <a:spAutoFit/>
          </a:bodyPr>
          <a:lstStyle/>
          <a:p>
            <a:pPr algn="l"/>
            <a:r>
              <a:rPr sz="1150" b="0" i="0">
                <a:solidFill>
                  <a:srgbClr val="1E262B"/>
                </a:solidFill>
              </a:rPr>
              <a:t>whose move it is, returned with every item; never stored</a:t>
            </a:r>
          </a:p>
        </p:txBody>
      </p:sp>
      <p:sp>
        <p:nvSpPr>
          <p:cNvPr id="31" name="Text"/>
          <p:cNvSpPr txBox="1"/>
          <p:nvPr/>
        </p:nvSpPr>
        <p:spPr>
          <a:xfrm>
            <a:off x="7132320" y="4443983"/>
            <a:ext cx="4370831" cy="475488"/>
          </a:xfrm>
          <a:prstGeom prst="rect">
            <a:avLst/>
          </a:prstGeom>
          <a:noFill/>
        </p:spPr>
        <p:txBody>
          <a:bodyPr wrap="square" lIns="0" rIns="0" tIns="0" bIns="0" anchor="ctr">
            <a:spAutoFit/>
          </a:bodyPr>
          <a:lstStyle/>
          <a:p>
            <a:pPr algn="l"/>
            <a:r>
              <a:rPr sz="1150" b="0" i="0">
                <a:solidFill>
                  <a:srgbClr val="1E262B"/>
                </a:solidFill>
              </a:rPr>
              <a:t>worked out from the state and the position; a query returns it</a:t>
            </a:r>
          </a:p>
        </p:txBody>
      </p:sp>
      <p:cxnSp>
        <p:nvCxnSpPr>
          <p:cNvPr id="32" name="Connector 31"/>
          <p:cNvCxnSpPr/>
          <p:nvPr/>
        </p:nvCxnSpPr>
        <p:spPr>
          <a:xfrm>
            <a:off x="548640" y="4937759"/>
            <a:ext cx="11091671"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3" name="Finding"/>
          <p:cNvSpPr/>
          <p:nvPr/>
        </p:nvSpPr>
        <p:spPr>
          <a:xfrm>
            <a:off x="548640" y="5212080"/>
            <a:ext cx="11091672" cy="64008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p:cNvSpPr txBox="1"/>
          <p:nvPr/>
        </p:nvSpPr>
        <p:spPr>
          <a:xfrm>
            <a:off x="822960" y="5212080"/>
            <a:ext cx="10543032" cy="640080"/>
          </a:xfrm>
          <a:prstGeom prst="rect">
            <a:avLst/>
          </a:prstGeom>
          <a:noFill/>
        </p:spPr>
        <p:txBody>
          <a:bodyPr wrap="square" lIns="0" rIns="0" tIns="0" bIns="0" anchor="ctr">
            <a:spAutoFit/>
          </a:bodyPr>
          <a:lstStyle/>
          <a:p>
            <a:pPr algn="l"/>
            <a:r>
              <a:rPr sz="1350" b="1" i="0">
                <a:solidFill>
                  <a:srgbClr val="1E262B"/>
                </a:solidFill>
              </a:rPr>
              <a:t>The screen holds no rule.  </a:t>
            </a:r>
            <a:r>
              <a:rPr sz="1350" b="0" i="0">
                <a:solidFill>
                  <a:srgbClr val="1E262B"/>
                </a:solidFill>
              </a:rPr>
              <a:t>It asks the engine which acts this person may take on this subject today, and why the others are blocked. That one rule keeps a generated app inside its authority.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Seven rules every engineer keeps</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THE RULES</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27</a:t>
            </a:r>
          </a:p>
        </p:txBody>
      </p:sp>
      <p:sp>
        <p:nvSpPr>
          <p:cNvPr id="5" name="Number"/>
          <p:cNvSpPr/>
          <p:nvPr/>
        </p:nvSpPr>
        <p:spPr>
          <a:xfrm>
            <a:off x="548640" y="1408176"/>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Number"/>
          <p:cNvSpPr txBox="1"/>
          <p:nvPr/>
        </p:nvSpPr>
        <p:spPr>
          <a:xfrm>
            <a:off x="548640" y="1408176"/>
            <a:ext cx="365760" cy="365760"/>
          </a:xfrm>
          <a:prstGeom prst="rect">
            <a:avLst/>
          </a:prstGeom>
          <a:noFill/>
        </p:spPr>
        <p:txBody>
          <a:bodyPr wrap="square" lIns="0" rIns="0" tIns="0" bIns="0" anchor="ctr">
            <a:spAutoFit/>
          </a:bodyPr>
          <a:lstStyle/>
          <a:p>
            <a:pPr algn="ctr"/>
            <a:r>
              <a:rPr sz="1300" b="1" i="0">
                <a:solidFill>
                  <a:srgbClr val="FFFFFF"/>
                </a:solidFill>
              </a:rPr>
              <a:t>1</a:t>
            </a:r>
          </a:p>
        </p:txBody>
      </p:sp>
      <p:sp>
        <p:nvSpPr>
          <p:cNvPr id="7" name="Text"/>
          <p:cNvSpPr txBox="1"/>
          <p:nvPr/>
        </p:nvSpPr>
        <p:spPr>
          <a:xfrm>
            <a:off x="1097280" y="1371600"/>
            <a:ext cx="4937760" cy="384048"/>
          </a:xfrm>
          <a:prstGeom prst="rect">
            <a:avLst/>
          </a:prstGeom>
          <a:noFill/>
        </p:spPr>
        <p:txBody>
          <a:bodyPr wrap="square" lIns="0" rIns="0" tIns="0" bIns="0" anchor="ctr">
            <a:spAutoFit/>
          </a:bodyPr>
          <a:lstStyle/>
          <a:p>
            <a:pPr algn="l"/>
            <a:r>
              <a:rPr sz="1400" b="1" i="0">
                <a:solidFill>
                  <a:srgbClr val="0B4A4A"/>
                </a:solidFill>
              </a:rPr>
              <a:t>Never touch another capability's tables</a:t>
            </a:r>
          </a:p>
        </p:txBody>
      </p:sp>
      <p:sp>
        <p:nvSpPr>
          <p:cNvPr id="8" name="Text"/>
          <p:cNvSpPr txBox="1"/>
          <p:nvPr/>
        </p:nvSpPr>
        <p:spPr>
          <a:xfrm>
            <a:off x="1097280" y="1773936"/>
            <a:ext cx="4937760" cy="640080"/>
          </a:xfrm>
          <a:prstGeom prst="rect">
            <a:avLst/>
          </a:prstGeom>
          <a:noFill/>
        </p:spPr>
        <p:txBody>
          <a:bodyPr wrap="square" lIns="0" rIns="0" tIns="0" bIns="0" anchor="t">
            <a:spAutoFit/>
          </a:bodyPr>
          <a:lstStyle/>
          <a:p>
            <a:pPr algn="l"/>
            <a:r>
              <a:rPr sz="1200" b="0" i="0">
                <a:solidFill>
                  <a:srgbClr val="1E262B"/>
                </a:solidFill>
              </a:rPr>
              <a:t>Read through its queries. Change through its actions. React to its events.</a:t>
            </a:r>
          </a:p>
        </p:txBody>
      </p:sp>
      <p:sp>
        <p:nvSpPr>
          <p:cNvPr id="9" name="Number"/>
          <p:cNvSpPr/>
          <p:nvPr/>
        </p:nvSpPr>
        <p:spPr>
          <a:xfrm>
            <a:off x="6217920" y="1408176"/>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umber"/>
          <p:cNvSpPr txBox="1"/>
          <p:nvPr/>
        </p:nvSpPr>
        <p:spPr>
          <a:xfrm>
            <a:off x="6217920" y="1408176"/>
            <a:ext cx="365760" cy="365760"/>
          </a:xfrm>
          <a:prstGeom prst="rect">
            <a:avLst/>
          </a:prstGeom>
          <a:noFill/>
        </p:spPr>
        <p:txBody>
          <a:bodyPr wrap="square" lIns="0" rIns="0" tIns="0" bIns="0" anchor="ctr">
            <a:spAutoFit/>
          </a:bodyPr>
          <a:lstStyle/>
          <a:p>
            <a:pPr algn="ctr"/>
            <a:r>
              <a:rPr sz="1300" b="1" i="0">
                <a:solidFill>
                  <a:srgbClr val="FFFFFF"/>
                </a:solidFill>
              </a:rPr>
              <a:t>2</a:t>
            </a:r>
          </a:p>
        </p:txBody>
      </p:sp>
      <p:sp>
        <p:nvSpPr>
          <p:cNvPr id="11" name="Text"/>
          <p:cNvSpPr txBox="1"/>
          <p:nvPr/>
        </p:nvSpPr>
        <p:spPr>
          <a:xfrm>
            <a:off x="6766559" y="1371600"/>
            <a:ext cx="4937760" cy="384048"/>
          </a:xfrm>
          <a:prstGeom prst="rect">
            <a:avLst/>
          </a:prstGeom>
          <a:noFill/>
        </p:spPr>
        <p:txBody>
          <a:bodyPr wrap="square" lIns="0" rIns="0" tIns="0" bIns="0" anchor="ctr">
            <a:spAutoFit/>
          </a:bodyPr>
          <a:lstStyle/>
          <a:p>
            <a:pPr algn="l"/>
            <a:r>
              <a:rPr sz="1400" b="1" i="0">
                <a:solidFill>
                  <a:srgbClr val="0B4A4A"/>
                </a:solidFill>
              </a:rPr>
              <a:t>Critical rules live inside the action's transaction</a:t>
            </a:r>
          </a:p>
        </p:txBody>
      </p:sp>
      <p:sp>
        <p:nvSpPr>
          <p:cNvPr id="12" name="Text"/>
          <p:cNvSpPr txBox="1"/>
          <p:nvPr/>
        </p:nvSpPr>
        <p:spPr>
          <a:xfrm>
            <a:off x="6766559" y="1773936"/>
            <a:ext cx="4937760" cy="640080"/>
          </a:xfrm>
          <a:prstGeom prst="rect">
            <a:avLst/>
          </a:prstGeom>
          <a:noFill/>
        </p:spPr>
        <p:txBody>
          <a:bodyPr wrap="square" lIns="0" rIns="0" tIns="0" bIns="0" anchor="t">
            <a:spAutoFit/>
          </a:bodyPr>
          <a:lstStyle/>
          <a:p>
            <a:pPr algn="l"/>
            <a:r>
              <a:rPr sz="1200" b="0" i="0">
                <a:solidFill>
                  <a:srgbClr val="1E262B"/>
                </a:solidFill>
              </a:rPr>
              <a:t>A rule that must hold is checked before the commit, not by a reaction afterwards.</a:t>
            </a:r>
          </a:p>
        </p:txBody>
      </p:sp>
      <p:sp>
        <p:nvSpPr>
          <p:cNvPr id="13" name="Number"/>
          <p:cNvSpPr/>
          <p:nvPr/>
        </p:nvSpPr>
        <p:spPr>
          <a:xfrm>
            <a:off x="548640" y="2505456"/>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umber"/>
          <p:cNvSpPr txBox="1"/>
          <p:nvPr/>
        </p:nvSpPr>
        <p:spPr>
          <a:xfrm>
            <a:off x="548640" y="2505456"/>
            <a:ext cx="365760" cy="365760"/>
          </a:xfrm>
          <a:prstGeom prst="rect">
            <a:avLst/>
          </a:prstGeom>
          <a:noFill/>
        </p:spPr>
        <p:txBody>
          <a:bodyPr wrap="square" lIns="0" rIns="0" tIns="0" bIns="0" anchor="ctr">
            <a:spAutoFit/>
          </a:bodyPr>
          <a:lstStyle/>
          <a:p>
            <a:pPr algn="ctr"/>
            <a:r>
              <a:rPr sz="1300" b="1" i="0">
                <a:solidFill>
                  <a:srgbClr val="FFFFFF"/>
                </a:solidFill>
              </a:rPr>
              <a:t>3</a:t>
            </a:r>
          </a:p>
        </p:txBody>
      </p:sp>
      <p:sp>
        <p:nvSpPr>
          <p:cNvPr id="15" name="Text"/>
          <p:cNvSpPr txBox="1"/>
          <p:nvPr/>
        </p:nvSpPr>
        <p:spPr>
          <a:xfrm>
            <a:off x="1097280" y="2468880"/>
            <a:ext cx="4937760" cy="384048"/>
          </a:xfrm>
          <a:prstGeom prst="rect">
            <a:avLst/>
          </a:prstGeom>
          <a:noFill/>
        </p:spPr>
        <p:txBody>
          <a:bodyPr wrap="square" lIns="0" rIns="0" tIns="0" bIns="0" anchor="ctr">
            <a:spAutoFit/>
          </a:bodyPr>
          <a:lstStyle/>
          <a:p>
            <a:pPr algn="l"/>
            <a:r>
              <a:rPr sz="1400" b="1" i="0">
                <a:solidFill>
                  <a:srgbClr val="0B4A4A"/>
                </a:solidFill>
              </a:rPr>
              <a:t>Every action is safe to repeat</a:t>
            </a:r>
          </a:p>
        </p:txBody>
      </p:sp>
      <p:sp>
        <p:nvSpPr>
          <p:cNvPr id="16" name="Text"/>
          <p:cNvSpPr txBox="1"/>
          <p:nvPr/>
        </p:nvSpPr>
        <p:spPr>
          <a:xfrm>
            <a:off x="1097280" y="2871216"/>
            <a:ext cx="4937760" cy="640080"/>
          </a:xfrm>
          <a:prstGeom prst="rect">
            <a:avLst/>
          </a:prstGeom>
          <a:noFill/>
        </p:spPr>
        <p:txBody>
          <a:bodyPr wrap="square" lIns="0" rIns="0" tIns="0" bIns="0" anchor="t">
            <a:spAutoFit/>
          </a:bodyPr>
          <a:lstStyle/>
          <a:p>
            <a:pPr algn="l"/>
            <a:r>
              <a:rPr sz="1200" b="0" i="0">
                <a:solidFill>
                  <a:srgbClr val="1E262B"/>
                </a:solidFill>
              </a:rPr>
              <a:t>Carry an invocation identity. A repeat returns the recorded outcome.</a:t>
            </a:r>
          </a:p>
        </p:txBody>
      </p:sp>
      <p:sp>
        <p:nvSpPr>
          <p:cNvPr id="17" name="Number"/>
          <p:cNvSpPr/>
          <p:nvPr/>
        </p:nvSpPr>
        <p:spPr>
          <a:xfrm>
            <a:off x="6217920" y="2505456"/>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
          <p:cNvSpPr txBox="1"/>
          <p:nvPr/>
        </p:nvSpPr>
        <p:spPr>
          <a:xfrm>
            <a:off x="6217920" y="2505456"/>
            <a:ext cx="365760" cy="365760"/>
          </a:xfrm>
          <a:prstGeom prst="rect">
            <a:avLst/>
          </a:prstGeom>
          <a:noFill/>
        </p:spPr>
        <p:txBody>
          <a:bodyPr wrap="square" lIns="0" rIns="0" tIns="0" bIns="0" anchor="ctr">
            <a:spAutoFit/>
          </a:bodyPr>
          <a:lstStyle/>
          <a:p>
            <a:pPr algn="ctr"/>
            <a:r>
              <a:rPr sz="1300" b="1" i="0">
                <a:solidFill>
                  <a:srgbClr val="FFFFFF"/>
                </a:solidFill>
              </a:rPr>
              <a:t>4</a:t>
            </a:r>
          </a:p>
        </p:txBody>
      </p:sp>
      <p:sp>
        <p:nvSpPr>
          <p:cNvPr id="19" name="Text"/>
          <p:cNvSpPr txBox="1"/>
          <p:nvPr/>
        </p:nvSpPr>
        <p:spPr>
          <a:xfrm>
            <a:off x="6766559" y="2468880"/>
            <a:ext cx="4937760" cy="384048"/>
          </a:xfrm>
          <a:prstGeom prst="rect">
            <a:avLst/>
          </a:prstGeom>
          <a:noFill/>
        </p:spPr>
        <p:txBody>
          <a:bodyPr wrap="square" lIns="0" rIns="0" tIns="0" bIns="0" anchor="ctr">
            <a:spAutoFit/>
          </a:bodyPr>
          <a:lstStyle/>
          <a:p>
            <a:pPr algn="l"/>
            <a:r>
              <a:rPr sz="1400" b="1" i="0">
                <a:solidFill>
                  <a:srgbClr val="0B4A4A"/>
                </a:solidFill>
              </a:rPr>
              <a:t>Events are facts, in the past tense, never edited</a:t>
            </a:r>
          </a:p>
        </p:txBody>
      </p:sp>
      <p:sp>
        <p:nvSpPr>
          <p:cNvPr id="20" name="Text"/>
          <p:cNvSpPr txBox="1"/>
          <p:nvPr/>
        </p:nvSpPr>
        <p:spPr>
          <a:xfrm>
            <a:off x="6766559" y="2871216"/>
            <a:ext cx="4937760" cy="640080"/>
          </a:xfrm>
          <a:prstGeom prst="rect">
            <a:avLst/>
          </a:prstGeom>
          <a:noFill/>
        </p:spPr>
        <p:txBody>
          <a:bodyPr wrap="square" lIns="0" rIns="0" tIns="0" bIns="0" anchor="t">
            <a:spAutoFit/>
          </a:bodyPr>
          <a:lstStyle/>
          <a:p>
            <a:pPr algn="l"/>
            <a:r>
              <a:rPr sz="1200" b="0" i="0">
                <a:solidFill>
                  <a:srgbClr val="1E262B"/>
                </a:solidFill>
              </a:rPr>
              <a:t>Named and versioned. Their definition does not depend on delivery.</a:t>
            </a:r>
          </a:p>
        </p:txBody>
      </p:sp>
      <p:sp>
        <p:nvSpPr>
          <p:cNvPr id="21" name="Number"/>
          <p:cNvSpPr/>
          <p:nvPr/>
        </p:nvSpPr>
        <p:spPr>
          <a:xfrm>
            <a:off x="548640" y="3602736"/>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Number"/>
          <p:cNvSpPr txBox="1"/>
          <p:nvPr/>
        </p:nvSpPr>
        <p:spPr>
          <a:xfrm>
            <a:off x="548640" y="3602736"/>
            <a:ext cx="365760" cy="365760"/>
          </a:xfrm>
          <a:prstGeom prst="rect">
            <a:avLst/>
          </a:prstGeom>
          <a:noFill/>
        </p:spPr>
        <p:txBody>
          <a:bodyPr wrap="square" lIns="0" rIns="0" tIns="0" bIns="0" anchor="ctr">
            <a:spAutoFit/>
          </a:bodyPr>
          <a:lstStyle/>
          <a:p>
            <a:pPr algn="ctr"/>
            <a:r>
              <a:rPr sz="1300" b="1" i="0">
                <a:solidFill>
                  <a:srgbClr val="FFFFFF"/>
                </a:solidFill>
              </a:rPr>
              <a:t>5</a:t>
            </a:r>
          </a:p>
        </p:txBody>
      </p:sp>
      <p:sp>
        <p:nvSpPr>
          <p:cNvPr id="23" name="Text"/>
          <p:cNvSpPr txBox="1"/>
          <p:nvPr/>
        </p:nvSpPr>
        <p:spPr>
          <a:xfrm>
            <a:off x="1097280" y="3566160"/>
            <a:ext cx="4937760" cy="384048"/>
          </a:xfrm>
          <a:prstGeom prst="rect">
            <a:avLst/>
          </a:prstGeom>
          <a:noFill/>
        </p:spPr>
        <p:txBody>
          <a:bodyPr wrap="square" lIns="0" rIns="0" tIns="0" bIns="0" anchor="ctr">
            <a:spAutoFit/>
          </a:bodyPr>
          <a:lstStyle/>
          <a:p>
            <a:pPr algn="l"/>
            <a:r>
              <a:rPr sz="1400" b="1" i="0">
                <a:solidFill>
                  <a:srgbClr val="0B4A4A"/>
                </a:solidFill>
              </a:rPr>
              <a:t>Reactions are safe to retry and never silent</a:t>
            </a:r>
          </a:p>
        </p:txBody>
      </p:sp>
      <p:sp>
        <p:nvSpPr>
          <p:cNvPr id="24" name="Text"/>
          <p:cNvSpPr txBox="1"/>
          <p:nvPr/>
        </p:nvSpPr>
        <p:spPr>
          <a:xfrm>
            <a:off x="1097280" y="3968496"/>
            <a:ext cx="4937760" cy="640080"/>
          </a:xfrm>
          <a:prstGeom prst="rect">
            <a:avLst/>
          </a:prstGeom>
          <a:noFill/>
        </p:spPr>
        <p:txBody>
          <a:bodyPr wrap="square" lIns="0" rIns="0" tIns="0" bIns="0" anchor="t">
            <a:spAutoFit/>
          </a:bodyPr>
          <a:lstStyle/>
          <a:p>
            <a:pPr algn="l"/>
            <a:r>
              <a:rPr sz="1200" b="0" i="0">
                <a:solidFill>
                  <a:srgbClr val="1E262B"/>
                </a:solidFill>
              </a:rPr>
              <a:t>A failed reaction does not reverse a valid action. Its failure is visible and retryable.</a:t>
            </a:r>
          </a:p>
        </p:txBody>
      </p:sp>
      <p:sp>
        <p:nvSpPr>
          <p:cNvPr id="25" name="Number"/>
          <p:cNvSpPr/>
          <p:nvPr/>
        </p:nvSpPr>
        <p:spPr>
          <a:xfrm>
            <a:off x="6217920" y="3602736"/>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umber"/>
          <p:cNvSpPr txBox="1"/>
          <p:nvPr/>
        </p:nvSpPr>
        <p:spPr>
          <a:xfrm>
            <a:off x="6217920" y="3602736"/>
            <a:ext cx="365760" cy="365760"/>
          </a:xfrm>
          <a:prstGeom prst="rect">
            <a:avLst/>
          </a:prstGeom>
          <a:noFill/>
        </p:spPr>
        <p:txBody>
          <a:bodyPr wrap="square" lIns="0" rIns="0" tIns="0" bIns="0" anchor="ctr">
            <a:spAutoFit/>
          </a:bodyPr>
          <a:lstStyle/>
          <a:p>
            <a:pPr algn="ctr"/>
            <a:r>
              <a:rPr sz="1300" b="1" i="0">
                <a:solidFill>
                  <a:srgbClr val="FFFFFF"/>
                </a:solidFill>
              </a:rPr>
              <a:t>6</a:t>
            </a:r>
          </a:p>
        </p:txBody>
      </p:sp>
      <p:sp>
        <p:nvSpPr>
          <p:cNvPr id="27" name="Text"/>
          <p:cNvSpPr txBox="1"/>
          <p:nvPr/>
        </p:nvSpPr>
        <p:spPr>
          <a:xfrm>
            <a:off x="6766559" y="3566160"/>
            <a:ext cx="4937760" cy="384048"/>
          </a:xfrm>
          <a:prstGeom prst="rect">
            <a:avLst/>
          </a:prstGeom>
          <a:noFill/>
        </p:spPr>
        <p:txBody>
          <a:bodyPr wrap="square" lIns="0" rIns="0" tIns="0" bIns="0" anchor="ctr">
            <a:spAutoFit/>
          </a:bodyPr>
          <a:lstStyle/>
          <a:p>
            <a:pPr algn="l"/>
            <a:r>
              <a:rPr sz="1400" b="1" i="0">
                <a:solidFill>
                  <a:srgbClr val="0B4A4A"/>
                </a:solidFill>
              </a:rPr>
              <a:t>Automation acts under a name and a grant</a:t>
            </a:r>
          </a:p>
        </p:txBody>
      </p:sp>
      <p:sp>
        <p:nvSpPr>
          <p:cNvPr id="28" name="Text"/>
          <p:cNvSpPr txBox="1"/>
          <p:nvPr/>
        </p:nvSpPr>
        <p:spPr>
          <a:xfrm>
            <a:off x="6766559" y="3968496"/>
            <a:ext cx="4937760" cy="640080"/>
          </a:xfrm>
          <a:prstGeom prst="rect">
            <a:avLst/>
          </a:prstGeom>
          <a:noFill/>
        </p:spPr>
        <p:txBody>
          <a:bodyPr wrap="square" lIns="0" rIns="0" tIns="0" bIns="0" anchor="t">
            <a:spAutoFit/>
          </a:bodyPr>
          <a:lstStyle/>
          <a:p>
            <a:pPr algn="l"/>
            <a:r>
              <a:rPr sz="1200" b="0" i="0">
                <a:solidFill>
                  <a:srgbClr val="1E262B"/>
                </a:solidFill>
              </a:rPr>
              <a:t>No anonymous 'System'. A named principal that may do exactly what its grant says.</a:t>
            </a:r>
          </a:p>
        </p:txBody>
      </p:sp>
      <p:sp>
        <p:nvSpPr>
          <p:cNvPr id="29" name="Number"/>
          <p:cNvSpPr/>
          <p:nvPr/>
        </p:nvSpPr>
        <p:spPr>
          <a:xfrm>
            <a:off x="548640" y="4700016"/>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Number"/>
          <p:cNvSpPr txBox="1"/>
          <p:nvPr/>
        </p:nvSpPr>
        <p:spPr>
          <a:xfrm>
            <a:off x="548640" y="4700016"/>
            <a:ext cx="365760" cy="365760"/>
          </a:xfrm>
          <a:prstGeom prst="rect">
            <a:avLst/>
          </a:prstGeom>
          <a:noFill/>
        </p:spPr>
        <p:txBody>
          <a:bodyPr wrap="square" lIns="0" rIns="0" tIns="0" bIns="0" anchor="ctr">
            <a:spAutoFit/>
          </a:bodyPr>
          <a:lstStyle/>
          <a:p>
            <a:pPr algn="ctr"/>
            <a:r>
              <a:rPr sz="1300" b="1" i="0">
                <a:solidFill>
                  <a:srgbClr val="FFFFFF"/>
                </a:solidFill>
              </a:rPr>
              <a:t>7</a:t>
            </a:r>
          </a:p>
        </p:txBody>
      </p:sp>
      <p:sp>
        <p:nvSpPr>
          <p:cNvPr id="31" name="Text"/>
          <p:cNvSpPr txBox="1"/>
          <p:nvPr/>
        </p:nvSpPr>
        <p:spPr>
          <a:xfrm>
            <a:off x="1097280" y="4663440"/>
            <a:ext cx="4937760" cy="384048"/>
          </a:xfrm>
          <a:prstGeom prst="rect">
            <a:avLst/>
          </a:prstGeom>
          <a:noFill/>
        </p:spPr>
        <p:txBody>
          <a:bodyPr wrap="square" lIns="0" rIns="0" tIns="0" bIns="0" anchor="ctr">
            <a:spAutoFit/>
          </a:bodyPr>
          <a:lstStyle/>
          <a:p>
            <a:pPr algn="l"/>
            <a:r>
              <a:rPr sz="1400" b="1" i="0">
                <a:solidFill>
                  <a:srgbClr val="0B4A4A"/>
                </a:solidFill>
              </a:rPr>
              <a:t>The screen holds no business rule</a:t>
            </a:r>
          </a:p>
        </p:txBody>
      </p:sp>
      <p:sp>
        <p:nvSpPr>
          <p:cNvPr id="32" name="Text"/>
          <p:cNvSpPr txBox="1"/>
          <p:nvPr/>
        </p:nvSpPr>
        <p:spPr>
          <a:xfrm>
            <a:off x="1097280" y="5065776"/>
            <a:ext cx="4937760" cy="640080"/>
          </a:xfrm>
          <a:prstGeom prst="rect">
            <a:avLst/>
          </a:prstGeom>
          <a:noFill/>
        </p:spPr>
        <p:txBody>
          <a:bodyPr wrap="square" lIns="0" rIns="0" tIns="0" bIns="0" anchor="t">
            <a:spAutoFit/>
          </a:bodyPr>
          <a:lstStyle/>
          <a:p>
            <a:pPr algn="l"/>
            <a:r>
              <a:rPr sz="1200" b="0" i="0">
                <a:solidFill>
                  <a:srgbClr val="1E262B"/>
                </a:solidFill>
              </a:rPr>
              <a:t>It asks the engine what is allowed, and why the rest is not.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Where Foundry and the POC baseline differ</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SHOWN, NOT SETTLED</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28</a:t>
            </a:r>
          </a:p>
        </p:txBody>
      </p:sp>
      <p:sp>
        <p:nvSpPr>
          <p:cNvPr id="5" name="Text"/>
          <p:cNvSpPr txBox="1"/>
          <p:nvPr/>
        </p:nvSpPr>
        <p:spPr>
          <a:xfrm>
            <a:off x="548640" y="1371600"/>
            <a:ext cx="1417320" cy="201168"/>
          </a:xfrm>
          <a:prstGeom prst="rect">
            <a:avLst/>
          </a:prstGeom>
          <a:noFill/>
        </p:spPr>
        <p:txBody>
          <a:bodyPr wrap="square" lIns="0" rIns="0" tIns="0" bIns="0" anchor="t">
            <a:spAutoFit/>
          </a:bodyPr>
          <a:lstStyle/>
          <a:p>
            <a:pPr algn="l"/>
            <a:r>
              <a:rPr sz="950" b="1" i="0">
                <a:solidFill>
                  <a:srgbClr val="5E6A71"/>
                </a:solidFill>
              </a:rPr>
              <a:t>TOPIC</a:t>
            </a:r>
          </a:p>
        </p:txBody>
      </p:sp>
      <p:sp>
        <p:nvSpPr>
          <p:cNvPr id="6" name="Text"/>
          <p:cNvSpPr txBox="1"/>
          <p:nvPr/>
        </p:nvSpPr>
        <p:spPr>
          <a:xfrm>
            <a:off x="2103120" y="1371600"/>
            <a:ext cx="3794759" cy="201168"/>
          </a:xfrm>
          <a:prstGeom prst="rect">
            <a:avLst/>
          </a:prstGeom>
          <a:noFill/>
        </p:spPr>
        <p:txBody>
          <a:bodyPr wrap="square" lIns="0" rIns="0" tIns="0" bIns="0" anchor="t">
            <a:spAutoFit/>
          </a:bodyPr>
          <a:lstStyle/>
          <a:p>
            <a:pPr algn="l"/>
            <a:r>
              <a:rPr sz="950" b="1" i="0">
                <a:solidFill>
                  <a:srgbClr val="5E6A71"/>
                </a:solidFill>
              </a:rPr>
              <a:t>FOUNDRY</a:t>
            </a:r>
          </a:p>
        </p:txBody>
      </p:sp>
      <p:sp>
        <p:nvSpPr>
          <p:cNvPr id="7" name="Text"/>
          <p:cNvSpPr txBox="1"/>
          <p:nvPr/>
        </p:nvSpPr>
        <p:spPr>
          <a:xfrm>
            <a:off x="6035040" y="1371600"/>
            <a:ext cx="3794759" cy="201168"/>
          </a:xfrm>
          <a:prstGeom prst="rect">
            <a:avLst/>
          </a:prstGeom>
          <a:noFill/>
        </p:spPr>
        <p:txBody>
          <a:bodyPr wrap="square" lIns="0" rIns="0" tIns="0" bIns="0" anchor="t">
            <a:spAutoFit/>
          </a:bodyPr>
          <a:lstStyle/>
          <a:p>
            <a:pPr algn="l"/>
            <a:r>
              <a:rPr sz="950" b="1" i="0">
                <a:solidFill>
                  <a:srgbClr val="5E6A71"/>
                </a:solidFill>
              </a:rPr>
              <a:t>POC BASELINE</a:t>
            </a:r>
          </a:p>
        </p:txBody>
      </p:sp>
      <p:sp>
        <p:nvSpPr>
          <p:cNvPr id="8" name="Text"/>
          <p:cNvSpPr txBox="1"/>
          <p:nvPr/>
        </p:nvSpPr>
        <p:spPr>
          <a:xfrm>
            <a:off x="9966959" y="1371600"/>
            <a:ext cx="1536192" cy="201168"/>
          </a:xfrm>
          <a:prstGeom prst="rect">
            <a:avLst/>
          </a:prstGeom>
          <a:noFill/>
        </p:spPr>
        <p:txBody>
          <a:bodyPr wrap="square" lIns="0" rIns="0" tIns="0" bIns="0" anchor="t">
            <a:spAutoFit/>
          </a:bodyPr>
          <a:lstStyle/>
          <a:p>
            <a:pPr algn="l"/>
            <a:r>
              <a:rPr sz="950" b="1" i="0">
                <a:solidFill>
                  <a:srgbClr val="5E6A71"/>
                </a:solidFill>
              </a:rPr>
              <a:t>CONCEPT</a:t>
            </a:r>
          </a:p>
        </p:txBody>
      </p:sp>
      <p:cxnSp>
        <p:nvCxnSpPr>
          <p:cNvPr id="9" name="Connector 8"/>
          <p:cNvCxnSpPr/>
          <p:nvPr/>
        </p:nvCxnSpPr>
        <p:spPr>
          <a:xfrm>
            <a:off x="548640" y="164592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0" name="Text"/>
          <p:cNvSpPr txBox="1"/>
          <p:nvPr/>
        </p:nvSpPr>
        <p:spPr>
          <a:xfrm>
            <a:off x="548640" y="1700784"/>
            <a:ext cx="1417320" cy="676656"/>
          </a:xfrm>
          <a:prstGeom prst="rect">
            <a:avLst/>
          </a:prstGeom>
          <a:noFill/>
        </p:spPr>
        <p:txBody>
          <a:bodyPr wrap="square" lIns="0" rIns="0" tIns="0" bIns="0" anchor="ctr">
            <a:spAutoFit/>
          </a:bodyPr>
          <a:lstStyle/>
          <a:p>
            <a:pPr algn="l"/>
            <a:r>
              <a:rPr sz="1100" b="1" i="0">
                <a:solidFill>
                  <a:srgbClr val="1E262B"/>
                </a:solidFill>
              </a:rPr>
              <a:t>Delivery</a:t>
            </a:r>
          </a:p>
        </p:txBody>
      </p:sp>
      <p:sp>
        <p:nvSpPr>
          <p:cNvPr id="11" name="Text"/>
          <p:cNvSpPr txBox="1"/>
          <p:nvPr/>
        </p:nvSpPr>
        <p:spPr>
          <a:xfrm>
            <a:off x="2103120" y="1700784"/>
            <a:ext cx="3794759" cy="676656"/>
          </a:xfrm>
          <a:prstGeom prst="rect">
            <a:avLst/>
          </a:prstGeom>
          <a:noFill/>
        </p:spPr>
        <p:txBody>
          <a:bodyPr wrap="square" lIns="0" rIns="0" tIns="0" bIns="0" anchor="ctr">
            <a:spAutoFit/>
          </a:bodyPr>
          <a:lstStyle/>
          <a:p>
            <a:pPr algn="l"/>
            <a:r>
              <a:rPr sz="1100" b="0" i="0">
                <a:solidFill>
                  <a:srgbClr val="1E262B"/>
                </a:solidFill>
              </a:rPr>
              <a:t>the event is committed as a publication intent; the platform takes custody; delivered at least once; one broker path in v1</a:t>
            </a:r>
          </a:p>
        </p:txBody>
      </p:sp>
      <p:sp>
        <p:nvSpPr>
          <p:cNvPr id="12" name="Text"/>
          <p:cNvSpPr txBox="1"/>
          <p:nvPr/>
        </p:nvSpPr>
        <p:spPr>
          <a:xfrm>
            <a:off x="6035040" y="1700784"/>
            <a:ext cx="3794759" cy="676656"/>
          </a:xfrm>
          <a:prstGeom prst="rect">
            <a:avLst/>
          </a:prstGeom>
          <a:noFill/>
        </p:spPr>
        <p:txBody>
          <a:bodyPr wrap="square" lIns="0" rIns="0" tIns="0" bIns="0" anchor="ctr">
            <a:spAutoFit/>
          </a:bodyPr>
          <a:lstStyle/>
          <a:p>
            <a:pPr algn="l"/>
            <a:r>
              <a:rPr sz="1100" b="0" i="0">
                <a:solidFill>
                  <a:srgbClr val="1E262B"/>
                </a:solidFill>
              </a:rPr>
              <a:t>a PostgreSQL outbox and an embedded dispatcher; explicitly no broker. The lead's note says 'event broker': tomorrow says which</a:t>
            </a:r>
          </a:p>
        </p:txBody>
      </p:sp>
      <p:sp>
        <p:nvSpPr>
          <p:cNvPr id="13" name="Text"/>
          <p:cNvSpPr txBox="1"/>
          <p:nvPr/>
        </p:nvSpPr>
        <p:spPr>
          <a:xfrm>
            <a:off x="9966959" y="1700784"/>
            <a:ext cx="1536192" cy="676656"/>
          </a:xfrm>
          <a:prstGeom prst="rect">
            <a:avLst/>
          </a:prstGeom>
          <a:noFill/>
        </p:spPr>
        <p:txBody>
          <a:bodyPr wrap="square" lIns="0" rIns="0" tIns="0" bIns="0" anchor="ctr">
            <a:spAutoFit/>
          </a:bodyPr>
          <a:lstStyle/>
          <a:p>
            <a:pPr algn="l"/>
            <a:r>
              <a:rPr sz="1100" b="0" i="0">
                <a:solidFill>
                  <a:srgbClr val="0B6463"/>
                </a:solidFill>
              </a:rPr>
              <a:t>same</a:t>
            </a:r>
          </a:p>
        </p:txBody>
      </p:sp>
      <p:cxnSp>
        <p:nvCxnSpPr>
          <p:cNvPr id="14" name="Connector 13"/>
          <p:cNvCxnSpPr/>
          <p:nvPr/>
        </p:nvCxnSpPr>
        <p:spPr>
          <a:xfrm>
            <a:off x="548640" y="2395728"/>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15" name="Text"/>
          <p:cNvSpPr txBox="1"/>
          <p:nvPr/>
        </p:nvSpPr>
        <p:spPr>
          <a:xfrm>
            <a:off x="548640" y="2450592"/>
            <a:ext cx="1417320" cy="676656"/>
          </a:xfrm>
          <a:prstGeom prst="rect">
            <a:avLst/>
          </a:prstGeom>
          <a:noFill/>
        </p:spPr>
        <p:txBody>
          <a:bodyPr wrap="square" lIns="0" rIns="0" tIns="0" bIns="0" anchor="ctr">
            <a:spAutoFit/>
          </a:bodyPr>
          <a:lstStyle/>
          <a:p>
            <a:pPr algn="l"/>
            <a:r>
              <a:rPr sz="1100" b="1" i="0">
                <a:solidFill>
                  <a:srgbClr val="1E262B"/>
                </a:solidFill>
              </a:rPr>
              <a:t>Code</a:t>
            </a:r>
          </a:p>
        </p:txBody>
      </p:sp>
      <p:sp>
        <p:nvSpPr>
          <p:cNvPr id="16" name="Text"/>
          <p:cNvSpPr txBox="1"/>
          <p:nvPr/>
        </p:nvSpPr>
        <p:spPr>
          <a:xfrm>
            <a:off x="2103120" y="2450592"/>
            <a:ext cx="3794759" cy="676656"/>
          </a:xfrm>
          <a:prstGeom prst="rect">
            <a:avLst/>
          </a:prstGeom>
          <a:noFill/>
        </p:spPr>
        <p:txBody>
          <a:bodyPr wrap="square" lIns="0" rIns="0" tIns="0" bIns="0" anchor="ctr">
            <a:spAutoFit/>
          </a:bodyPr>
          <a:lstStyle/>
          <a:p>
            <a:pPr algn="l"/>
            <a:r>
              <a:rPr sz="1100" b="0" i="0">
                <a:solidFill>
                  <a:srgbClr val="1E262B"/>
                </a:solidFill>
              </a:rPr>
              <a:t>the domain core is generated from the specification</a:t>
            </a:r>
          </a:p>
        </p:txBody>
      </p:sp>
      <p:sp>
        <p:nvSpPr>
          <p:cNvPr id="17" name="Text"/>
          <p:cNvSpPr txBox="1"/>
          <p:nvPr/>
        </p:nvSpPr>
        <p:spPr>
          <a:xfrm>
            <a:off x="6035040" y="2450592"/>
            <a:ext cx="3794759" cy="676656"/>
          </a:xfrm>
          <a:prstGeom prst="rect">
            <a:avLst/>
          </a:prstGeom>
          <a:noFill/>
        </p:spPr>
        <p:txBody>
          <a:bodyPr wrap="square" lIns="0" rIns="0" tIns="0" bIns="0" anchor="ctr">
            <a:spAutoFit/>
          </a:bodyPr>
          <a:lstStyle/>
          <a:p>
            <a:pPr algn="l"/>
            <a:r>
              <a:rPr sz="1100" b="0" i="0">
                <a:solidFill>
                  <a:srgbClr val="1E262B"/>
                </a:solidFill>
              </a:rPr>
              <a:t>hand-written FastAPI, on Foundry-like principles; generation from the frontend schema not finalized (22 Oct)</a:t>
            </a:r>
          </a:p>
        </p:txBody>
      </p:sp>
      <p:sp>
        <p:nvSpPr>
          <p:cNvPr id="18" name="Text"/>
          <p:cNvSpPr txBox="1"/>
          <p:nvPr/>
        </p:nvSpPr>
        <p:spPr>
          <a:xfrm>
            <a:off x="9966959" y="2450592"/>
            <a:ext cx="1536192" cy="676656"/>
          </a:xfrm>
          <a:prstGeom prst="rect">
            <a:avLst/>
          </a:prstGeom>
          <a:noFill/>
        </p:spPr>
        <p:txBody>
          <a:bodyPr wrap="square" lIns="0" rIns="0" tIns="0" bIns="0" anchor="ctr">
            <a:spAutoFit/>
          </a:bodyPr>
          <a:lstStyle/>
          <a:p>
            <a:pPr algn="l"/>
            <a:r>
              <a:rPr sz="1100" b="0" i="0">
                <a:solidFill>
                  <a:srgbClr val="0B6463"/>
                </a:solidFill>
              </a:rPr>
              <a:t>same</a:t>
            </a:r>
          </a:p>
        </p:txBody>
      </p:sp>
      <p:cxnSp>
        <p:nvCxnSpPr>
          <p:cNvPr id="19" name="Connector 18"/>
          <p:cNvCxnSpPr/>
          <p:nvPr/>
        </p:nvCxnSpPr>
        <p:spPr>
          <a:xfrm>
            <a:off x="548640" y="3145536"/>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0" name="Text"/>
          <p:cNvSpPr txBox="1"/>
          <p:nvPr/>
        </p:nvSpPr>
        <p:spPr>
          <a:xfrm>
            <a:off x="548640" y="3200400"/>
            <a:ext cx="1417320" cy="676656"/>
          </a:xfrm>
          <a:prstGeom prst="rect">
            <a:avLst/>
          </a:prstGeom>
          <a:noFill/>
        </p:spPr>
        <p:txBody>
          <a:bodyPr wrap="square" lIns="0" rIns="0" tIns="0" bIns="0" anchor="ctr">
            <a:spAutoFit/>
          </a:bodyPr>
          <a:lstStyle/>
          <a:p>
            <a:pPr algn="l"/>
            <a:r>
              <a:rPr sz="1100" b="1" i="0">
                <a:solidFill>
                  <a:srgbClr val="1E262B"/>
                </a:solidFill>
              </a:rPr>
              <a:t>Queries</a:t>
            </a:r>
          </a:p>
        </p:txBody>
      </p:sp>
      <p:sp>
        <p:nvSpPr>
          <p:cNvPr id="21" name="Text"/>
          <p:cNvSpPr txBox="1"/>
          <p:nvPr/>
        </p:nvSpPr>
        <p:spPr>
          <a:xfrm>
            <a:off x="2103120" y="3200400"/>
            <a:ext cx="3794759" cy="676656"/>
          </a:xfrm>
          <a:prstGeom prst="rect">
            <a:avLst/>
          </a:prstGeom>
          <a:noFill/>
        </p:spPr>
        <p:txBody>
          <a:bodyPr wrap="square" lIns="0" rIns="0" tIns="0" bIns="0" anchor="ctr">
            <a:spAutoFit/>
          </a:bodyPr>
          <a:lstStyle/>
          <a:p>
            <a:pPr algn="l"/>
            <a:r>
              <a:rPr sz="1100" b="0" i="0">
                <a:solidFill>
                  <a:srgbClr val="1E262B"/>
                </a:solidFill>
              </a:rPr>
              <a:t>owned by the specification; run by a certified Query Runtime across contexts</a:t>
            </a:r>
          </a:p>
        </p:txBody>
      </p:sp>
      <p:sp>
        <p:nvSpPr>
          <p:cNvPr id="22" name="Text"/>
          <p:cNvSpPr txBox="1"/>
          <p:nvPr/>
        </p:nvSpPr>
        <p:spPr>
          <a:xfrm>
            <a:off x="6035040" y="3200400"/>
            <a:ext cx="3794759" cy="676656"/>
          </a:xfrm>
          <a:prstGeom prst="rect">
            <a:avLst/>
          </a:prstGeom>
          <a:noFill/>
        </p:spPr>
        <p:txBody>
          <a:bodyPr wrap="square" lIns="0" rIns="0" tIns="0" bIns="0" anchor="ctr">
            <a:spAutoFit/>
          </a:bodyPr>
          <a:lstStyle/>
          <a:p>
            <a:pPr algn="l"/>
            <a:r>
              <a:rPr sz="1100" b="0" i="0">
                <a:solidFill>
                  <a:srgbClr val="1E262B"/>
                </a:solidFill>
              </a:rPr>
              <a:t>read endpoints in each capability; experiences compose the contracts</a:t>
            </a:r>
          </a:p>
        </p:txBody>
      </p:sp>
      <p:sp>
        <p:nvSpPr>
          <p:cNvPr id="23" name="Text"/>
          <p:cNvSpPr txBox="1"/>
          <p:nvPr/>
        </p:nvSpPr>
        <p:spPr>
          <a:xfrm>
            <a:off x="9966959" y="3200400"/>
            <a:ext cx="1536192" cy="676656"/>
          </a:xfrm>
          <a:prstGeom prst="rect">
            <a:avLst/>
          </a:prstGeom>
          <a:noFill/>
        </p:spPr>
        <p:txBody>
          <a:bodyPr wrap="square" lIns="0" rIns="0" tIns="0" bIns="0" anchor="ctr">
            <a:spAutoFit/>
          </a:bodyPr>
          <a:lstStyle/>
          <a:p>
            <a:pPr algn="l"/>
            <a:r>
              <a:rPr sz="1100" b="0" i="0">
                <a:solidFill>
                  <a:srgbClr val="0B6463"/>
                </a:solidFill>
              </a:rPr>
              <a:t>same</a:t>
            </a:r>
          </a:p>
        </p:txBody>
      </p:sp>
      <p:cxnSp>
        <p:nvCxnSpPr>
          <p:cNvPr id="24" name="Connector 23"/>
          <p:cNvCxnSpPr/>
          <p:nvPr/>
        </p:nvCxnSpPr>
        <p:spPr>
          <a:xfrm>
            <a:off x="548640" y="3895344"/>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25" name="Text"/>
          <p:cNvSpPr txBox="1"/>
          <p:nvPr/>
        </p:nvSpPr>
        <p:spPr>
          <a:xfrm>
            <a:off x="548640" y="3950207"/>
            <a:ext cx="1417320" cy="676656"/>
          </a:xfrm>
          <a:prstGeom prst="rect">
            <a:avLst/>
          </a:prstGeom>
          <a:noFill/>
        </p:spPr>
        <p:txBody>
          <a:bodyPr wrap="square" lIns="0" rIns="0" tIns="0" bIns="0" anchor="ctr">
            <a:spAutoFit/>
          </a:bodyPr>
          <a:lstStyle/>
          <a:p>
            <a:pPr algn="l"/>
            <a:r>
              <a:rPr sz="1100" b="1" i="0">
                <a:solidFill>
                  <a:srgbClr val="1E262B"/>
                </a:solidFill>
              </a:rPr>
              <a:t>Receipts</a:t>
            </a:r>
          </a:p>
        </p:txBody>
      </p:sp>
      <p:sp>
        <p:nvSpPr>
          <p:cNvPr id="26" name="Text"/>
          <p:cNvSpPr txBox="1"/>
          <p:nvPr/>
        </p:nvSpPr>
        <p:spPr>
          <a:xfrm>
            <a:off x="2103120" y="3950207"/>
            <a:ext cx="3794759" cy="676656"/>
          </a:xfrm>
          <a:prstGeom prst="rect">
            <a:avLst/>
          </a:prstGeom>
          <a:noFill/>
        </p:spPr>
        <p:txBody>
          <a:bodyPr wrap="square" lIns="0" rIns="0" tIns="0" bIns="0" anchor="ctr">
            <a:spAutoFit/>
          </a:bodyPr>
          <a:lstStyle/>
          <a:p>
            <a:pPr algn="l"/>
            <a:r>
              <a:rPr sz="1100" b="0" i="0">
                <a:solidFill>
                  <a:srgbClr val="1E262B"/>
                </a:solidFill>
              </a:rPr>
              <a:t>every call has an invocation identity and a receipt, committed with the effect</a:t>
            </a:r>
          </a:p>
        </p:txBody>
      </p:sp>
      <p:sp>
        <p:nvSpPr>
          <p:cNvPr id="27" name="Text"/>
          <p:cNvSpPr txBox="1"/>
          <p:nvPr/>
        </p:nvSpPr>
        <p:spPr>
          <a:xfrm>
            <a:off x="6035040" y="3950207"/>
            <a:ext cx="3794759" cy="676656"/>
          </a:xfrm>
          <a:prstGeom prst="rect">
            <a:avLst/>
          </a:prstGeom>
          <a:noFill/>
        </p:spPr>
        <p:txBody>
          <a:bodyPr wrap="square" lIns="0" rIns="0" tIns="0" bIns="0" anchor="ctr">
            <a:spAutoFit/>
          </a:bodyPr>
          <a:lstStyle/>
          <a:p>
            <a:pPr algn="l"/>
            <a:r>
              <a:rPr sz="1100" b="0" i="0">
                <a:solidFill>
                  <a:srgbClr val="1E262B"/>
                </a:solidFill>
              </a:rPr>
              <a:t>not stated; reactions must be safe to retry</a:t>
            </a:r>
          </a:p>
        </p:txBody>
      </p:sp>
      <p:sp>
        <p:nvSpPr>
          <p:cNvPr id="28" name="Text"/>
          <p:cNvSpPr txBox="1"/>
          <p:nvPr/>
        </p:nvSpPr>
        <p:spPr>
          <a:xfrm>
            <a:off x="9966959" y="3950207"/>
            <a:ext cx="1536192" cy="676656"/>
          </a:xfrm>
          <a:prstGeom prst="rect">
            <a:avLst/>
          </a:prstGeom>
          <a:noFill/>
        </p:spPr>
        <p:txBody>
          <a:bodyPr wrap="square" lIns="0" rIns="0" tIns="0" bIns="0" anchor="ctr">
            <a:spAutoFit/>
          </a:bodyPr>
          <a:lstStyle/>
          <a:p>
            <a:pPr algn="l"/>
            <a:r>
              <a:rPr sz="1100" b="0" i="0">
                <a:solidFill>
                  <a:srgbClr val="B3362B"/>
                </a:solidFill>
              </a:rPr>
              <a:t>gap</a:t>
            </a:r>
          </a:p>
        </p:txBody>
      </p:sp>
      <p:cxnSp>
        <p:nvCxnSpPr>
          <p:cNvPr id="29" name="Connector 28"/>
          <p:cNvCxnSpPr/>
          <p:nvPr/>
        </p:nvCxnSpPr>
        <p:spPr>
          <a:xfrm>
            <a:off x="548640" y="4645152"/>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0" name="Text"/>
          <p:cNvSpPr txBox="1"/>
          <p:nvPr/>
        </p:nvSpPr>
        <p:spPr>
          <a:xfrm>
            <a:off x="548640" y="4700016"/>
            <a:ext cx="1417320" cy="676656"/>
          </a:xfrm>
          <a:prstGeom prst="rect">
            <a:avLst/>
          </a:prstGeom>
          <a:noFill/>
        </p:spPr>
        <p:txBody>
          <a:bodyPr wrap="square" lIns="0" rIns="0" tIns="0" bIns="0" anchor="ctr">
            <a:spAutoFit/>
          </a:bodyPr>
          <a:lstStyle/>
          <a:p>
            <a:pPr algn="l"/>
            <a:r>
              <a:rPr sz="1100" b="1" i="0">
                <a:solidFill>
                  <a:srgbClr val="1E262B"/>
                </a:solidFill>
              </a:rPr>
              <a:t>Authority</a:t>
            </a:r>
          </a:p>
        </p:txBody>
      </p:sp>
      <p:sp>
        <p:nvSpPr>
          <p:cNvPr id="31" name="Text"/>
          <p:cNvSpPr txBox="1"/>
          <p:nvPr/>
        </p:nvSpPr>
        <p:spPr>
          <a:xfrm>
            <a:off x="2103120" y="4700016"/>
            <a:ext cx="3794759" cy="676656"/>
          </a:xfrm>
          <a:prstGeom prst="rect">
            <a:avLst/>
          </a:prstGeom>
          <a:noFill/>
        </p:spPr>
        <p:txBody>
          <a:bodyPr wrap="square" lIns="0" rIns="0" tIns="0" bIns="0" anchor="ctr">
            <a:spAutoFit/>
          </a:bodyPr>
          <a:lstStyle/>
          <a:p>
            <a:pPr algn="l"/>
            <a:r>
              <a:rPr sz="1100" b="0" i="0">
                <a:solidFill>
                  <a:srgbClr val="1E262B"/>
                </a:solidFill>
              </a:rPr>
              <a:t>a person by position via HR; named automation principals; computed at each call</a:t>
            </a:r>
          </a:p>
        </p:txBody>
      </p:sp>
      <p:sp>
        <p:nvSpPr>
          <p:cNvPr id="32" name="Text"/>
          <p:cNvSpPr txBox="1"/>
          <p:nvPr/>
        </p:nvSpPr>
        <p:spPr>
          <a:xfrm>
            <a:off x="6035040" y="4700016"/>
            <a:ext cx="3794759" cy="676656"/>
          </a:xfrm>
          <a:prstGeom prst="rect">
            <a:avLst/>
          </a:prstGeom>
          <a:noFill/>
        </p:spPr>
        <p:txBody>
          <a:bodyPr wrap="square" lIns="0" rIns="0" tIns="0" bIns="0" anchor="ctr">
            <a:spAutoFit/>
          </a:bodyPr>
          <a:lstStyle/>
          <a:p>
            <a:pPr algn="l"/>
            <a:r>
              <a:rPr sz="1100" b="0" i="0">
                <a:solidFill>
                  <a:srgbClr val="1E262B"/>
                </a:solidFill>
              </a:rPr>
              <a:t>foundation/authority, empty today</a:t>
            </a:r>
          </a:p>
        </p:txBody>
      </p:sp>
      <p:sp>
        <p:nvSpPr>
          <p:cNvPr id="33" name="Text"/>
          <p:cNvSpPr txBox="1"/>
          <p:nvPr/>
        </p:nvSpPr>
        <p:spPr>
          <a:xfrm>
            <a:off x="9966959" y="4700016"/>
            <a:ext cx="1536192" cy="676656"/>
          </a:xfrm>
          <a:prstGeom prst="rect">
            <a:avLst/>
          </a:prstGeom>
          <a:noFill/>
        </p:spPr>
        <p:txBody>
          <a:bodyPr wrap="square" lIns="0" rIns="0" tIns="0" bIns="0" anchor="ctr">
            <a:spAutoFit/>
          </a:bodyPr>
          <a:lstStyle/>
          <a:p>
            <a:pPr algn="l"/>
            <a:r>
              <a:rPr sz="1100" b="0" i="0">
                <a:solidFill>
                  <a:srgbClr val="B3362B"/>
                </a:solidFill>
              </a:rPr>
              <a:t>gap</a:t>
            </a:r>
          </a:p>
        </p:txBody>
      </p:sp>
      <p:cxnSp>
        <p:nvCxnSpPr>
          <p:cNvPr id="34" name="Connector 33"/>
          <p:cNvCxnSpPr/>
          <p:nvPr/>
        </p:nvCxnSpPr>
        <p:spPr>
          <a:xfrm>
            <a:off x="548640" y="5394960"/>
            <a:ext cx="11091672" cy="0"/>
          </a:xfrm>
          <a:prstGeom prst="line">
            <a:avLst/>
          </a:prstGeom>
          <a:ln w="9525">
            <a:solidFill>
              <a:srgbClr val="D9E0E3"/>
            </a:solidFill>
          </a:ln>
        </p:spPr>
        <p:style>
          <a:lnRef idx="2">
            <a:schemeClr val="accent1"/>
          </a:lnRef>
          <a:fillRef idx="0">
            <a:schemeClr val="accent1"/>
          </a:fillRef>
          <a:effectRef idx="1">
            <a:schemeClr val="accent1"/>
          </a:effectRef>
          <a:fontRef idx="minor">
            <a:schemeClr val="tx1"/>
          </a:fontRef>
        </p:style>
      </p:cxnSp>
      <p:sp>
        <p:nvSpPr>
          <p:cNvPr id="35" name="Finding"/>
          <p:cNvSpPr/>
          <p:nvPr/>
        </p:nvSpPr>
        <p:spPr>
          <a:xfrm>
            <a:off x="548640" y="5532120"/>
            <a:ext cx="11091672" cy="50292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
          <p:cNvSpPr txBox="1"/>
          <p:nvPr/>
        </p:nvSpPr>
        <p:spPr>
          <a:xfrm>
            <a:off x="822960" y="5532120"/>
            <a:ext cx="10543032" cy="502920"/>
          </a:xfrm>
          <a:prstGeom prst="rect">
            <a:avLst/>
          </a:prstGeom>
          <a:noFill/>
        </p:spPr>
        <p:txBody>
          <a:bodyPr wrap="square" lIns="0" rIns="0" tIns="0" bIns="0" anchor="ctr">
            <a:spAutoFit/>
          </a:bodyPr>
          <a:lstStyle/>
          <a:p>
            <a:pPr algn="l"/>
            <a:r>
              <a:rPr sz="1350" b="1" i="0">
                <a:solidFill>
                  <a:srgbClr val="1E262B"/>
                </a:solidFill>
              </a:rPr>
              <a:t>Same concepts, thinner machinery.  </a:t>
            </a:r>
            <a:r>
              <a:rPr sz="1350" b="0" i="0">
                <a:solidFill>
                  <a:srgbClr val="1E262B"/>
                </a:solidFill>
              </a:rPr>
              <a:t>Three rows differ only in machinery. Two are gaps the POC has not filled yet. None is settled here.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What the team still has to decide</a:t>
            </a:r>
          </a:p>
        </p:txBody>
      </p:sp>
      <p:sp>
        <p:nvSpPr>
          <p:cNvPr id="3" name="Eyebrow"/>
          <p:cNvSpPr txBox="1"/>
          <p:nvPr/>
        </p:nvSpPr>
        <p:spPr>
          <a:xfrm>
            <a:off x="548640" y="338328"/>
            <a:ext cx="11091672" cy="182880"/>
          </a:xfrm>
          <a:prstGeom prst="rect">
            <a:avLst/>
          </a:prstGeom>
          <a:noFill/>
        </p:spPr>
        <p:txBody>
          <a:bodyPr wrap="square" lIns="0" rIns="0" tIns="0" bIns="0" anchor="t">
            <a:spAutoFit/>
          </a:bodyPr>
          <a:lstStyle/>
          <a:p>
            <a:pPr algn="l"/>
            <a:r>
              <a:rPr sz="1000" b="1" i="0">
                <a:solidFill>
                  <a:srgbClr val="0B6463"/>
                </a:solidFill>
              </a:rPr>
              <a:t>OPEN</a:t>
            </a:r>
          </a:p>
        </p:txBody>
      </p:sp>
      <p:sp>
        <p:nvSpPr>
          <p:cNvPr id="4" name="Page"/>
          <p:cNvSpPr txBox="1"/>
          <p:nvPr/>
        </p:nvSpPr>
        <p:spPr>
          <a:xfrm>
            <a:off x="10725912" y="6382512"/>
            <a:ext cx="914400" cy="256032"/>
          </a:xfrm>
          <a:prstGeom prst="rect">
            <a:avLst/>
          </a:prstGeom>
          <a:noFill/>
        </p:spPr>
        <p:txBody>
          <a:bodyPr wrap="square" lIns="0" rIns="0" tIns="0" bIns="0" anchor="t">
            <a:spAutoFit/>
          </a:bodyPr>
          <a:lstStyle/>
          <a:p>
            <a:pPr algn="r"/>
            <a:r>
              <a:rPr sz="1000" b="0" i="0">
                <a:solidFill>
                  <a:srgbClr val="5E6A71"/>
                </a:solidFill>
              </a:rPr>
              <a:t>29</a:t>
            </a:r>
          </a:p>
        </p:txBody>
      </p:sp>
      <p:sp>
        <p:nvSpPr>
          <p:cNvPr id="5" name="Number"/>
          <p:cNvSpPr/>
          <p:nvPr/>
        </p:nvSpPr>
        <p:spPr>
          <a:xfrm>
            <a:off x="548640" y="1408176"/>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Number"/>
          <p:cNvSpPr txBox="1"/>
          <p:nvPr/>
        </p:nvSpPr>
        <p:spPr>
          <a:xfrm>
            <a:off x="548640" y="1408176"/>
            <a:ext cx="365760" cy="365760"/>
          </a:xfrm>
          <a:prstGeom prst="rect">
            <a:avLst/>
          </a:prstGeom>
          <a:noFill/>
        </p:spPr>
        <p:txBody>
          <a:bodyPr wrap="square" lIns="0" rIns="0" tIns="0" bIns="0" anchor="ctr">
            <a:spAutoFit/>
          </a:bodyPr>
          <a:lstStyle/>
          <a:p>
            <a:pPr algn="ctr"/>
            <a:r>
              <a:rPr sz="1300" b="1" i="0">
                <a:solidFill>
                  <a:srgbClr val="FFFFFF"/>
                </a:solidFill>
              </a:rPr>
              <a:t>1</a:t>
            </a:r>
          </a:p>
        </p:txBody>
      </p:sp>
      <p:sp>
        <p:nvSpPr>
          <p:cNvPr id="7" name="Text"/>
          <p:cNvSpPr txBox="1"/>
          <p:nvPr/>
        </p:nvSpPr>
        <p:spPr>
          <a:xfrm>
            <a:off x="1097280" y="1371600"/>
            <a:ext cx="4937760" cy="384048"/>
          </a:xfrm>
          <a:prstGeom prst="rect">
            <a:avLst/>
          </a:prstGeom>
          <a:noFill/>
        </p:spPr>
        <p:txBody>
          <a:bodyPr wrap="square" lIns="0" rIns="0" tIns="0" bIns="0" anchor="ctr">
            <a:spAutoFit/>
          </a:bodyPr>
          <a:lstStyle/>
          <a:p>
            <a:pPr algn="l"/>
            <a:r>
              <a:rPr sz="1400" b="1" i="0">
                <a:solidFill>
                  <a:srgbClr val="0B4A4A"/>
                </a:solidFill>
              </a:rPr>
              <a:t>Outbox or broker</a:t>
            </a:r>
          </a:p>
        </p:txBody>
      </p:sp>
      <p:sp>
        <p:nvSpPr>
          <p:cNvPr id="8" name="Text"/>
          <p:cNvSpPr txBox="1"/>
          <p:nvPr/>
        </p:nvSpPr>
        <p:spPr>
          <a:xfrm>
            <a:off x="1097280" y="1773936"/>
            <a:ext cx="4937760" cy="822960"/>
          </a:xfrm>
          <a:prstGeom prst="rect">
            <a:avLst/>
          </a:prstGeom>
          <a:noFill/>
        </p:spPr>
        <p:txBody>
          <a:bodyPr wrap="square" lIns="0" rIns="0" tIns="0" bIns="0" anchor="t">
            <a:spAutoFit/>
          </a:bodyPr>
          <a:lstStyle/>
          <a:p>
            <a:pPr algn="l"/>
            <a:r>
              <a:rPr sz="1200" b="0" i="0">
                <a:solidFill>
                  <a:srgbClr val="1E262B"/>
                </a:solidFill>
              </a:rPr>
              <a:t>Who guarantees exactly one effect per event occurrence, and what the dispatcher records.</a:t>
            </a:r>
          </a:p>
        </p:txBody>
      </p:sp>
      <p:sp>
        <p:nvSpPr>
          <p:cNvPr id="9" name="Number"/>
          <p:cNvSpPr/>
          <p:nvPr/>
        </p:nvSpPr>
        <p:spPr>
          <a:xfrm>
            <a:off x="6217920" y="1408176"/>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umber"/>
          <p:cNvSpPr txBox="1"/>
          <p:nvPr/>
        </p:nvSpPr>
        <p:spPr>
          <a:xfrm>
            <a:off x="6217920" y="1408176"/>
            <a:ext cx="365760" cy="365760"/>
          </a:xfrm>
          <a:prstGeom prst="rect">
            <a:avLst/>
          </a:prstGeom>
          <a:noFill/>
        </p:spPr>
        <p:txBody>
          <a:bodyPr wrap="square" lIns="0" rIns="0" tIns="0" bIns="0" anchor="ctr">
            <a:spAutoFit/>
          </a:bodyPr>
          <a:lstStyle/>
          <a:p>
            <a:pPr algn="ctr"/>
            <a:r>
              <a:rPr sz="1300" b="1" i="0">
                <a:solidFill>
                  <a:srgbClr val="FFFFFF"/>
                </a:solidFill>
              </a:rPr>
              <a:t>2</a:t>
            </a:r>
          </a:p>
        </p:txBody>
      </p:sp>
      <p:sp>
        <p:nvSpPr>
          <p:cNvPr id="11" name="Text"/>
          <p:cNvSpPr txBox="1"/>
          <p:nvPr/>
        </p:nvSpPr>
        <p:spPr>
          <a:xfrm>
            <a:off x="6766559" y="1371600"/>
            <a:ext cx="4937760" cy="384048"/>
          </a:xfrm>
          <a:prstGeom prst="rect">
            <a:avLst/>
          </a:prstGeom>
          <a:noFill/>
        </p:spPr>
        <p:txBody>
          <a:bodyPr wrap="square" lIns="0" rIns="0" tIns="0" bIns="0" anchor="ctr">
            <a:spAutoFit/>
          </a:bodyPr>
          <a:lstStyle/>
          <a:p>
            <a:pPr algn="l"/>
            <a:r>
              <a:rPr sz="1400" b="1" i="0">
                <a:solidFill>
                  <a:srgbClr val="0B4A4A"/>
                </a:solidFill>
              </a:rPr>
              <a:t>Hand-written or generated</a:t>
            </a:r>
          </a:p>
        </p:txBody>
      </p:sp>
      <p:sp>
        <p:nvSpPr>
          <p:cNvPr id="12" name="Text"/>
          <p:cNvSpPr txBox="1"/>
          <p:nvPr/>
        </p:nvSpPr>
        <p:spPr>
          <a:xfrm>
            <a:off x="6766559" y="1773936"/>
            <a:ext cx="4937760" cy="822960"/>
          </a:xfrm>
          <a:prstGeom prst="rect">
            <a:avLst/>
          </a:prstGeom>
          <a:noFill/>
        </p:spPr>
        <p:txBody>
          <a:bodyPr wrap="square" lIns="0" rIns="0" tIns="0" bIns="0" anchor="t">
            <a:spAutoFit/>
          </a:bodyPr>
          <a:lstStyle/>
          <a:p>
            <a:pPr algn="l"/>
            <a:r>
              <a:rPr sz="1200" b="0" i="0">
                <a:solidFill>
                  <a:srgbClr val="1E262B"/>
                </a:solidFill>
              </a:rPr>
              <a:t>The backend from the frontend schema was not finalized on 22 October. Foundry-like, not Foundry.</a:t>
            </a:r>
          </a:p>
        </p:txBody>
      </p:sp>
      <p:sp>
        <p:nvSpPr>
          <p:cNvPr id="13" name="Number"/>
          <p:cNvSpPr/>
          <p:nvPr/>
        </p:nvSpPr>
        <p:spPr>
          <a:xfrm>
            <a:off x="548640" y="2734056"/>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umber"/>
          <p:cNvSpPr txBox="1"/>
          <p:nvPr/>
        </p:nvSpPr>
        <p:spPr>
          <a:xfrm>
            <a:off x="548640" y="2734056"/>
            <a:ext cx="365760" cy="365760"/>
          </a:xfrm>
          <a:prstGeom prst="rect">
            <a:avLst/>
          </a:prstGeom>
          <a:noFill/>
        </p:spPr>
        <p:txBody>
          <a:bodyPr wrap="square" lIns="0" rIns="0" tIns="0" bIns="0" anchor="ctr">
            <a:spAutoFit/>
          </a:bodyPr>
          <a:lstStyle/>
          <a:p>
            <a:pPr algn="ctr"/>
            <a:r>
              <a:rPr sz="1300" b="1" i="0">
                <a:solidFill>
                  <a:srgbClr val="FFFFFF"/>
                </a:solidFill>
              </a:rPr>
              <a:t>3</a:t>
            </a:r>
          </a:p>
        </p:txBody>
      </p:sp>
      <p:sp>
        <p:nvSpPr>
          <p:cNvPr id="15" name="Text"/>
          <p:cNvSpPr txBox="1"/>
          <p:nvPr/>
        </p:nvSpPr>
        <p:spPr>
          <a:xfrm>
            <a:off x="1097280" y="2697480"/>
            <a:ext cx="4937760" cy="384048"/>
          </a:xfrm>
          <a:prstGeom prst="rect">
            <a:avLst/>
          </a:prstGeom>
          <a:noFill/>
        </p:spPr>
        <p:txBody>
          <a:bodyPr wrap="square" lIns="0" rIns="0" tIns="0" bIns="0" anchor="ctr">
            <a:spAutoFit/>
          </a:bodyPr>
          <a:lstStyle/>
          <a:p>
            <a:pPr algn="l"/>
            <a:r>
              <a:rPr sz="1400" b="1" i="0">
                <a:solidFill>
                  <a:srgbClr val="0B4A4A"/>
                </a:solidFill>
              </a:rPr>
              <a:t>Invocation identity and receipts</a:t>
            </a:r>
          </a:p>
        </p:txBody>
      </p:sp>
      <p:sp>
        <p:nvSpPr>
          <p:cNvPr id="16" name="Text"/>
          <p:cNvSpPr txBox="1"/>
          <p:nvPr/>
        </p:nvSpPr>
        <p:spPr>
          <a:xfrm>
            <a:off x="1097280" y="3099816"/>
            <a:ext cx="4937760" cy="822960"/>
          </a:xfrm>
          <a:prstGeom prst="rect">
            <a:avLst/>
          </a:prstGeom>
          <a:noFill/>
        </p:spPr>
        <p:txBody>
          <a:bodyPr wrap="square" lIns="0" rIns="0" tIns="0" bIns="0" anchor="t">
            <a:spAutoFit/>
          </a:bodyPr>
          <a:lstStyle/>
          <a:p>
            <a:pPr algn="l"/>
            <a:r>
              <a:rPr sz="1200" b="0" i="0">
                <a:solidFill>
                  <a:srgbClr val="1E262B"/>
                </a:solidFill>
              </a:rPr>
              <a:t>Do we adopt them now, so every action and every reaction is safe to repeat by construction?</a:t>
            </a:r>
          </a:p>
        </p:txBody>
      </p:sp>
      <p:sp>
        <p:nvSpPr>
          <p:cNvPr id="17" name="Number"/>
          <p:cNvSpPr/>
          <p:nvPr/>
        </p:nvSpPr>
        <p:spPr>
          <a:xfrm>
            <a:off x="6217920" y="2734056"/>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Number"/>
          <p:cNvSpPr txBox="1"/>
          <p:nvPr/>
        </p:nvSpPr>
        <p:spPr>
          <a:xfrm>
            <a:off x="6217920" y="2734056"/>
            <a:ext cx="365760" cy="365760"/>
          </a:xfrm>
          <a:prstGeom prst="rect">
            <a:avLst/>
          </a:prstGeom>
          <a:noFill/>
        </p:spPr>
        <p:txBody>
          <a:bodyPr wrap="square" lIns="0" rIns="0" tIns="0" bIns="0" anchor="ctr">
            <a:spAutoFit/>
          </a:bodyPr>
          <a:lstStyle/>
          <a:p>
            <a:pPr algn="ctr"/>
            <a:r>
              <a:rPr sz="1300" b="1" i="0">
                <a:solidFill>
                  <a:srgbClr val="FFFFFF"/>
                </a:solidFill>
              </a:rPr>
              <a:t>4</a:t>
            </a:r>
          </a:p>
        </p:txBody>
      </p:sp>
      <p:sp>
        <p:nvSpPr>
          <p:cNvPr id="19" name="Text"/>
          <p:cNvSpPr txBox="1"/>
          <p:nvPr/>
        </p:nvSpPr>
        <p:spPr>
          <a:xfrm>
            <a:off x="6766559" y="2697480"/>
            <a:ext cx="4937760" cy="384048"/>
          </a:xfrm>
          <a:prstGeom prst="rect">
            <a:avLst/>
          </a:prstGeom>
          <a:noFill/>
        </p:spPr>
        <p:txBody>
          <a:bodyPr wrap="square" lIns="0" rIns="0" tIns="0" bIns="0" anchor="ctr">
            <a:spAutoFit/>
          </a:bodyPr>
          <a:lstStyle/>
          <a:p>
            <a:pPr algn="l"/>
            <a:r>
              <a:rPr sz="1400" b="1" i="0">
                <a:solidFill>
                  <a:srgbClr val="0B4A4A"/>
                </a:solidFill>
              </a:rPr>
              <a:t>Named automation principals</a:t>
            </a:r>
          </a:p>
        </p:txBody>
      </p:sp>
      <p:sp>
        <p:nvSpPr>
          <p:cNvPr id="20" name="Text"/>
          <p:cNvSpPr txBox="1"/>
          <p:nvPr/>
        </p:nvSpPr>
        <p:spPr>
          <a:xfrm>
            <a:off x="6766559" y="3099816"/>
            <a:ext cx="4937760" cy="822960"/>
          </a:xfrm>
          <a:prstGeom prst="rect">
            <a:avLst/>
          </a:prstGeom>
          <a:noFill/>
        </p:spPr>
        <p:txBody>
          <a:bodyPr wrap="square" lIns="0" rIns="0" tIns="0" bIns="0" anchor="t">
            <a:spAutoFit/>
          </a:bodyPr>
          <a:lstStyle/>
          <a:p>
            <a:pPr algn="l"/>
            <a:r>
              <a:rPr sz="1200" b="0" i="0">
                <a:solidFill>
                  <a:srgbClr val="1E262B"/>
                </a:solidFill>
              </a:rPr>
              <a:t>Do we replace 'System' with named principals and grants from the first reaction?</a:t>
            </a:r>
          </a:p>
        </p:txBody>
      </p:sp>
      <p:sp>
        <p:nvSpPr>
          <p:cNvPr id="21" name="Number"/>
          <p:cNvSpPr/>
          <p:nvPr/>
        </p:nvSpPr>
        <p:spPr>
          <a:xfrm>
            <a:off x="548640" y="4059936"/>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Number"/>
          <p:cNvSpPr txBox="1"/>
          <p:nvPr/>
        </p:nvSpPr>
        <p:spPr>
          <a:xfrm>
            <a:off x="548640" y="4059936"/>
            <a:ext cx="365760" cy="365760"/>
          </a:xfrm>
          <a:prstGeom prst="rect">
            <a:avLst/>
          </a:prstGeom>
          <a:noFill/>
        </p:spPr>
        <p:txBody>
          <a:bodyPr wrap="square" lIns="0" rIns="0" tIns="0" bIns="0" anchor="ctr">
            <a:spAutoFit/>
          </a:bodyPr>
          <a:lstStyle/>
          <a:p>
            <a:pPr algn="ctr"/>
            <a:r>
              <a:rPr sz="1300" b="1" i="0">
                <a:solidFill>
                  <a:srgbClr val="FFFFFF"/>
                </a:solidFill>
              </a:rPr>
              <a:t>5</a:t>
            </a:r>
          </a:p>
        </p:txBody>
      </p:sp>
      <p:sp>
        <p:nvSpPr>
          <p:cNvPr id="23" name="Text"/>
          <p:cNvSpPr txBox="1"/>
          <p:nvPr/>
        </p:nvSpPr>
        <p:spPr>
          <a:xfrm>
            <a:off x="1097280" y="4023360"/>
            <a:ext cx="4937760" cy="384048"/>
          </a:xfrm>
          <a:prstGeom prst="rect">
            <a:avLst/>
          </a:prstGeom>
          <a:noFill/>
        </p:spPr>
        <p:txBody>
          <a:bodyPr wrap="square" lIns="0" rIns="0" tIns="0" bIns="0" anchor="ctr">
            <a:spAutoFit/>
          </a:bodyPr>
          <a:lstStyle/>
          <a:p>
            <a:pPr algn="l"/>
            <a:r>
              <a:rPr sz="1400" b="1" i="0">
                <a:solidFill>
                  <a:srgbClr val="0B4A4A"/>
                </a:solidFill>
              </a:rPr>
              <a:t>How a notice is modelled</a:t>
            </a:r>
          </a:p>
        </p:txBody>
      </p:sp>
      <p:sp>
        <p:nvSpPr>
          <p:cNvPr id="24" name="Text"/>
          <p:cNvSpPr txBox="1"/>
          <p:nvPr/>
        </p:nvSpPr>
        <p:spPr>
          <a:xfrm>
            <a:off x="1097280" y="4425696"/>
            <a:ext cx="4937760" cy="822960"/>
          </a:xfrm>
          <a:prstGeom prst="rect">
            <a:avLst/>
          </a:prstGeom>
          <a:noFill/>
        </p:spPr>
        <p:txBody>
          <a:bodyPr wrap="square" lIns="0" rIns="0" tIns="0" bIns="0" anchor="t">
            <a:spAutoFit/>
          </a:bodyPr>
          <a:lstStyle/>
          <a:p>
            <a:pPr algn="l"/>
            <a:r>
              <a:rPr sz="1200" b="0" i="0">
                <a:solidFill>
                  <a:srgbClr val="1E262B"/>
                </a:solidFill>
              </a:rPr>
              <a:t>A message to a person that moves no work: a reaction with a notification action, or something lighter?</a:t>
            </a:r>
          </a:p>
        </p:txBody>
      </p:sp>
      <p:sp>
        <p:nvSpPr>
          <p:cNvPr id="25" name="Number"/>
          <p:cNvSpPr/>
          <p:nvPr/>
        </p:nvSpPr>
        <p:spPr>
          <a:xfrm>
            <a:off x="6217920" y="4059936"/>
            <a:ext cx="365760" cy="365760"/>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umber"/>
          <p:cNvSpPr txBox="1"/>
          <p:nvPr/>
        </p:nvSpPr>
        <p:spPr>
          <a:xfrm>
            <a:off x="6217920" y="4059936"/>
            <a:ext cx="365760" cy="365760"/>
          </a:xfrm>
          <a:prstGeom prst="rect">
            <a:avLst/>
          </a:prstGeom>
          <a:noFill/>
        </p:spPr>
        <p:txBody>
          <a:bodyPr wrap="square" lIns="0" rIns="0" tIns="0" bIns="0" anchor="ctr">
            <a:spAutoFit/>
          </a:bodyPr>
          <a:lstStyle/>
          <a:p>
            <a:pPr algn="ctr"/>
            <a:r>
              <a:rPr sz="1300" b="1" i="0">
                <a:solidFill>
                  <a:srgbClr val="FFFFFF"/>
                </a:solidFill>
              </a:rPr>
              <a:t>6</a:t>
            </a:r>
          </a:p>
        </p:txBody>
      </p:sp>
      <p:sp>
        <p:nvSpPr>
          <p:cNvPr id="27" name="Text"/>
          <p:cNvSpPr txBox="1"/>
          <p:nvPr/>
        </p:nvSpPr>
        <p:spPr>
          <a:xfrm>
            <a:off x="6766559" y="4023360"/>
            <a:ext cx="4937760" cy="384048"/>
          </a:xfrm>
          <a:prstGeom prst="rect">
            <a:avLst/>
          </a:prstGeom>
          <a:noFill/>
        </p:spPr>
        <p:txBody>
          <a:bodyPr wrap="square" lIns="0" rIns="0" tIns="0" bIns="0" anchor="ctr">
            <a:spAutoFit/>
          </a:bodyPr>
          <a:lstStyle/>
          <a:p>
            <a:pPr algn="l"/>
            <a:r>
              <a:rPr sz="1400" b="1" i="0">
                <a:solidFill>
                  <a:srgbClr val="0B4A4A"/>
                </a:solidFill>
              </a:rPr>
              <a:t>The one approval mechanism</a:t>
            </a:r>
          </a:p>
        </p:txBody>
      </p:sp>
      <p:sp>
        <p:nvSpPr>
          <p:cNvPr id="28" name="Text"/>
          <p:cNvSpPr txBox="1"/>
          <p:nvPr/>
        </p:nvSpPr>
        <p:spPr>
          <a:xfrm>
            <a:off x="6766559" y="4425696"/>
            <a:ext cx="4937760" cy="822960"/>
          </a:xfrm>
          <a:prstGeom prst="rect">
            <a:avLst/>
          </a:prstGeom>
          <a:noFill/>
        </p:spPr>
        <p:txBody>
          <a:bodyPr wrap="square" lIns="0" rIns="0" tIns="0" bIns="0" anchor="t">
            <a:spAutoFit/>
          </a:bodyPr>
          <a:lstStyle/>
          <a:p>
            <a:pPr algn="l"/>
            <a:r>
              <a:rPr sz="1200" b="0" i="0">
                <a:solidFill>
                  <a:srgbClr val="1E262B"/>
                </a:solidFill>
              </a:rPr>
              <a:t>Owned by the Accounting boundary team since 26 October. Its shape: an entity, a gated action, a timer, an escalation reaction.</a:t>
            </a:r>
          </a:p>
        </p:txBody>
      </p:sp>
      <p:sp>
        <p:nvSpPr>
          <p:cNvPr id="29" name="Finding"/>
          <p:cNvSpPr/>
          <p:nvPr/>
        </p:nvSpPr>
        <p:spPr>
          <a:xfrm>
            <a:off x="548640" y="5486400"/>
            <a:ext cx="11091672" cy="548640"/>
          </a:xfrm>
          <a:prstGeom prst="roundRect">
            <a:avLst>
              <a:gd name="adj" fmla="val 8000"/>
            </a:avLst>
          </a:prstGeom>
          <a:solidFill>
            <a:srgbClr val="DCF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
          <p:cNvSpPr txBox="1"/>
          <p:nvPr/>
        </p:nvSpPr>
        <p:spPr>
          <a:xfrm>
            <a:off x="822960" y="5486400"/>
            <a:ext cx="10543032" cy="548640"/>
          </a:xfrm>
          <a:prstGeom prst="rect">
            <a:avLst/>
          </a:prstGeom>
          <a:noFill/>
        </p:spPr>
        <p:txBody>
          <a:bodyPr wrap="square" lIns="0" rIns="0" tIns="0" bIns="0" anchor="ctr">
            <a:spAutoFit/>
          </a:bodyPr>
          <a:lstStyle/>
          <a:p>
            <a:pPr algn="l"/>
            <a:r>
              <a:rPr sz="1350" b="1" i="0">
                <a:solidFill>
                  <a:srgbClr val="1E262B"/>
                </a:solidFill>
              </a:rPr>
              <a:t>A better idea, offered.  </a:t>
            </a:r>
            <a:r>
              <a:rPr sz="1350" b="0" i="0">
                <a:solidFill>
                  <a:srgbClr val="1E262B"/>
                </a:solidFill>
              </a:rPr>
              <a:t>Each seat brings one task tomorrow, written as context, action with gates, event, reaction, query and principal, so the Render presentation lands on real examples.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What each seat does next</a:t>
            </a:r>
          </a:p>
        </p:txBody>
      </p:sp>
      <p:sp>
        <p:nvSpPr>
          <p:cNvPr id="3" name="Number"/>
          <p:cNvSpPr/>
          <p:nvPr/>
        </p:nvSpPr>
        <p:spPr>
          <a:xfrm>
            <a:off x="640080" y="1856231"/>
            <a:ext cx="384048" cy="38404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Number"/>
          <p:cNvSpPr txBox="1"/>
          <p:nvPr/>
        </p:nvSpPr>
        <p:spPr>
          <a:xfrm>
            <a:off x="640080" y="1856231"/>
            <a:ext cx="384048" cy="384048"/>
          </a:xfrm>
          <a:prstGeom prst="rect">
            <a:avLst/>
          </a:prstGeom>
          <a:noFill/>
        </p:spPr>
        <p:txBody>
          <a:bodyPr wrap="square" lIns="0" rIns="0" tIns="0" bIns="0" anchor="ctr">
            <a:spAutoFit/>
          </a:bodyPr>
          <a:lstStyle/>
          <a:p>
            <a:pPr algn="ctr"/>
            <a:r>
              <a:rPr sz="1400" b="1" i="0">
                <a:solidFill>
                  <a:srgbClr val="FFFFFF"/>
                </a:solidFill>
              </a:rPr>
              <a:t>1</a:t>
            </a:r>
          </a:p>
        </p:txBody>
      </p:sp>
      <p:sp>
        <p:nvSpPr>
          <p:cNvPr id="5" name="Text"/>
          <p:cNvSpPr txBox="1"/>
          <p:nvPr/>
        </p:nvSpPr>
        <p:spPr>
          <a:xfrm>
            <a:off x="1188719" y="1828800"/>
            <a:ext cx="4846320" cy="384048"/>
          </a:xfrm>
          <a:prstGeom prst="rect">
            <a:avLst/>
          </a:prstGeom>
          <a:noFill/>
        </p:spPr>
        <p:txBody>
          <a:bodyPr wrap="square" lIns="0" rIns="0" tIns="0" bIns="0" anchor="ctr">
            <a:spAutoFit/>
          </a:bodyPr>
          <a:lstStyle/>
          <a:p>
            <a:pPr algn="l"/>
            <a:r>
              <a:rPr sz="1600" b="1" i="0">
                <a:solidFill>
                  <a:srgbClr val="FFFFFF"/>
                </a:solidFill>
              </a:rPr>
              <a:t>Use the words</a:t>
            </a:r>
          </a:p>
        </p:txBody>
      </p:sp>
      <p:sp>
        <p:nvSpPr>
          <p:cNvPr id="6" name="Text"/>
          <p:cNvSpPr txBox="1"/>
          <p:nvPr/>
        </p:nvSpPr>
        <p:spPr>
          <a:xfrm>
            <a:off x="1188719" y="2249424"/>
            <a:ext cx="4846320" cy="731520"/>
          </a:xfrm>
          <a:prstGeom prst="rect">
            <a:avLst/>
          </a:prstGeom>
          <a:noFill/>
        </p:spPr>
        <p:txBody>
          <a:bodyPr wrap="square" lIns="0" rIns="0" tIns="0" bIns="0" anchor="t">
            <a:spAutoFit/>
          </a:bodyPr>
          <a:lstStyle/>
          <a:p>
            <a:pPr algn="l"/>
            <a:r>
              <a:rPr sz="1250" b="0" i="0">
                <a:solidFill>
                  <a:srgbClr val="DCF1F0"/>
                </a:solidFill>
              </a:rPr>
              <a:t>Context, entity, action, event, reaction, approval, query, principal. One meaning each, in every design conversation and every pull request.</a:t>
            </a:r>
          </a:p>
        </p:txBody>
      </p:sp>
      <p:sp>
        <p:nvSpPr>
          <p:cNvPr id="7" name="Number"/>
          <p:cNvSpPr/>
          <p:nvPr/>
        </p:nvSpPr>
        <p:spPr>
          <a:xfrm>
            <a:off x="6217920" y="1856231"/>
            <a:ext cx="384048" cy="38404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Number"/>
          <p:cNvSpPr txBox="1"/>
          <p:nvPr/>
        </p:nvSpPr>
        <p:spPr>
          <a:xfrm>
            <a:off x="6217920" y="1856231"/>
            <a:ext cx="384048" cy="384048"/>
          </a:xfrm>
          <a:prstGeom prst="rect">
            <a:avLst/>
          </a:prstGeom>
          <a:noFill/>
        </p:spPr>
        <p:txBody>
          <a:bodyPr wrap="square" lIns="0" rIns="0" tIns="0" bIns="0" anchor="ctr">
            <a:spAutoFit/>
          </a:bodyPr>
          <a:lstStyle/>
          <a:p>
            <a:pPr algn="ctr"/>
            <a:r>
              <a:rPr sz="1400" b="1" i="0">
                <a:solidFill>
                  <a:srgbClr val="FFFFFF"/>
                </a:solidFill>
              </a:rPr>
              <a:t>2</a:t>
            </a:r>
          </a:p>
        </p:txBody>
      </p:sp>
      <p:sp>
        <p:nvSpPr>
          <p:cNvPr id="9" name="Text"/>
          <p:cNvSpPr txBox="1"/>
          <p:nvPr/>
        </p:nvSpPr>
        <p:spPr>
          <a:xfrm>
            <a:off x="6766559" y="1828800"/>
            <a:ext cx="4846320" cy="384048"/>
          </a:xfrm>
          <a:prstGeom prst="rect">
            <a:avLst/>
          </a:prstGeom>
          <a:noFill/>
        </p:spPr>
        <p:txBody>
          <a:bodyPr wrap="square" lIns="0" rIns="0" tIns="0" bIns="0" anchor="ctr">
            <a:spAutoFit/>
          </a:bodyPr>
          <a:lstStyle/>
          <a:p>
            <a:pPr algn="l"/>
            <a:r>
              <a:rPr sz="1600" b="1" i="0">
                <a:solidFill>
                  <a:srgbClr val="FFFFFF"/>
                </a:solidFill>
              </a:rPr>
              <a:t>Write one task in these words</a:t>
            </a:r>
          </a:p>
        </p:txBody>
      </p:sp>
      <p:sp>
        <p:nvSpPr>
          <p:cNvPr id="10" name="Text"/>
          <p:cNvSpPr txBox="1"/>
          <p:nvPr/>
        </p:nvSpPr>
        <p:spPr>
          <a:xfrm>
            <a:off x="6766559" y="2249424"/>
            <a:ext cx="4846320" cy="731520"/>
          </a:xfrm>
          <a:prstGeom prst="rect">
            <a:avLst/>
          </a:prstGeom>
          <a:noFill/>
        </p:spPr>
        <p:txBody>
          <a:bodyPr wrap="square" lIns="0" rIns="0" tIns="0" bIns="0" anchor="t">
            <a:spAutoFit/>
          </a:bodyPr>
          <a:lstStyle/>
          <a:p>
            <a:pPr algn="l"/>
            <a:r>
              <a:rPr sz="1250" b="0" i="0">
                <a:solidFill>
                  <a:srgbClr val="DCF1F0"/>
                </a:solidFill>
              </a:rPr>
              <a:t>Pick one task of your role. Name its context, its action with gates, its event, what reacts, what query serves the screen, and who acts. Bring it tomorrow.</a:t>
            </a:r>
          </a:p>
        </p:txBody>
      </p:sp>
      <p:sp>
        <p:nvSpPr>
          <p:cNvPr id="11" name="Number"/>
          <p:cNvSpPr/>
          <p:nvPr/>
        </p:nvSpPr>
        <p:spPr>
          <a:xfrm>
            <a:off x="640080" y="3090672"/>
            <a:ext cx="384048" cy="38404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Number"/>
          <p:cNvSpPr txBox="1"/>
          <p:nvPr/>
        </p:nvSpPr>
        <p:spPr>
          <a:xfrm>
            <a:off x="640080" y="3090672"/>
            <a:ext cx="384048" cy="384048"/>
          </a:xfrm>
          <a:prstGeom prst="rect">
            <a:avLst/>
          </a:prstGeom>
          <a:noFill/>
        </p:spPr>
        <p:txBody>
          <a:bodyPr wrap="square" lIns="0" rIns="0" tIns="0" bIns="0" anchor="ctr">
            <a:spAutoFit/>
          </a:bodyPr>
          <a:lstStyle/>
          <a:p>
            <a:pPr algn="ctr"/>
            <a:r>
              <a:rPr sz="1400" b="1" i="0">
                <a:solidFill>
                  <a:srgbClr val="FFFFFF"/>
                </a:solidFill>
              </a:rPr>
              <a:t>3</a:t>
            </a:r>
          </a:p>
        </p:txBody>
      </p:sp>
      <p:sp>
        <p:nvSpPr>
          <p:cNvPr id="13" name="Text"/>
          <p:cNvSpPr txBox="1"/>
          <p:nvPr/>
        </p:nvSpPr>
        <p:spPr>
          <a:xfrm>
            <a:off x="1188719" y="3063240"/>
            <a:ext cx="4846320" cy="384048"/>
          </a:xfrm>
          <a:prstGeom prst="rect">
            <a:avLst/>
          </a:prstGeom>
          <a:noFill/>
        </p:spPr>
        <p:txBody>
          <a:bodyPr wrap="square" lIns="0" rIns="0" tIns="0" bIns="0" anchor="ctr">
            <a:spAutoFit/>
          </a:bodyPr>
          <a:lstStyle/>
          <a:p>
            <a:pPr algn="l"/>
            <a:r>
              <a:rPr sz="1600" b="1" i="0">
                <a:solidFill>
                  <a:srgbClr val="FFFFFF"/>
                </a:solidFill>
              </a:rPr>
              <a:t>Decide the two gaps now</a:t>
            </a:r>
          </a:p>
        </p:txBody>
      </p:sp>
      <p:sp>
        <p:nvSpPr>
          <p:cNvPr id="14" name="Text"/>
          <p:cNvSpPr txBox="1"/>
          <p:nvPr/>
        </p:nvSpPr>
        <p:spPr>
          <a:xfrm>
            <a:off x="1188719" y="3483864"/>
            <a:ext cx="4846320" cy="731520"/>
          </a:xfrm>
          <a:prstGeom prst="rect">
            <a:avLst/>
          </a:prstGeom>
          <a:noFill/>
        </p:spPr>
        <p:txBody>
          <a:bodyPr wrap="square" lIns="0" rIns="0" tIns="0" bIns="0" anchor="t">
            <a:spAutoFit/>
          </a:bodyPr>
          <a:lstStyle/>
          <a:p>
            <a:pPr algn="l"/>
            <a:r>
              <a:rPr sz="1250" b="0" i="0">
                <a:solidFill>
                  <a:srgbClr val="DCF1F0"/>
                </a:solidFill>
              </a:rPr>
              <a:t>Invocation identity and receipts on every action. Named automation principals with grants instead of 'System'.</a:t>
            </a:r>
          </a:p>
        </p:txBody>
      </p:sp>
      <p:sp>
        <p:nvSpPr>
          <p:cNvPr id="15" name="Number"/>
          <p:cNvSpPr/>
          <p:nvPr/>
        </p:nvSpPr>
        <p:spPr>
          <a:xfrm>
            <a:off x="6217920" y="3090672"/>
            <a:ext cx="384048" cy="384048"/>
          </a:xfrm>
          <a:prstGeom prst="ellipse">
            <a:avLst/>
          </a:prstGeom>
          <a:solidFill>
            <a:srgbClr val="0B64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Number"/>
          <p:cNvSpPr txBox="1"/>
          <p:nvPr/>
        </p:nvSpPr>
        <p:spPr>
          <a:xfrm>
            <a:off x="6217920" y="3090672"/>
            <a:ext cx="384048" cy="384048"/>
          </a:xfrm>
          <a:prstGeom prst="rect">
            <a:avLst/>
          </a:prstGeom>
          <a:noFill/>
        </p:spPr>
        <p:txBody>
          <a:bodyPr wrap="square" lIns="0" rIns="0" tIns="0" bIns="0" anchor="ctr">
            <a:spAutoFit/>
          </a:bodyPr>
          <a:lstStyle/>
          <a:p>
            <a:pPr algn="ctr"/>
            <a:r>
              <a:rPr sz="1400" b="1" i="0">
                <a:solidFill>
                  <a:srgbClr val="FFFFFF"/>
                </a:solidFill>
              </a:rPr>
              <a:t>4</a:t>
            </a:r>
          </a:p>
        </p:txBody>
      </p:sp>
      <p:sp>
        <p:nvSpPr>
          <p:cNvPr id="17" name="Text"/>
          <p:cNvSpPr txBox="1"/>
          <p:nvPr/>
        </p:nvSpPr>
        <p:spPr>
          <a:xfrm>
            <a:off x="6766559" y="3063240"/>
            <a:ext cx="4846320" cy="384048"/>
          </a:xfrm>
          <a:prstGeom prst="rect">
            <a:avLst/>
          </a:prstGeom>
          <a:noFill/>
        </p:spPr>
        <p:txBody>
          <a:bodyPr wrap="square" lIns="0" rIns="0" tIns="0" bIns="0" anchor="ctr">
            <a:spAutoFit/>
          </a:bodyPr>
          <a:lstStyle/>
          <a:p>
            <a:pPr algn="l"/>
            <a:r>
              <a:rPr sz="1600" b="1" i="0">
                <a:solidFill>
                  <a:srgbClr val="FFFFFF"/>
                </a:solidFill>
              </a:rPr>
              <a:t>Keep the thread to the role app</a:t>
            </a:r>
          </a:p>
        </p:txBody>
      </p:sp>
      <p:sp>
        <p:nvSpPr>
          <p:cNvPr id="18" name="Text"/>
          <p:cNvSpPr txBox="1"/>
          <p:nvPr/>
        </p:nvSpPr>
        <p:spPr>
          <a:xfrm>
            <a:off x="6766559" y="3483864"/>
            <a:ext cx="4846320" cy="731520"/>
          </a:xfrm>
          <a:prstGeom prst="rect">
            <a:avLst/>
          </a:prstGeom>
          <a:noFill/>
        </p:spPr>
        <p:txBody>
          <a:bodyPr wrap="square" lIns="0" rIns="0" tIns="0" bIns="0" anchor="t">
            <a:spAutoFit/>
          </a:bodyPr>
          <a:lstStyle/>
          <a:p>
            <a:pPr algn="l"/>
            <a:r>
              <a:rPr sz="1250" b="0" i="0">
                <a:solidFill>
                  <a:srgbClr val="DCF1F0"/>
                </a:solidFill>
              </a:rPr>
              <a:t>A task's ending is an action; its start is an event or a query; its home is a query; the screen holds no rule.</a:t>
            </a:r>
          </a:p>
        </p:txBody>
      </p:sp>
      <p:sp>
        <p:nvSpPr>
          <p:cNvPr id="19" name="Text"/>
          <p:cNvSpPr txBox="1"/>
          <p:nvPr/>
        </p:nvSpPr>
        <p:spPr>
          <a:xfrm>
            <a:off x="640080" y="5440680"/>
            <a:ext cx="10789920" cy="457200"/>
          </a:xfrm>
          <a:prstGeom prst="rect">
            <a:avLst/>
          </a:prstGeom>
          <a:noFill/>
        </p:spPr>
        <p:txBody>
          <a:bodyPr wrap="square" lIns="0" rIns="0" tIns="0" bIns="0" anchor="t">
            <a:spAutoFit/>
          </a:bodyPr>
          <a:lstStyle/>
          <a:p>
            <a:pPr algn="l"/>
            <a:r>
              <a:rPr sz="1250" b="1" i="0">
                <a:solidFill>
                  <a:srgbClr val="FFFFFF"/>
                </a:solidFill>
              </a:rPr>
              <a:t>Limits.  </a:t>
            </a:r>
            <a:r>
              <a:rPr sz="1250" b="0" i="0">
                <a:solidFill>
                  <a:srgbClr val="DCF1F0"/>
                </a:solidFill>
              </a:rPr>
              <a:t>Foundry's records are approved for Foundry, not adopted here. The POC baseline is the team's. Action and event names are illustrative. Nothing here is tested against the Render backend, which is presented tomorrow.</a:t>
            </a:r>
          </a:p>
        </p:txBody>
      </p:sp>
      <p:sp>
        <p:nvSpPr>
          <p:cNvPr id="20" name="Text"/>
          <p:cNvSpPr txBox="1"/>
          <p:nvPr/>
        </p:nvSpPr>
        <p:spPr>
          <a:xfrm>
            <a:off x="640080" y="5989320"/>
            <a:ext cx="10789920" cy="411480"/>
          </a:xfrm>
          <a:prstGeom prst="rect">
            <a:avLst/>
          </a:prstGeom>
          <a:noFill/>
        </p:spPr>
        <p:txBody>
          <a:bodyPr wrap="square" lIns="0" rIns="0" tIns="0" bIns="0" anchor="t">
            <a:spAutoFit/>
          </a:bodyPr>
          <a:lstStyle/>
          <a:p>
            <a:pPr algn="l"/>
            <a:r>
              <a:rPr sz="1100" b="0" i="0">
                <a:solidFill>
                  <a:srgbClr val="7CC4C1"/>
                </a:solidFill>
              </a:rPr>
              <a:t>Sources: aikyat-foundry architecture/ · aikyat-business-engine-poc docs/engineering-coordination-baseline.md · roles/finance/contracts-services-procurement-officer.md · research/role-app-model/the-model.md §12</a:t>
            </a:r>
          </a:p>
        </p:txBody>
      </p:sp>
    </p:spTree>
  </p:cSld>
  <p:clrMapOvr>
    <a:masterClrMapping/>
  </p:clrMapOvr>
</p:sld>
</file>

<file path=ppt/theme/theme1.xml><?xml version="1.0" encoding="utf-8"?>
<a:theme xmlns:a="http://schemas.openxmlformats.org/drawingml/2006/main" name="Role App Model">
  <a:themeElements>
    <a:clrScheme name="Role App Model">
      <a:dk1>
        <a:srgbClr val="1E262B"/>
      </a:dk1>
      <a:lt1>
        <a:srgbClr val="FFFFFF"/>
      </a:lt1>
      <a:dk2>
        <a:srgbClr val="0B4A4A"/>
      </a:dk2>
      <a:lt2>
        <a:srgbClr val="F1F5F6"/>
      </a:lt2>
      <a:accent1>
        <a:srgbClr val="0B6463"/>
      </a:accent1>
      <a:accent2>
        <a:srgbClr val="B3362B"/>
      </a:accent2>
      <a:accent3>
        <a:srgbClr val="8A5A12"/>
      </a:accent3>
      <a:accent4>
        <a:srgbClr val="5E6A71"/>
      </a:accent4>
      <a:accent5>
        <a:srgbClr val="DCF1F0"/>
      </a:accent5>
      <a:accent6>
        <a:srgbClr val="7CC4C1"/>
      </a:accent6>
      <a:hlink>
        <a:srgbClr val="0B6463"/>
      </a:hlink>
      <a:folHlink>
        <a:srgbClr val="5E6A71"/>
      </a:folHlink>
    </a:clrScheme>
    <a:fontScheme name="Role App Model">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 role to its screens</dc:title>
  <dc:subject>The Reference Role App Model, tried on the Contracts and Services Procurement Officer</dc:subject>
  <dc:creator>Maniteja Tallapally</dc:creator>
  <cp:lastModifiedBy>Maniteja Tallapally</cp:lastModifiedBy>
  <cp:revision>1</cp:revision>
  <dcterms:created xsi:type="dcterms:W3CDTF">2026-10-07T06:55:22Z</dcterms:created>
  <dcterms:modified xsi:type="dcterms:W3CDTF">2026-10-07T06:55:22Z</dcterms:modified>
</cp:coreProperties>
</file>